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8"/>
  </p:notesMasterIdLst>
  <p:sldIdLst>
    <p:sldId id="256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1" r:id="rId14"/>
    <p:sldId id="272" r:id="rId15"/>
    <p:sldId id="269" r:id="rId16"/>
    <p:sldId id="270" r:id="rId17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5033" autoAdjust="0"/>
  </p:normalViewPr>
  <p:slideViewPr>
    <p:cSldViewPr snapToGrid="0" snapToObjects="1">
      <p:cViewPr varScale="1">
        <p:scale>
          <a:sx n="82" d="100"/>
          <a:sy n="82" d="100"/>
        </p:scale>
        <p:origin x="754" y="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673113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463040"/>
            <a:ext cx="4572000" cy="45720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" name="Shape 1"/>
          <p:cNvSpPr/>
          <p:nvPr/>
        </p:nvSpPr>
        <p:spPr>
          <a:xfrm>
            <a:off x="10607040" y="2926080"/>
            <a:ext cx="2926080" cy="2926080"/>
          </a:xfrm>
          <a:prstGeom prst="ellipse">
            <a:avLst/>
          </a:prstGeom>
          <a:solidFill>
            <a:srgbClr val="1C7293">
              <a:alpha val="40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77240" y="2240280"/>
            <a:ext cx="9875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Entity Framework Core</a:t>
            </a:r>
            <a:endParaRPr lang="en-US" sz="4600" dirty="0"/>
          </a:p>
        </p:txBody>
      </p:sp>
      <p:sp>
        <p:nvSpPr>
          <p:cNvPr id="7" name="Shape 5"/>
          <p:cNvSpPr/>
          <p:nvPr/>
        </p:nvSpPr>
        <p:spPr>
          <a:xfrm>
            <a:off x="82296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82296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DbContext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108960" y="4526280"/>
            <a:ext cx="502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361188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361188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DbSet&lt;T&gt;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897880" y="4526280"/>
            <a:ext cx="5029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6FB6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3" name="Shape 11"/>
          <p:cNvSpPr/>
          <p:nvPr/>
        </p:nvSpPr>
        <p:spPr>
          <a:xfrm>
            <a:off x="6400800" y="4526280"/>
            <a:ext cx="2286000" cy="960120"/>
          </a:xfrm>
          <a:prstGeom prst="roundRect">
            <a:avLst>
              <a:gd name="adj" fmla="val 9524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6400800" y="4526280"/>
            <a:ext cx="22860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de datos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Repaso rápido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7724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7724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ORM traduce mundos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↔ tablas, atributos ↔ columnas, instancias ↔ filas. Resuelve el "impedance mismatch" entre objetos y datos relacionales.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4340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21295C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457200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Active Record vs Data Mapper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 Core sigue el patrón Data Mapper: el DbContext es la sesión, y las entidades no saben nada de persistencia.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38160" y="2011680"/>
            <a:ext cx="3520440" cy="2926080"/>
          </a:xfrm>
          <a:prstGeom prst="roundRect">
            <a:avLst>
              <a:gd name="adj" fmla="val 2500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8366760" y="2194560"/>
            <a:ext cx="640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6FB6D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8366760" y="2788920"/>
            <a:ext cx="3063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 y Database First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66760" y="3429000"/>
            <a:ext cx="30632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Vimos que el modelo puede partir del código o de una base existente. Hoy vamos a llevar ambos flujos a la práctica con EF Core.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Arquitectura de EF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658368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Tu aplicación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2514600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830068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2939796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DbContext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4796028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111496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5221224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Change Tracker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7077456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7392924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7502652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Proveedor (Provider)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9358884" y="2103120"/>
            <a:ext cx="31546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9674352" y="2103120"/>
            <a:ext cx="1965960" cy="1371600"/>
          </a:xfrm>
          <a:prstGeom prst="roundRect">
            <a:avLst>
              <a:gd name="adj" fmla="val 5333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9784080" y="221284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 de datos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48640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C# que trabaja con objetos normales (POCOs).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830068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Representa la sesión: agrupa los DbSet y coordina los cambios.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11496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Detecta qué objetos cambiaron desde que se cargaron.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92924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Traduce LINQ al dialecto SQL del motor elegido.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9674352" y="370332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 Server, PostgreSQL, SQLite, MySQL, etc.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91672" cy="822960"/>
          </a:xfrm>
          <a:prstGeom prst="roundRect">
            <a:avLst>
              <a:gd name="adj" fmla="val 8889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822960" y="5120640"/>
            <a:ext cx="10543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DbContext es la pieza central: en él se registran los DbSet&lt;T&gt; (uno por entidad) y se llama a SaveChanges() para confirmar cualquier cambio pendiente contra la base.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Instalación y configuración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NuGet necesarios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60120" y="3136392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Install-Package </a:t>
            </a:r>
            <a:r>
              <a:rPr lang="en-US" sz="115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Microsoft.EntityFrameworkCore.SqlServer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22960" y="3127248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07720" y="3785616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Install-Package </a:t>
            </a:r>
            <a:r>
              <a:rPr lang="en-US" sz="115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Microsoft.EntityFrameworkCore.Tools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822960" y="4114800"/>
            <a:ext cx="48463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22960" y="5074920"/>
            <a:ext cx="4846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paquete del proveedor cambia según el motor: .SqlServer, .Npgsql (PostgreSQL), .Sqlite, Pomelo.EntityFrameworkCore.MySql...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63640" y="1828800"/>
            <a:ext cx="5394960" cy="3931920"/>
          </a:xfrm>
          <a:prstGeom prst="roundRect">
            <a:avLst>
              <a:gd name="adj" fmla="val 186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6537960" y="201168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Program.cs — registrar el DbContext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6537960" y="24505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537960" y="271576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.AddDbContext&lt;AppDbContext&gt;(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6537960" y="298094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options =&gt; options.UseSqlServer(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537960" y="32461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builder.Configuration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537960" y="351129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.GetConnectionString("Default")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537960" y="37764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537960" y="404164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);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6537960" y="430682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6537960" y="45720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A3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appsettings.json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6537960" y="483717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"ConnectionStrings": {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6537960" y="510235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"Default": "Server=...;Database=..."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37960" y="5367528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Modelando entidades y relaciones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Clases POCO simples: EF Core hace el resto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29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Autor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25399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780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0205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Nombre { get; set; }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9260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15010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List&lt;Libro&gt; Libros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3741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 get; set; }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59816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8221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04622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2702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449427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Titulo { get; set; }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494233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51663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AutorId { get; set; }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539038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Autor Autor { get; set; }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22960" y="56144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6309360" y="187452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3" name="Text 21"/>
          <p:cNvSpPr/>
          <p:nvPr/>
        </p:nvSpPr>
        <p:spPr>
          <a:xfrm>
            <a:off x="6601968" y="175564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Propiedades de navegación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601968" y="205740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y Autor permiten "caminar" la relación desde cualquiera de los dos lados, en código C# normal.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309360" y="283464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6" name="Text 24"/>
          <p:cNvSpPr/>
          <p:nvPr/>
        </p:nvSpPr>
        <p:spPr>
          <a:xfrm>
            <a:off x="6601968" y="271576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foránea explícita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601968" y="301752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AutorId es la clave foránea. Al llamarse &lt;Nombre de la navegación&gt; + Id, EF Core la detecta sola.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6309360" y="379476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9" name="Text 27"/>
          <p:cNvSpPr/>
          <p:nvPr/>
        </p:nvSpPr>
        <p:spPr>
          <a:xfrm>
            <a:off x="6601968" y="367588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Relación uno a muchos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6601968" y="397764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Autor tiene muchos Libros; cada Libro pertenece a un solo Autor — la relación más común en cualquier dominio.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309360" y="4754880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2" name="Text 30"/>
          <p:cNvSpPr/>
          <p:nvPr/>
        </p:nvSpPr>
        <p:spPr>
          <a:xfrm>
            <a:off x="6601968" y="4636008"/>
            <a:ext cx="50566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También existen otras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6601968" y="4937760"/>
            <a:ext cx="50566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One-to-One con una FK única, y Many-to-Many con una entidad de unión (implícita o explícita).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CRUD esencial con EF Core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13232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Create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13232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822960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new Libro {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22960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Titulo = "Rayuela",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AutorId = 3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822960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2960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context.Libros.Add(libro);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22960" y="39593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419856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3584448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3584448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6" name="Text 14"/>
          <p:cNvSpPr/>
          <p:nvPr/>
        </p:nvSpPr>
        <p:spPr>
          <a:xfrm>
            <a:off x="3694176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3694176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.FirstOrDefault(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694176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 =&gt; l.Id == 5);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3694176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3694176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todos = context.Libros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3694176" y="395935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.ToList();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6291072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3" name="Text 21"/>
          <p:cNvSpPr/>
          <p:nvPr/>
        </p:nvSpPr>
        <p:spPr>
          <a:xfrm>
            <a:off x="6455664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Update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6455664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6565392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565392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.Find(5);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565392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libro.Titulo = "Nuevo título";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565392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565392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9162288" y="1828800"/>
            <a:ext cx="2697480" cy="3977640"/>
          </a:xfrm>
          <a:prstGeom prst="roundRect">
            <a:avLst>
              <a:gd name="adj" fmla="val 2712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1" name="Text 29"/>
          <p:cNvSpPr/>
          <p:nvPr/>
        </p:nvSpPr>
        <p:spPr>
          <a:xfrm>
            <a:off x="9326880" y="1993392"/>
            <a:ext cx="2368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Delete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9326880" y="2423160"/>
            <a:ext cx="2368296" cy="3200400"/>
          </a:xfrm>
          <a:prstGeom prst="roundRect">
            <a:avLst>
              <a:gd name="adj" fmla="val 2317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3" name="Text 31"/>
          <p:cNvSpPr/>
          <p:nvPr/>
        </p:nvSpPr>
        <p:spPr>
          <a:xfrm>
            <a:off x="9436608" y="2542032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 libro = context.Libros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9436608" y="2825496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.Find(5);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436608" y="310896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context.Libros.Remove(libro);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9436608" y="3392424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9436608" y="3675888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context.SaveChanges();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Convenciones de EF Core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Cuánto puede inferir el modelo sin que le digamos nada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primaria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73152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propiedad llamada Id, o &lt;NombreClase&gt;Id (ej. LibroId).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8912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457200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Nombre de tabla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457200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nombre del DbSet&lt;T&gt; en el DbContext (pluralizado).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229600" y="17830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8412480" y="194767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columna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8412480" y="235000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infiere del tipo de C#: int → int, string → nvarchar(max).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73152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Clave foránea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3152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&lt;NombreNavegación&gt; + Id, ej. AutorId para la navegación Autor.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38912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457200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Campos requeridos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457200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tipos no-nullable de C# se mapean como NOT NULL.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229600" y="342900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0" name="Text 18"/>
          <p:cNvSpPr/>
          <p:nvPr/>
        </p:nvSpPr>
        <p:spPr>
          <a:xfrm>
            <a:off x="8412480" y="3593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65A8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Relaciones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412480" y="3995928"/>
            <a:ext cx="3246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detectan automáticamente a partir de las propiedades de navegación.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48640" y="512064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i="1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la convención no alcanza para expresar una regla del negocio, entran Data Annotations o Fluent API.</a:t>
            </a:r>
            <a:endParaRPr lang="en-US" sz="11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Annotations vs. Fluent API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formas de ir más allá de las convenciones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120640" cy="3977640"/>
          </a:xfrm>
          <a:prstGeom prst="roundRect">
            <a:avLst>
              <a:gd name="adj" fmla="val 183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548640" y="2029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Annotations</a:t>
            </a:r>
            <a:endParaRPr lang="en-US" sz="1650" dirty="0"/>
          </a:p>
        </p:txBody>
      </p:sp>
      <p:sp>
        <p:nvSpPr>
          <p:cNvPr id="6" name="Text 4"/>
          <p:cNvSpPr/>
          <p:nvPr/>
        </p:nvSpPr>
        <p:spPr>
          <a:xfrm>
            <a:off x="548640" y="2395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Atributos sobre la propia clase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822960" y="2834640"/>
            <a:ext cx="4572000" cy="137160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1005840" y="294436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1005840" y="310438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005840" y="326440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[Key]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05840" y="342442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int Id { get; set; }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1005840" y="358444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1005840" y="374446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[Required, MaxLength(200)]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005840" y="390448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string Titulo { get; set; }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005840" y="4064508"/>
            <a:ext cx="420624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822960" y="43434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Rápido y legible para reglas simples, pero mezcla configuración de persistencia con la clase de dominio, y no cubre todos los casos.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6492240" y="1828800"/>
            <a:ext cx="5120640" cy="3977640"/>
          </a:xfrm>
          <a:prstGeom prst="roundRect">
            <a:avLst>
              <a:gd name="adj" fmla="val 183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6492240" y="2029968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API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6492240" y="23957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centralizada en el DbContext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766560" y="2834640"/>
            <a:ext cx="4572000" cy="1371600"/>
          </a:xfrm>
          <a:prstGeom prst="roundRect">
            <a:avLst>
              <a:gd name="adj" fmla="val 4000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949440" y="2944368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modelBuilder.Entity&lt;Libro&gt;(e =&gt;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949440" y="3145536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949440" y="3346704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e.Property(l =&gt; l.Titulo)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6949440" y="3547872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.IsRequired()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6949440" y="3749040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.HasMaxLength(200);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949440" y="3950208"/>
            <a:ext cx="420624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});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6766560" y="4343400"/>
            <a:ext cx="45720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Más verboso, pero con mucho más poder: relaciones complejas, índices, restricciones — y las entidades quedan limpias.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Fluent API en profundidad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configura dentro de OnModelCreating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612648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29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 override void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822960" y="2258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OnModelCreating(ModelBuilder mb)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22960" y="2487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22960" y="2715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mb.Entity&lt;Libro&gt;(e =&gt;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822960" y="2944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822960" y="3172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e.ToTable("Libros");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822960" y="3401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e.HasKey(l =&gt; l.Id);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822960" y="3630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822960" y="3858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e.HasOne(l =&gt; l.Autor)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22960" y="4087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.WithMany(a =&gt; a.Libros)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22960" y="4315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.HasForeignKey(l =&gt; l.AutorId);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822960" y="45445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822960" y="47731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e.HasIndex(l =&gt; l.Titulo)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22960" y="50017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.IsUnique();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822960" y="52303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});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22960" y="5458968"/>
            <a:ext cx="5577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6903720" y="187452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2" name="Text 20"/>
          <p:cNvSpPr/>
          <p:nvPr/>
        </p:nvSpPr>
        <p:spPr>
          <a:xfrm>
            <a:off x="7178040" y="177393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ToTable(...)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178040" y="204825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Fija el nombre de la tabla en la base de datos.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903720" y="265176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7178040" y="255117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HasKey(...)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178040" y="282549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(o redefine) la clave primaria.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6903720" y="342900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8" name="Text 26"/>
          <p:cNvSpPr/>
          <p:nvPr/>
        </p:nvSpPr>
        <p:spPr>
          <a:xfrm>
            <a:off x="7178040" y="332841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HasOne / WithMany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178040" y="360273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 relaciones explícitamente, en ambos sentidos.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6903720" y="420624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1" name="Text 29"/>
          <p:cNvSpPr/>
          <p:nvPr/>
        </p:nvSpPr>
        <p:spPr>
          <a:xfrm>
            <a:off x="7178040" y="410565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HasForeignKey(...)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178040" y="437997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 qué propiedad actúa como clave foránea.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903720" y="4983480"/>
            <a:ext cx="137160" cy="1371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4" name="Text 32"/>
          <p:cNvSpPr/>
          <p:nvPr/>
        </p:nvSpPr>
        <p:spPr>
          <a:xfrm>
            <a:off x="7178040" y="4882896"/>
            <a:ext cx="4480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65A8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HasIndex(...).IsUnique()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178040" y="5157216"/>
            <a:ext cx="4480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índices y restricciones de unicidad.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First: flujo completo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clases en C# a un esquema de base de datos versionado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Definís las entidades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Escribís las clases POCO y, si hace falta, las configurás con Fluent API.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361188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Generás la migración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1188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ef migrations add NombreDescriptivo crea un archivo con los cambios.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0936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649224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Revisás el código generado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tiene métodos Up() y Down(): aplicar y revertir el cambio.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8972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937260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Aplicás a la base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7260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dotnet ef database update ejecuta las migraciones pendientes.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822960" y="498348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Add-Migration </a:t>
            </a:r>
            <a:r>
              <a:rPr lang="en-US" sz="125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CrearTablaLibros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822960" y="5349240"/>
            <a:ext cx="10543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Update-Database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First: flujo completo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esquema ya existente a las clases del modelo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Partís de la base existente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73152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hay tablas, relaciones y datos — no las creás vos.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2900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8" name="Text 6"/>
          <p:cNvSpPr/>
          <p:nvPr/>
        </p:nvSpPr>
        <p:spPr>
          <a:xfrm>
            <a:off x="361188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Instalás las herramientas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61188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Paquetes .Design y del proveedor correspondiente.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30936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1" name="Text 9"/>
          <p:cNvSpPr/>
          <p:nvPr/>
        </p:nvSpPr>
        <p:spPr>
          <a:xfrm>
            <a:off x="649224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 Corrés el scaffolding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9224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comando inspecciona el esquema y genera clases + DbContext.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9189720" y="1965960"/>
            <a:ext cx="2697480" cy="2651760"/>
          </a:xfrm>
          <a:prstGeom prst="roundRect">
            <a:avLst>
              <a:gd name="adj" fmla="val 2759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Text 12"/>
          <p:cNvSpPr/>
          <p:nvPr/>
        </p:nvSpPr>
        <p:spPr>
          <a:xfrm>
            <a:off x="9372600" y="2167128"/>
            <a:ext cx="2331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4. Ajustás lo generado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372600" y="2834640"/>
            <a:ext cx="2331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Podés renombrar, mover archivos o completar con Fluent API.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4846320"/>
            <a:ext cx="11091672" cy="1234440"/>
          </a:xfrm>
          <a:prstGeom prst="roundRect">
            <a:avLst>
              <a:gd name="adj" fmla="val 5926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822960" y="5349240"/>
            <a:ext cx="10543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Scaffold-</a:t>
            </a:r>
            <a:r>
              <a:rPr lang="en-US" sz="110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DbContext</a:t>
            </a: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"Server=...;Database=</a:t>
            </a:r>
            <a:r>
              <a:rPr lang="en-US" sz="110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Libreria;Trusted_Connection</a:t>
            </a: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</a:t>
            </a:r>
            <a:r>
              <a:rPr lang="en-US" sz="110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True;TrustServerCertificate</a:t>
            </a: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=True;" </a:t>
            </a:r>
            <a:r>
              <a:rPr lang="en-US" sz="110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Microsoft.EntityFrameworkCore.SqlServer</a:t>
            </a: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-</a:t>
            </a:r>
            <a:r>
              <a:rPr lang="en-US" sz="1100" dirty="0" err="1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OutputDir</a:t>
            </a:r>
            <a:r>
              <a:rPr lang="en-US" sz="11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Models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¿Cuál elegir?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guía rápida de decisión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1672" cy="502920"/>
          </a:xfrm>
          <a:prstGeom prst="rect">
            <a:avLst/>
          </a:prstGeom>
          <a:solidFill>
            <a:srgbClr val="21295C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7982712" cy="502920"/>
          </a:xfrm>
          <a:prstGeom prst="rect">
            <a:avLst/>
          </a:prstGeom>
          <a:noFill/>
          <a:ln/>
        </p:spPr>
        <p:txBody>
          <a:bodyPr wrap="square" lIns="101600" tIns="101600" rIns="101600" bIns="10160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8531352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First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10085832" y="182880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Database First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48640" y="2331720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nuevo (greenfield)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531352" y="233172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085832" y="233172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2953512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685800" y="2953512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 existente / legacy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8531352" y="295351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0085832" y="2953512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48640" y="3575304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17" name="Text 15"/>
          <p:cNvSpPr/>
          <p:nvPr/>
        </p:nvSpPr>
        <p:spPr>
          <a:xfrm>
            <a:off x="685800" y="3575304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equipo de desarrollo controla el esquema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8531352" y="35753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0085832" y="3575304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48640" y="4197096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85800" y="4197096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DBA administra el esquema por separado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31352" y="419709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0085832" y="4197096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48640" y="4818888"/>
            <a:ext cx="11091672" cy="621792"/>
          </a:xfrm>
          <a:prstGeom prst="rect">
            <a:avLst/>
          </a:prstGeom>
          <a:solidFill>
            <a:srgbClr val="FFFFFF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685800" y="4818888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Esquema versionado junto al código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531352" y="4818888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085832" y="4818888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28" name="Shape 26"/>
          <p:cNvSpPr/>
          <p:nvPr/>
        </p:nvSpPr>
        <p:spPr>
          <a:xfrm>
            <a:off x="548640" y="5440680"/>
            <a:ext cx="11091672" cy="621792"/>
          </a:xfrm>
          <a:prstGeom prst="rect">
            <a:avLst/>
          </a:prstGeom>
          <a:solidFill>
            <a:srgbClr val="E7F1F6"/>
          </a:solidFill>
          <a:ln w="6350">
            <a:solidFill>
              <a:srgbClr val="D7E4EA"/>
            </a:solidFill>
            <a:prstDash val="solid"/>
          </a:ln>
        </p:spPr>
        <p:txBody>
          <a:bodyPr/>
          <a:lstStyle/>
          <a:p>
            <a:endParaRPr lang="es-AR"/>
          </a:p>
        </p:txBody>
      </p:sp>
      <p:sp>
        <p:nvSpPr>
          <p:cNvPr id="29" name="Text 27"/>
          <p:cNvSpPr/>
          <p:nvPr/>
        </p:nvSpPr>
        <p:spPr>
          <a:xfrm>
            <a:off x="685800" y="5440680"/>
            <a:ext cx="78455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5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Necesitás arrancar rápido sobre una base ya armada</a:t>
            </a:r>
            <a:endParaRPr lang="en-US" sz="1150" dirty="0"/>
          </a:p>
        </p:txBody>
      </p:sp>
      <p:sp>
        <p:nvSpPr>
          <p:cNvPr id="30" name="Text 28"/>
          <p:cNvSpPr/>
          <p:nvPr/>
        </p:nvSpPr>
        <p:spPr>
          <a:xfrm>
            <a:off x="8531352" y="544068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3CB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10085832" y="5440680"/>
            <a:ext cx="1554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AutoMapper: mapeando entidades a DTOs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pieza que conecta EF Core con una API bien diseñada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68680" y="1737360"/>
            <a:ext cx="104515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65A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AutoMapper</a:t>
            </a:r>
            <a:r>
              <a:rPr lang="en-US" sz="130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librería de mapeo objeto-objeto para .NET. Se usa junto con EF Core para convertir automáticamente entidades del modelo en DTOs (Data Transfer Objects), evitando escribir a mano el mismo código de asignación de propiedades una y otra vez.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115671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7" name="Text 5"/>
          <p:cNvSpPr/>
          <p:nvPr/>
        </p:nvSpPr>
        <p:spPr>
          <a:xfrm>
            <a:off x="115671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Libro (Entity)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899916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472287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72287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AutoMapper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466076" y="288036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8289036" y="2880360"/>
            <a:ext cx="2743200" cy="822960"/>
          </a:xfrm>
          <a:prstGeom prst="roundRect">
            <a:avLst>
              <a:gd name="adj" fmla="val 111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3" name="Text 11"/>
          <p:cNvSpPr/>
          <p:nvPr/>
        </p:nvSpPr>
        <p:spPr>
          <a:xfrm>
            <a:off x="8289036" y="2880360"/>
            <a:ext cx="2743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LibroDto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713232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Menos código repetitivo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13232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vez de asignar cada propiedad a mano, una sola línea mapea el objeto completo.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410712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3575304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Entidades y DTOs desacoplados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3575304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esquema interno puede cambiar sin romper el contrato público de la API.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272784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065A82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1" name="Text 19"/>
          <p:cNvSpPr/>
          <p:nvPr/>
        </p:nvSpPr>
        <p:spPr>
          <a:xfrm>
            <a:off x="6437376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Convención + configuración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437376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Mapea automáticamente propiedades con el mismo nombre, y permite reglas a medida para el resto.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134856" y="3977640"/>
            <a:ext cx="2606040" cy="1737360"/>
          </a:xfrm>
          <a:prstGeom prst="roundRect">
            <a:avLst>
              <a:gd name="adj" fmla="val 4211"/>
            </a:avLst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9299448" y="416052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integra con LINQ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9299448" y="4754880"/>
            <a:ext cx="22768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AF3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ProjectTo&lt;T&gt;() traduce el mapeo a la consulta SQL, trayendo solo las columnas necesarias.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AutoMapper en la práctica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1024128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Profiles, registro en DI y proyección eficiente con EF Core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822960" y="2011680"/>
            <a:ext cx="4937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el mapeo (Profile)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22960" y="2359152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MappingProfile</a:t>
            </a:r>
            <a:endParaRPr lang="en-US" sz="970" dirty="0"/>
          </a:p>
        </p:txBody>
      </p:sp>
      <p:sp>
        <p:nvSpPr>
          <p:cNvPr id="7" name="Text 5"/>
          <p:cNvSpPr/>
          <p:nvPr/>
        </p:nvSpPr>
        <p:spPr>
          <a:xfrm>
            <a:off x="822960" y="2562149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: Profile</a:t>
            </a:r>
            <a:endParaRPr lang="en-US" sz="970" dirty="0"/>
          </a:p>
        </p:txBody>
      </p:sp>
      <p:sp>
        <p:nvSpPr>
          <p:cNvPr id="8" name="Text 6"/>
          <p:cNvSpPr/>
          <p:nvPr/>
        </p:nvSpPr>
        <p:spPr>
          <a:xfrm>
            <a:off x="822960" y="276514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970" dirty="0"/>
          </a:p>
        </p:txBody>
      </p:sp>
      <p:sp>
        <p:nvSpPr>
          <p:cNvPr id="9" name="Text 7"/>
          <p:cNvSpPr/>
          <p:nvPr/>
        </p:nvSpPr>
        <p:spPr>
          <a:xfrm>
            <a:off x="822960" y="2968142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MappingProfile()</a:t>
            </a:r>
            <a:endParaRPr lang="en-US" sz="970" dirty="0"/>
          </a:p>
        </p:txBody>
      </p:sp>
      <p:sp>
        <p:nvSpPr>
          <p:cNvPr id="10" name="Text 8"/>
          <p:cNvSpPr/>
          <p:nvPr/>
        </p:nvSpPr>
        <p:spPr>
          <a:xfrm>
            <a:off x="822960" y="3171139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970" dirty="0"/>
          </a:p>
        </p:txBody>
      </p:sp>
      <p:sp>
        <p:nvSpPr>
          <p:cNvPr id="11" name="Text 9"/>
          <p:cNvSpPr/>
          <p:nvPr/>
        </p:nvSpPr>
        <p:spPr>
          <a:xfrm>
            <a:off x="822960" y="337413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CreateMap&lt;Libro, LibroDto&gt;();</a:t>
            </a:r>
            <a:endParaRPr lang="en-US" sz="970" dirty="0"/>
          </a:p>
        </p:txBody>
      </p:sp>
      <p:sp>
        <p:nvSpPr>
          <p:cNvPr id="12" name="Text 10"/>
          <p:cNvSpPr/>
          <p:nvPr/>
        </p:nvSpPr>
        <p:spPr>
          <a:xfrm>
            <a:off x="822960" y="3577133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70" dirty="0"/>
          </a:p>
        </p:txBody>
      </p:sp>
      <p:sp>
        <p:nvSpPr>
          <p:cNvPr id="13" name="Text 11"/>
          <p:cNvSpPr/>
          <p:nvPr/>
        </p:nvSpPr>
        <p:spPr>
          <a:xfrm>
            <a:off x="822960" y="378013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CreateMap&lt;Autor, AutorDto&gt;()</a:t>
            </a:r>
            <a:endParaRPr lang="en-US" sz="970" dirty="0"/>
          </a:p>
        </p:txBody>
      </p:sp>
      <p:sp>
        <p:nvSpPr>
          <p:cNvPr id="14" name="Text 12"/>
          <p:cNvSpPr/>
          <p:nvPr/>
        </p:nvSpPr>
        <p:spPr>
          <a:xfrm>
            <a:off x="822960" y="3983126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.ForMember(d =&gt; d.CantidadLibros,</a:t>
            </a:r>
            <a:endParaRPr lang="en-US" sz="970" dirty="0"/>
          </a:p>
        </p:txBody>
      </p:sp>
      <p:sp>
        <p:nvSpPr>
          <p:cNvPr id="15" name="Text 13"/>
          <p:cNvSpPr/>
          <p:nvPr/>
        </p:nvSpPr>
        <p:spPr>
          <a:xfrm>
            <a:off x="822960" y="4186123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opt =&gt; opt.MapFrom(</a:t>
            </a:r>
            <a:endParaRPr lang="en-US" sz="970" dirty="0"/>
          </a:p>
        </p:txBody>
      </p:sp>
      <p:sp>
        <p:nvSpPr>
          <p:cNvPr id="16" name="Text 14"/>
          <p:cNvSpPr/>
          <p:nvPr/>
        </p:nvSpPr>
        <p:spPr>
          <a:xfrm>
            <a:off x="822960" y="438912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src =&gt; src.Libros.Count));</a:t>
            </a:r>
            <a:endParaRPr lang="en-US" sz="970" dirty="0"/>
          </a:p>
        </p:txBody>
      </p:sp>
      <p:sp>
        <p:nvSpPr>
          <p:cNvPr id="17" name="Text 15"/>
          <p:cNvSpPr/>
          <p:nvPr/>
        </p:nvSpPr>
        <p:spPr>
          <a:xfrm>
            <a:off x="822960" y="4592117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970" dirty="0"/>
          </a:p>
        </p:txBody>
      </p:sp>
      <p:sp>
        <p:nvSpPr>
          <p:cNvPr id="18" name="Text 16"/>
          <p:cNvSpPr/>
          <p:nvPr/>
        </p:nvSpPr>
        <p:spPr>
          <a:xfrm>
            <a:off x="822960" y="4795114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970" dirty="0"/>
          </a:p>
        </p:txBody>
      </p:sp>
      <p:sp>
        <p:nvSpPr>
          <p:cNvPr id="19" name="Text 17"/>
          <p:cNvSpPr/>
          <p:nvPr/>
        </p:nvSpPr>
        <p:spPr>
          <a:xfrm>
            <a:off x="822960" y="4998110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70" dirty="0"/>
          </a:p>
        </p:txBody>
      </p:sp>
      <p:sp>
        <p:nvSpPr>
          <p:cNvPr id="20" name="Text 18"/>
          <p:cNvSpPr/>
          <p:nvPr/>
        </p:nvSpPr>
        <p:spPr>
          <a:xfrm>
            <a:off x="822960" y="5201107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8FA3C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Program.cs</a:t>
            </a:r>
            <a:endParaRPr lang="en-US" sz="970" dirty="0"/>
          </a:p>
        </p:txBody>
      </p:sp>
      <p:sp>
        <p:nvSpPr>
          <p:cNvPr id="21" name="Text 19"/>
          <p:cNvSpPr/>
          <p:nvPr/>
        </p:nvSpPr>
        <p:spPr>
          <a:xfrm>
            <a:off x="822960" y="5404104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builder.Services.AddAutoMapper(</a:t>
            </a:r>
            <a:endParaRPr lang="en-US" sz="970" dirty="0"/>
          </a:p>
        </p:txBody>
      </p:sp>
      <p:sp>
        <p:nvSpPr>
          <p:cNvPr id="22" name="Text 20"/>
          <p:cNvSpPr/>
          <p:nvPr/>
        </p:nvSpPr>
        <p:spPr>
          <a:xfrm>
            <a:off x="822960" y="5607101"/>
            <a:ext cx="493776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C9A9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typeof(MappingProfile));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6309360" y="1828800"/>
            <a:ext cx="5349240" cy="4023360"/>
          </a:xfrm>
          <a:prstGeom prst="roundRect">
            <a:avLst>
              <a:gd name="adj" fmla="val 1818"/>
            </a:avLst>
          </a:prstGeom>
          <a:solidFill>
            <a:srgbClr val="132139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Text 22"/>
          <p:cNvSpPr/>
          <p:nvPr/>
        </p:nvSpPr>
        <p:spPr>
          <a:xfrm>
            <a:off x="6583680" y="2011680"/>
            <a:ext cx="4800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8FA3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Usarlo con inyección de dependencias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0" y="235915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C7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class LibrosController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583680" y="258318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583680" y="280720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readonly AppDbContext _ctx;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583680" y="303123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private readonly IMapper _mapper;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583680" y="3255264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583680" y="347929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public async Task&lt;List&lt;LibroDto&gt;&gt;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583680" y="370332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GetLibros()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583680" y="392734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{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583680" y="415137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await _ctx.Libros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583680" y="4375404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.ProjectTo&lt;LibroDto&gt;(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583680" y="4599432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_mapper.ConfigurationProvider)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583680" y="4823460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8FD69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.ToListAsync();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0" y="5047488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}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583680" y="5271516"/>
            <a:ext cx="480060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E8EE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583680" y="53492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ProjectTo, a diferencia de Map, arma el SELECT solo con las columnas que el DTO necesita.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Buenas prácticas con EF Core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Shape 2"/>
          <p:cNvSpPr/>
          <p:nvPr/>
        </p:nvSpPr>
        <p:spPr>
          <a:xfrm>
            <a:off x="73152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3152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expongas entidades en tu API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3152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Usá DTOs o records para lo que entra y sale; evita acoplar tu API al esquema interno.</a:t>
            </a:r>
            <a:endParaRPr lang="en-US" sz="970" dirty="0"/>
          </a:p>
        </p:txBody>
      </p:sp>
      <p:sp>
        <p:nvSpPr>
          <p:cNvPr id="8" name="Shape 6"/>
          <p:cNvSpPr/>
          <p:nvPr/>
        </p:nvSpPr>
        <p:spPr>
          <a:xfrm>
            <a:off x="438912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Shape 7"/>
          <p:cNvSpPr/>
          <p:nvPr/>
        </p:nvSpPr>
        <p:spPr>
          <a:xfrm>
            <a:off x="457200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0" name="Text 8"/>
          <p:cNvSpPr/>
          <p:nvPr/>
        </p:nvSpPr>
        <p:spPr>
          <a:xfrm>
            <a:off x="457200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7200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AsNoTracking() en solo lectura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7200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no vas a modificar los datos, evitás el overhead del change tracker.</a:t>
            </a:r>
            <a:endParaRPr lang="en-US" sz="970" dirty="0"/>
          </a:p>
        </p:txBody>
      </p:sp>
      <p:sp>
        <p:nvSpPr>
          <p:cNvPr id="13" name="Shape 11"/>
          <p:cNvSpPr/>
          <p:nvPr/>
        </p:nvSpPr>
        <p:spPr>
          <a:xfrm>
            <a:off x="8229600" y="173736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4" name="Shape 12"/>
          <p:cNvSpPr/>
          <p:nvPr/>
        </p:nvSpPr>
        <p:spPr>
          <a:xfrm>
            <a:off x="8412480" y="192024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8412480" y="19202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8412480" y="234086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Include / ThenInclude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8412480" y="267004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Cargá relaciones explícitamente para evitar el problema N+1.</a:t>
            </a:r>
            <a:endParaRPr lang="en-US" sz="970" dirty="0"/>
          </a:p>
        </p:txBody>
      </p:sp>
      <p:sp>
        <p:nvSpPr>
          <p:cNvPr id="18" name="Shape 16"/>
          <p:cNvSpPr/>
          <p:nvPr/>
        </p:nvSpPr>
        <p:spPr>
          <a:xfrm>
            <a:off x="54864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9" name="Shape 17"/>
          <p:cNvSpPr/>
          <p:nvPr/>
        </p:nvSpPr>
        <p:spPr>
          <a:xfrm>
            <a:off x="73152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0" name="Text 18"/>
          <p:cNvSpPr/>
          <p:nvPr/>
        </p:nvSpPr>
        <p:spPr>
          <a:xfrm>
            <a:off x="73152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73152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Migraciones chicas y revisadas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73152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migración por cambio lógico; siempre revisá el código Up()/Down() generado.</a:t>
            </a:r>
            <a:endParaRPr lang="en-US" sz="970" dirty="0"/>
          </a:p>
        </p:txBody>
      </p:sp>
      <p:sp>
        <p:nvSpPr>
          <p:cNvPr id="23" name="Shape 21"/>
          <p:cNvSpPr/>
          <p:nvPr/>
        </p:nvSpPr>
        <p:spPr>
          <a:xfrm>
            <a:off x="438912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4" name="Shape 22"/>
          <p:cNvSpPr/>
          <p:nvPr/>
        </p:nvSpPr>
        <p:spPr>
          <a:xfrm>
            <a:off x="457200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5" name="Text 23"/>
          <p:cNvSpPr/>
          <p:nvPr/>
        </p:nvSpPr>
        <p:spPr>
          <a:xfrm>
            <a:off x="457200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57200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Evitá EnsureCreated() en producción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457200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útil para pruebas rápidas, pero no versiona el esquema — usá Migrate().</a:t>
            </a:r>
            <a:endParaRPr lang="en-US" sz="970" dirty="0"/>
          </a:p>
        </p:txBody>
      </p:sp>
      <p:sp>
        <p:nvSpPr>
          <p:cNvPr id="28" name="Shape 26"/>
          <p:cNvSpPr/>
          <p:nvPr/>
        </p:nvSpPr>
        <p:spPr>
          <a:xfrm>
            <a:off x="8229600" y="3383280"/>
            <a:ext cx="3611880" cy="1463040"/>
          </a:xfrm>
          <a:prstGeom prst="roundRect">
            <a:avLst>
              <a:gd name="adj" fmla="val 5000"/>
            </a:avLst>
          </a:prstGeom>
          <a:solidFill>
            <a:srgbClr val="E7F1F6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29" name="Shape 27"/>
          <p:cNvSpPr/>
          <p:nvPr/>
        </p:nvSpPr>
        <p:spPr>
          <a:xfrm>
            <a:off x="8412480" y="3566160"/>
            <a:ext cx="347472" cy="347472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30" name="Text 28"/>
          <p:cNvSpPr/>
          <p:nvPr/>
        </p:nvSpPr>
        <p:spPr>
          <a:xfrm>
            <a:off x="8412480" y="35661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8412480" y="3986784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Transacciones explícitas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8412480" y="4315968"/>
            <a:ext cx="3246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70" dirty="0">
                <a:solidFill>
                  <a:srgbClr val="5C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varias operaciones deben confirmarse juntas, usá una transacción manual.</a:t>
            </a:r>
            <a:endParaRPr lang="en-US" sz="97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129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4114800"/>
            <a:ext cx="4114800" cy="4114800"/>
          </a:xfrm>
          <a:prstGeom prst="ellipse">
            <a:avLst/>
          </a:prstGeom>
          <a:solidFill>
            <a:srgbClr val="065A82">
              <a:alpha val="45000"/>
            </a:srgbClr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4" name="Text 2"/>
          <p:cNvSpPr/>
          <p:nvPr/>
        </p:nvSpPr>
        <p:spPr>
          <a:xfrm>
            <a:off x="777240" y="9601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 </a:t>
            </a:r>
            <a:r>
              <a:rPr lang="en-US" sz="3400" b="1" dirty="0" err="1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resumen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10312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6" name="Text 4"/>
          <p:cNvSpPr/>
          <p:nvPr/>
        </p:nvSpPr>
        <p:spPr>
          <a:xfrm>
            <a:off x="822960" y="21031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1280160" y="192024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DbContext es el centro de todo: agrupa los DbSet&lt;T&gt; y confirma cambios con SaveChanges().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9" name="Text 7"/>
          <p:cNvSpPr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280160" y="269748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convenciones resuelven la mayoría de los casos — configurá explícitamente solo cuando haga falta.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22960" y="365760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2" name="Text 10"/>
          <p:cNvSpPr/>
          <p:nvPr/>
        </p:nvSpPr>
        <p:spPr>
          <a:xfrm>
            <a:off x="82296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280160" y="347472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Annotations es rápido para reglas simples; Fluent API da control total y mantiene las entidades limpias.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43484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5" name="Text 13"/>
          <p:cNvSpPr/>
          <p:nvPr/>
        </p:nvSpPr>
        <p:spPr>
          <a:xfrm>
            <a:off x="822960" y="4434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280160" y="42519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First versiona el esquema junto al código con migraciones; Database First parte de una base existente con scaffolding.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22960" y="5212080"/>
            <a:ext cx="292608" cy="292608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lstStyle/>
          <a:p>
            <a:endParaRPr lang="es-AR"/>
          </a:p>
        </p:txBody>
      </p:sp>
      <p:sp>
        <p:nvSpPr>
          <p:cNvPr id="18" name="Text 16"/>
          <p:cNvSpPr/>
          <p:nvPr/>
        </p:nvSpPr>
        <p:spPr>
          <a:xfrm>
            <a:off x="822960" y="5212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280160" y="502920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E7F1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elección entre ambos depende de quién controla el esquema: el equipo de desarrollo o un DBA / sistema legacy.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1458</TotalTime>
  <Words>1888</Words>
  <Application>Microsoft Office PowerPoint</Application>
  <PresentationFormat>Panorámica</PresentationFormat>
  <Paragraphs>300</Paragraphs>
  <Slides>16</Slides>
  <Notes>16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16</vt:i4>
      </vt:variant>
    </vt:vector>
  </HeadingPairs>
  <TitlesOfParts>
    <vt:vector size="21" baseType="lpstr">
      <vt:lpstr>Arial</vt:lpstr>
      <vt:lpstr>Calibri</vt:lpstr>
      <vt:lpstr>Cambria</vt:lpstr>
      <vt:lpstr>Courier New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Maximiliano Medina</cp:lastModifiedBy>
  <cp:revision>5</cp:revision>
  <dcterms:created xsi:type="dcterms:W3CDTF">2026-08-17T21:49:22Z</dcterms:created>
  <dcterms:modified xsi:type="dcterms:W3CDTF">2026-08-20T20:53:40Z</dcterms:modified>
</cp:coreProperties>
</file>