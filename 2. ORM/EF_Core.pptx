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4" r:id="rId14"/>
    <p:sldId id="275" r:id="rId15"/>
    <p:sldId id="272"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731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llegar a AutoMapper, quiero dedicarle una diapositiva completa a un concepto que ya veníamos mencionando de pasada: los DTOs, sigla de Data Transfer Object. Un DTO es, en esencia, una clase simple, sin ningún comportamiento ni lógica de negocio, cuyo único propósito es transportar datos entre capas — típicamente entre nuestra API y el mundo exterior. La distinción clave que quiero que les quede clara es esta: un DTO no es una entidad de EF Core, es una copia con exactamente la forma que el cliente necesita ver o enviar, ni una propiedad más, ni una menos. Miren el ejemplo en pantalla: la entidad Libro tiene un campo CostoInterno, que es información de gestión que jamás debería llegar al cliente final de nuestra API, y tiene una propiedad de navegación Autor que apunta al objeto completo del autor. El LibroDto, en cambio, no tiene CostoInterno para nada, y en vez de exponer el objeto Autor completo —con el riesgo de arrastrar de vuelta la lista de libros de ese autor, y de ahí otra vez al autor, en un ciclo infinito— simplemente aplana esa relación en un campo de texto, NombreAutor. Repasemos las razones concretas para hacer esto. Primero, ocultamos datos sensibles: costos internos, flags administrativos, cualquier columna que exista en la base por necesidades internas pero que el cliente no debería ver jamás. Segundo, evitamos referencias circulares: si intentan serializar a JSON una entidad con navegaciones bidireccionales tal cual viene de la base, el serializador entra en un ciclo infinito entre Libro y Autor y falla, o en el mejor de los casos genera una respuesta enorme y redundante. Tercero, desacoplamos el contrato público de la API del esquema interno de la base: si mañana renombran una columna o reorganizan una tabla, mientras el DTO se mantenga igual, ningún cliente de la API se entera de ese cambio interno. Y cuarto, un mismo dominio puede necesitar varios DTOs distintos según el caso de uso: un DTO de creación que no incluye el Id porque todavía no existe, un DTO de listado con solo los campos necesarios para una grilla, y un DTO de detalle con toda la información completa para una pantalla individual. Con esta idea bien clara, ahora sí podemos ver cómo automatizar el proceso de convertir entidades en estos DTOs, que es exactamente lo que hace AutoMapper.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vimos qué son los DTOs y por qué los necesitamos; ahora falta resolver un problema práctico: escribir a mano el código que copia cada propiedad de la entidad al DTO, propiedad por propiedad, es tedioso, repetitivo, y propenso a errores — es muy fácil, meses después, agregar una propiedad nueva a la entidad y olvidarse de agregarla también al mapeo manual en cada lugar donde se usa. Ahí es exactamente donde entra AutoMapper: una librería de mapeo objeto-objeto para .NET que automatiza esa conversión. Por convención, mapea automáticamente las propiedades que tienen el mismo nombre en el origen y en el destino — así que para el caso simple, como Id o Titulo, no hace falta configurar absolutamente nada. Para el resto de los casos, como aplanar Autor.Nombre al campo NombreAutor que vimos en la diapositiva anterior, o calcular un valor que no existe directamente en la entidad, AutoMapper permite definir reglas explícitas, que vamos a ver en la próxima diapositiva con el método ForMember. Y como beneficio extra que también vamos a ver enseguida, se integra directamente con las consultas LINQ de EF Core a través de un método llamado ProjectTo, que traduce el mapeo directamente a la consulta SQL, en vez de traer la entidad completa y recién después convertirla en memoria.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572000" cy="4572000"/>
          </a:xfrm>
          <a:prstGeom prst="ellipse">
            <a:avLst/>
          </a:prstGeom>
          <a:solidFill>
            <a:srgbClr val="065A82">
              <a:alpha val="45000"/>
            </a:srgbClr>
          </a:solidFill>
          <a:ln/>
        </p:spPr>
        <p:txBody>
          <a:bodyPr/>
          <a:lstStyle/>
          <a:p>
            <a:endParaRPr lang="es-AR"/>
          </a:p>
        </p:txBody>
      </p:sp>
      <p:sp>
        <p:nvSpPr>
          <p:cNvPr id="3" name="Shape 1"/>
          <p:cNvSpPr/>
          <p:nvPr/>
        </p:nvSpPr>
        <p:spPr>
          <a:xfrm>
            <a:off x="10607040" y="2926080"/>
            <a:ext cx="2926080" cy="2926080"/>
          </a:xfrm>
          <a:prstGeom prst="ellipse">
            <a:avLst/>
          </a:prstGeom>
          <a:solidFill>
            <a:srgbClr val="1C7293">
              <a:alpha val="40000"/>
            </a:srgbClr>
          </a:solidFill>
          <a:ln/>
        </p:spPr>
        <p:txBody>
          <a:bodyPr/>
          <a:lstStyle/>
          <a:p>
            <a:endParaRPr lang="es-AR"/>
          </a:p>
        </p:txBody>
      </p:sp>
      <p:sp>
        <p:nvSpPr>
          <p:cNvPr id="5" name="Text 3"/>
          <p:cNvSpPr/>
          <p:nvPr/>
        </p:nvSpPr>
        <p:spPr>
          <a:xfrm>
            <a:off x="777240" y="2240280"/>
            <a:ext cx="9875520" cy="1188720"/>
          </a:xfrm>
          <a:prstGeom prst="rect">
            <a:avLst/>
          </a:prstGeom>
          <a:noFill/>
          <a:ln/>
        </p:spPr>
        <p:txBody>
          <a:bodyPr wrap="square" lIns="0" tIns="0" rIns="0" bIns="0" rtlCol="0" anchor="ctr"/>
          <a:lstStyle/>
          <a:p>
            <a:pPr marL="0" indent="0" algn="l">
              <a:buNone/>
            </a:pPr>
            <a:r>
              <a:rPr lang="en-US" sz="4600" b="1" dirty="0">
                <a:solidFill>
                  <a:srgbClr val="FFFFFF"/>
                </a:solidFill>
                <a:latin typeface="Cambria" pitchFamily="34" charset="0"/>
                <a:ea typeface="Cambria" pitchFamily="34" charset="-122"/>
                <a:cs typeface="Cambria" pitchFamily="34" charset="-120"/>
              </a:rPr>
              <a:t>Entity Framework Core</a:t>
            </a:r>
            <a:endParaRPr lang="en-US" sz="4600" dirty="0"/>
          </a:p>
        </p:txBody>
      </p:sp>
      <p:sp>
        <p:nvSpPr>
          <p:cNvPr id="7" name="Shape 5"/>
          <p:cNvSpPr/>
          <p:nvPr/>
        </p:nvSpPr>
        <p:spPr>
          <a:xfrm>
            <a:off x="822960" y="4526280"/>
            <a:ext cx="2286000" cy="960120"/>
          </a:xfrm>
          <a:prstGeom prst="roundRect">
            <a:avLst>
              <a:gd name="adj" fmla="val 9524"/>
            </a:avLst>
          </a:prstGeom>
          <a:solidFill>
            <a:srgbClr val="065A82"/>
          </a:solidFill>
          <a:ln/>
        </p:spPr>
        <p:txBody>
          <a:bodyPr/>
          <a:lstStyle/>
          <a:p>
            <a:endParaRPr lang="es-AR"/>
          </a:p>
        </p:txBody>
      </p:sp>
      <p:sp>
        <p:nvSpPr>
          <p:cNvPr id="8" name="Text 6"/>
          <p:cNvSpPr/>
          <p:nvPr/>
        </p:nvSpPr>
        <p:spPr>
          <a:xfrm>
            <a:off x="822960" y="4526280"/>
            <a:ext cx="2286000" cy="960120"/>
          </a:xfrm>
          <a:prstGeom prst="rect">
            <a:avLst/>
          </a:prstGeom>
          <a:noFill/>
          <a:ln/>
        </p:spPr>
        <p:txBody>
          <a:bodyPr wrap="square" lIns="0" tIns="0" rIns="0" bIns="0" rtlCol="0" anchor="ctr"/>
          <a:lstStyle/>
          <a:p>
            <a:pPr marL="0" indent="0" algn="ctr">
              <a:buNone/>
            </a:pPr>
            <a:r>
              <a:rPr lang="en-US" sz="1250" dirty="0">
                <a:solidFill>
                  <a:srgbClr val="E8EEF2"/>
                </a:solidFill>
                <a:latin typeface="Courier New" pitchFamily="34" charset="0"/>
                <a:ea typeface="Courier New" pitchFamily="34" charset="-122"/>
                <a:cs typeface="Courier New" pitchFamily="34" charset="-120"/>
              </a:rPr>
              <a:t>DbContext</a:t>
            </a:r>
            <a:endParaRPr lang="en-US" sz="1250" dirty="0"/>
          </a:p>
        </p:txBody>
      </p:sp>
      <p:sp>
        <p:nvSpPr>
          <p:cNvPr id="9" name="Text 7"/>
          <p:cNvSpPr/>
          <p:nvPr/>
        </p:nvSpPr>
        <p:spPr>
          <a:xfrm>
            <a:off x="3108960" y="4526280"/>
            <a:ext cx="502920" cy="960120"/>
          </a:xfrm>
          <a:prstGeom prst="rect">
            <a:avLst/>
          </a:prstGeom>
          <a:noFill/>
          <a:ln/>
        </p:spPr>
        <p:txBody>
          <a:bodyPr wrap="square" lIns="0" tIns="0" rIns="0" bIns="0" rtlCol="0" anchor="ctr"/>
          <a:lstStyle/>
          <a:p>
            <a:pPr marL="0" indent="0" algn="ctr">
              <a:buNone/>
            </a:pPr>
            <a:r>
              <a:rPr lang="en-US" sz="2200" dirty="0">
                <a:solidFill>
                  <a:srgbClr val="6FB6D9"/>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611880" y="4526280"/>
            <a:ext cx="2286000" cy="960120"/>
          </a:xfrm>
          <a:prstGeom prst="roundRect">
            <a:avLst>
              <a:gd name="adj" fmla="val 9524"/>
            </a:avLst>
          </a:prstGeom>
          <a:solidFill>
            <a:srgbClr val="1C7293"/>
          </a:solidFill>
          <a:ln/>
        </p:spPr>
        <p:txBody>
          <a:bodyPr/>
          <a:lstStyle/>
          <a:p>
            <a:endParaRPr lang="es-AR"/>
          </a:p>
        </p:txBody>
      </p:sp>
      <p:sp>
        <p:nvSpPr>
          <p:cNvPr id="11" name="Text 9"/>
          <p:cNvSpPr/>
          <p:nvPr/>
        </p:nvSpPr>
        <p:spPr>
          <a:xfrm>
            <a:off x="3611880" y="4526280"/>
            <a:ext cx="2286000" cy="960120"/>
          </a:xfrm>
          <a:prstGeom prst="rect">
            <a:avLst/>
          </a:prstGeom>
          <a:noFill/>
          <a:ln/>
        </p:spPr>
        <p:txBody>
          <a:bodyPr wrap="square" lIns="0" tIns="0" rIns="0" bIns="0" rtlCol="0" anchor="ctr"/>
          <a:lstStyle/>
          <a:p>
            <a:pPr marL="0" indent="0" algn="ctr">
              <a:buNone/>
            </a:pPr>
            <a:r>
              <a:rPr lang="en-US" sz="1250" dirty="0">
                <a:solidFill>
                  <a:srgbClr val="E8EEF2"/>
                </a:solidFill>
                <a:latin typeface="Courier New" pitchFamily="34" charset="0"/>
                <a:ea typeface="Courier New" pitchFamily="34" charset="-122"/>
                <a:cs typeface="Courier New" pitchFamily="34" charset="-120"/>
              </a:rPr>
              <a:t>DbSet&lt;T&gt;</a:t>
            </a:r>
            <a:endParaRPr lang="en-US" sz="1250" dirty="0"/>
          </a:p>
        </p:txBody>
      </p:sp>
      <p:sp>
        <p:nvSpPr>
          <p:cNvPr id="12" name="Text 10"/>
          <p:cNvSpPr/>
          <p:nvPr/>
        </p:nvSpPr>
        <p:spPr>
          <a:xfrm>
            <a:off x="5897880" y="4526280"/>
            <a:ext cx="502920" cy="960120"/>
          </a:xfrm>
          <a:prstGeom prst="rect">
            <a:avLst/>
          </a:prstGeom>
          <a:noFill/>
          <a:ln/>
        </p:spPr>
        <p:txBody>
          <a:bodyPr wrap="square" lIns="0" tIns="0" rIns="0" bIns="0" rtlCol="0" anchor="ctr"/>
          <a:lstStyle/>
          <a:p>
            <a:pPr marL="0" indent="0" algn="ctr">
              <a:buNone/>
            </a:pPr>
            <a:r>
              <a:rPr lang="en-US" sz="2200" dirty="0">
                <a:solidFill>
                  <a:srgbClr val="6FB6D9"/>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6400800" y="4526280"/>
            <a:ext cx="2286000" cy="960120"/>
          </a:xfrm>
          <a:prstGeom prst="roundRect">
            <a:avLst>
              <a:gd name="adj" fmla="val 9524"/>
            </a:avLst>
          </a:prstGeom>
          <a:solidFill>
            <a:srgbClr val="065A82"/>
          </a:solidFill>
          <a:ln/>
        </p:spPr>
        <p:txBody>
          <a:bodyPr/>
          <a:lstStyle/>
          <a:p>
            <a:endParaRPr lang="es-AR"/>
          </a:p>
        </p:txBody>
      </p:sp>
      <p:sp>
        <p:nvSpPr>
          <p:cNvPr id="14" name="Text 12"/>
          <p:cNvSpPr/>
          <p:nvPr/>
        </p:nvSpPr>
        <p:spPr>
          <a:xfrm>
            <a:off x="6400800" y="4526280"/>
            <a:ext cx="2286000" cy="960120"/>
          </a:xfrm>
          <a:prstGeom prst="rect">
            <a:avLst/>
          </a:prstGeom>
          <a:noFill/>
          <a:ln/>
        </p:spPr>
        <p:txBody>
          <a:bodyPr wrap="square" lIns="0" tIns="0" rIns="0" bIns="0" rtlCol="0" anchor="ctr"/>
          <a:lstStyle/>
          <a:p>
            <a:pPr marL="0" indent="0" algn="ctr">
              <a:buNone/>
            </a:pPr>
            <a:r>
              <a:rPr lang="en-US" sz="1250" dirty="0">
                <a:solidFill>
                  <a:srgbClr val="E8EEF2"/>
                </a:solidFill>
                <a:latin typeface="Courier New" pitchFamily="34" charset="0"/>
                <a:ea typeface="Courier New" pitchFamily="34" charset="-122"/>
                <a:cs typeface="Courier New" pitchFamily="34" charset="-120"/>
              </a:rPr>
              <a:t>Base de datos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Repaso rápido</a:t>
            </a:r>
            <a:endParaRPr lang="en-US" sz="3000" dirty="0"/>
          </a:p>
        </p:txBody>
      </p:sp>
      <p:sp>
        <p:nvSpPr>
          <p:cNvPr id="4" name="Shape 2"/>
          <p:cNvSpPr/>
          <p:nvPr/>
        </p:nvSpPr>
        <p:spPr>
          <a:xfrm>
            <a:off x="548640" y="2011680"/>
            <a:ext cx="3520440" cy="2926080"/>
          </a:xfrm>
          <a:prstGeom prst="roundRect">
            <a:avLst>
              <a:gd name="adj" fmla="val 2500"/>
            </a:avLst>
          </a:prstGeom>
          <a:solidFill>
            <a:srgbClr val="065A82"/>
          </a:solidFill>
          <a:ln/>
        </p:spPr>
        <p:txBody>
          <a:bodyPr/>
          <a:lstStyle/>
          <a:p>
            <a:endParaRPr lang="es-AR"/>
          </a:p>
        </p:txBody>
      </p:sp>
      <p:sp>
        <p:nvSpPr>
          <p:cNvPr id="5" name="Text 3"/>
          <p:cNvSpPr/>
          <p:nvPr/>
        </p:nvSpPr>
        <p:spPr>
          <a:xfrm>
            <a:off x="777240" y="2194560"/>
            <a:ext cx="640080" cy="548640"/>
          </a:xfrm>
          <a:prstGeom prst="rect">
            <a:avLst/>
          </a:prstGeom>
          <a:noFill/>
          <a:ln/>
        </p:spPr>
        <p:txBody>
          <a:bodyPr wrap="square" lIns="0" tIns="0" rIns="0" bIns="0" rtlCol="0" anchor="ctr"/>
          <a:lstStyle/>
          <a:p>
            <a:pPr marL="0" indent="0" algn="l">
              <a:buNone/>
            </a:pPr>
            <a:r>
              <a:rPr lang="en-US" sz="2600" b="1" dirty="0">
                <a:solidFill>
                  <a:srgbClr val="6FB6D9"/>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777240" y="2788920"/>
            <a:ext cx="306324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Un ORM traduce mundos</a:t>
            </a:r>
            <a:endParaRPr lang="en-US" sz="1500" dirty="0"/>
          </a:p>
        </p:txBody>
      </p:sp>
      <p:sp>
        <p:nvSpPr>
          <p:cNvPr id="7" name="Text 5"/>
          <p:cNvSpPr/>
          <p:nvPr/>
        </p:nvSpPr>
        <p:spPr>
          <a:xfrm>
            <a:off x="777240" y="3429000"/>
            <a:ext cx="3063240" cy="1371600"/>
          </a:xfrm>
          <a:prstGeom prst="rect">
            <a:avLst/>
          </a:prstGeom>
          <a:noFill/>
          <a:ln/>
        </p:spPr>
        <p:txBody>
          <a:bodyPr wrap="square" lIns="0" tIns="0" rIns="0" bIns="0" rtlCol="0" anchor="ctr"/>
          <a:lstStyle/>
          <a:p>
            <a:pPr marL="0" indent="0" algn="l">
              <a:buNone/>
            </a:pPr>
            <a:r>
              <a:rPr lang="en-US" sz="1150" dirty="0">
                <a:solidFill>
                  <a:srgbClr val="EAF3F8"/>
                </a:solidFill>
                <a:latin typeface="Calibri" pitchFamily="34" charset="0"/>
                <a:ea typeface="Calibri" pitchFamily="34" charset="-122"/>
                <a:cs typeface="Calibri" pitchFamily="34" charset="-120"/>
              </a:rPr>
              <a:t>Clases ↔ tablas, atributos ↔ columnas, instancias ↔ filas. Resuelve el "impedance mismatch" entre objetos y datos relacionales.</a:t>
            </a:r>
            <a:endParaRPr lang="en-US" sz="1150" dirty="0"/>
          </a:p>
        </p:txBody>
      </p:sp>
      <p:sp>
        <p:nvSpPr>
          <p:cNvPr id="8" name="Shape 6"/>
          <p:cNvSpPr/>
          <p:nvPr/>
        </p:nvSpPr>
        <p:spPr>
          <a:xfrm>
            <a:off x="4343400" y="2011680"/>
            <a:ext cx="3520440" cy="2926080"/>
          </a:xfrm>
          <a:prstGeom prst="roundRect">
            <a:avLst>
              <a:gd name="adj" fmla="val 2500"/>
            </a:avLst>
          </a:prstGeom>
          <a:solidFill>
            <a:srgbClr val="21295C"/>
          </a:solidFill>
          <a:ln/>
        </p:spPr>
        <p:txBody>
          <a:bodyPr/>
          <a:lstStyle/>
          <a:p>
            <a:endParaRPr lang="es-AR"/>
          </a:p>
        </p:txBody>
      </p:sp>
      <p:sp>
        <p:nvSpPr>
          <p:cNvPr id="9" name="Text 7"/>
          <p:cNvSpPr/>
          <p:nvPr/>
        </p:nvSpPr>
        <p:spPr>
          <a:xfrm>
            <a:off x="4572000" y="2194560"/>
            <a:ext cx="640080" cy="548640"/>
          </a:xfrm>
          <a:prstGeom prst="rect">
            <a:avLst/>
          </a:prstGeom>
          <a:noFill/>
          <a:ln/>
        </p:spPr>
        <p:txBody>
          <a:bodyPr wrap="square" lIns="0" tIns="0" rIns="0" bIns="0" rtlCol="0" anchor="ctr"/>
          <a:lstStyle/>
          <a:p>
            <a:pPr marL="0" indent="0" algn="l">
              <a:buNone/>
            </a:pPr>
            <a:r>
              <a:rPr lang="en-US" sz="2600" b="1" dirty="0">
                <a:solidFill>
                  <a:srgbClr val="6FB6D9"/>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4572000" y="2788920"/>
            <a:ext cx="306324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Active Record vs Data Mapper</a:t>
            </a:r>
            <a:endParaRPr lang="en-US" sz="1500" dirty="0"/>
          </a:p>
        </p:txBody>
      </p:sp>
      <p:sp>
        <p:nvSpPr>
          <p:cNvPr id="11" name="Text 9"/>
          <p:cNvSpPr/>
          <p:nvPr/>
        </p:nvSpPr>
        <p:spPr>
          <a:xfrm>
            <a:off x="4572000" y="3429000"/>
            <a:ext cx="3063240" cy="1371600"/>
          </a:xfrm>
          <a:prstGeom prst="rect">
            <a:avLst/>
          </a:prstGeom>
          <a:noFill/>
          <a:ln/>
        </p:spPr>
        <p:txBody>
          <a:bodyPr wrap="square" lIns="0" tIns="0" rIns="0" bIns="0" rtlCol="0" anchor="ctr"/>
          <a:lstStyle/>
          <a:p>
            <a:pPr marL="0" indent="0" algn="l">
              <a:buNone/>
            </a:pPr>
            <a:r>
              <a:rPr lang="en-US" sz="1150" dirty="0">
                <a:solidFill>
                  <a:srgbClr val="EAF3F8"/>
                </a:solidFill>
                <a:latin typeface="Calibri" pitchFamily="34" charset="0"/>
                <a:ea typeface="Calibri" pitchFamily="34" charset="-122"/>
                <a:cs typeface="Calibri" pitchFamily="34" charset="-120"/>
              </a:rPr>
              <a:t>EF Core sigue el patrón Data Mapper: el DbContext es la sesión, y las entidades no saben nada de persistencia.</a:t>
            </a:r>
            <a:endParaRPr lang="en-US" sz="1150" dirty="0"/>
          </a:p>
        </p:txBody>
      </p:sp>
      <p:sp>
        <p:nvSpPr>
          <p:cNvPr id="12" name="Shape 10"/>
          <p:cNvSpPr/>
          <p:nvPr/>
        </p:nvSpPr>
        <p:spPr>
          <a:xfrm>
            <a:off x="8138160" y="2011680"/>
            <a:ext cx="3520440" cy="2926080"/>
          </a:xfrm>
          <a:prstGeom prst="roundRect">
            <a:avLst>
              <a:gd name="adj" fmla="val 2500"/>
            </a:avLst>
          </a:prstGeom>
          <a:solidFill>
            <a:srgbClr val="065A82"/>
          </a:solidFill>
          <a:ln/>
        </p:spPr>
        <p:txBody>
          <a:bodyPr/>
          <a:lstStyle/>
          <a:p>
            <a:endParaRPr lang="es-AR"/>
          </a:p>
        </p:txBody>
      </p:sp>
      <p:sp>
        <p:nvSpPr>
          <p:cNvPr id="13" name="Text 11"/>
          <p:cNvSpPr/>
          <p:nvPr/>
        </p:nvSpPr>
        <p:spPr>
          <a:xfrm>
            <a:off x="8366760" y="2194560"/>
            <a:ext cx="640080" cy="548640"/>
          </a:xfrm>
          <a:prstGeom prst="rect">
            <a:avLst/>
          </a:prstGeom>
          <a:noFill/>
          <a:ln/>
        </p:spPr>
        <p:txBody>
          <a:bodyPr wrap="square" lIns="0" tIns="0" rIns="0" bIns="0" rtlCol="0" anchor="ctr"/>
          <a:lstStyle/>
          <a:p>
            <a:pPr marL="0" indent="0" algn="l">
              <a:buNone/>
            </a:pPr>
            <a:r>
              <a:rPr lang="en-US" sz="2600" b="1" dirty="0">
                <a:solidFill>
                  <a:srgbClr val="6FB6D9"/>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8366760" y="2788920"/>
            <a:ext cx="306324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Code First y Database First</a:t>
            </a:r>
            <a:endParaRPr lang="en-US" sz="1500" dirty="0"/>
          </a:p>
        </p:txBody>
      </p:sp>
      <p:sp>
        <p:nvSpPr>
          <p:cNvPr id="15" name="Text 13"/>
          <p:cNvSpPr/>
          <p:nvPr/>
        </p:nvSpPr>
        <p:spPr>
          <a:xfrm>
            <a:off x="8366760" y="3429000"/>
            <a:ext cx="3063240" cy="1371600"/>
          </a:xfrm>
          <a:prstGeom prst="rect">
            <a:avLst/>
          </a:prstGeom>
          <a:noFill/>
          <a:ln/>
        </p:spPr>
        <p:txBody>
          <a:bodyPr wrap="square" lIns="0" tIns="0" rIns="0" bIns="0" rtlCol="0" anchor="ctr"/>
          <a:lstStyle/>
          <a:p>
            <a:pPr marL="0" indent="0" algn="l">
              <a:buNone/>
            </a:pPr>
            <a:r>
              <a:rPr lang="en-US" sz="1150" dirty="0">
                <a:solidFill>
                  <a:srgbClr val="EAF3F8"/>
                </a:solidFill>
                <a:latin typeface="Calibri" pitchFamily="34" charset="0"/>
                <a:ea typeface="Calibri" pitchFamily="34" charset="-122"/>
                <a:cs typeface="Calibri" pitchFamily="34" charset="-120"/>
              </a:rPr>
              <a:t>Vimos que el modelo puede partir del código o de una base </a:t>
            </a:r>
            <a:r>
              <a:rPr lang="en-US" sz="1150" dirty="0" err="1">
                <a:solidFill>
                  <a:srgbClr val="EAF3F8"/>
                </a:solidFill>
                <a:latin typeface="Calibri" pitchFamily="34" charset="0"/>
                <a:ea typeface="Calibri" pitchFamily="34" charset="-122"/>
                <a:cs typeface="Calibri" pitchFamily="34" charset="-120"/>
              </a:rPr>
              <a:t>existente</a:t>
            </a:r>
            <a:r>
              <a:rPr lang="en-US" sz="1150" dirty="0">
                <a:solidFill>
                  <a:srgbClr val="EAF3F8"/>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Arquitectura de EF Core</a:t>
            </a:r>
            <a:endParaRPr lang="en-US" sz="3000" dirty="0"/>
          </a:p>
        </p:txBody>
      </p:sp>
      <p:sp>
        <p:nvSpPr>
          <p:cNvPr id="4" name="Shape 2"/>
          <p:cNvSpPr/>
          <p:nvPr/>
        </p:nvSpPr>
        <p:spPr>
          <a:xfrm>
            <a:off x="548640" y="2103120"/>
            <a:ext cx="1965960" cy="1371600"/>
          </a:xfrm>
          <a:prstGeom prst="roundRect">
            <a:avLst>
              <a:gd name="adj" fmla="val 5333"/>
            </a:avLst>
          </a:prstGeom>
          <a:solidFill>
            <a:srgbClr val="065A82"/>
          </a:solidFill>
          <a:ln/>
        </p:spPr>
        <p:txBody>
          <a:bodyPr/>
          <a:lstStyle/>
          <a:p>
            <a:endParaRPr lang="es-AR"/>
          </a:p>
        </p:txBody>
      </p:sp>
      <p:sp>
        <p:nvSpPr>
          <p:cNvPr id="5" name="Text 3"/>
          <p:cNvSpPr/>
          <p:nvPr/>
        </p:nvSpPr>
        <p:spPr>
          <a:xfrm>
            <a:off x="658368" y="2212848"/>
            <a:ext cx="1746504" cy="548640"/>
          </a:xfrm>
          <a:prstGeom prst="rect">
            <a:avLst/>
          </a:prstGeom>
          <a:noFill/>
          <a:ln/>
        </p:spPr>
        <p:txBody>
          <a:bodyPr wrap="square" lIns="0" tIns="0" rIns="0" bIns="0" rtlCol="0" anchor="t"/>
          <a:lstStyle/>
          <a:p>
            <a:pPr marL="0" indent="0" algn="l">
              <a:buNone/>
            </a:pPr>
            <a:r>
              <a:rPr lang="en-US" sz="1250" b="1" dirty="0">
                <a:solidFill>
                  <a:srgbClr val="FFFFFF"/>
                </a:solidFill>
                <a:latin typeface="Cambria" pitchFamily="34" charset="0"/>
                <a:ea typeface="Cambria" pitchFamily="34" charset="-122"/>
                <a:cs typeface="Cambria" pitchFamily="34" charset="-120"/>
              </a:rPr>
              <a:t>Tu aplicación</a:t>
            </a:r>
            <a:endParaRPr lang="en-US" sz="1250" dirty="0"/>
          </a:p>
        </p:txBody>
      </p:sp>
      <p:sp>
        <p:nvSpPr>
          <p:cNvPr id="6" name="Text 4"/>
          <p:cNvSpPr/>
          <p:nvPr/>
        </p:nvSpPr>
        <p:spPr>
          <a:xfrm>
            <a:off x="2514600" y="2103120"/>
            <a:ext cx="315468" cy="1371600"/>
          </a:xfrm>
          <a:prstGeom prst="rect">
            <a:avLst/>
          </a:prstGeom>
          <a:noFill/>
          <a:ln/>
        </p:spPr>
        <p:txBody>
          <a:bodyPr wrap="square" lIns="0" tIns="0" rIns="0" bIns="0" rtlCol="0" anchor="ctr"/>
          <a:lstStyle/>
          <a:p>
            <a:pPr marL="0" indent="0" algn="ctr">
              <a:buNone/>
            </a:pPr>
            <a:r>
              <a:rPr lang="en-US" sz="2000" dirty="0">
                <a:solidFill>
                  <a:srgbClr val="1C7293"/>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2830068" y="2103120"/>
            <a:ext cx="1965960" cy="1371600"/>
          </a:xfrm>
          <a:prstGeom prst="roundRect">
            <a:avLst>
              <a:gd name="adj" fmla="val 5333"/>
            </a:avLst>
          </a:prstGeom>
          <a:solidFill>
            <a:srgbClr val="1C7293"/>
          </a:solidFill>
          <a:ln/>
        </p:spPr>
        <p:txBody>
          <a:bodyPr/>
          <a:lstStyle/>
          <a:p>
            <a:endParaRPr lang="es-AR"/>
          </a:p>
        </p:txBody>
      </p:sp>
      <p:sp>
        <p:nvSpPr>
          <p:cNvPr id="8" name="Text 6"/>
          <p:cNvSpPr/>
          <p:nvPr/>
        </p:nvSpPr>
        <p:spPr>
          <a:xfrm>
            <a:off x="2939796" y="2212848"/>
            <a:ext cx="1746504" cy="548640"/>
          </a:xfrm>
          <a:prstGeom prst="rect">
            <a:avLst/>
          </a:prstGeom>
          <a:noFill/>
          <a:ln/>
        </p:spPr>
        <p:txBody>
          <a:bodyPr wrap="square" lIns="0" tIns="0" rIns="0" bIns="0" rtlCol="0" anchor="t"/>
          <a:lstStyle/>
          <a:p>
            <a:pPr marL="0" indent="0" algn="l">
              <a:buNone/>
            </a:pPr>
            <a:r>
              <a:rPr lang="en-US" sz="1250" b="1" dirty="0">
                <a:solidFill>
                  <a:srgbClr val="FFFFFF"/>
                </a:solidFill>
                <a:latin typeface="Cambria" pitchFamily="34" charset="0"/>
                <a:ea typeface="Cambria" pitchFamily="34" charset="-122"/>
                <a:cs typeface="Cambria" pitchFamily="34" charset="-120"/>
              </a:rPr>
              <a:t>DbContext</a:t>
            </a:r>
            <a:endParaRPr lang="en-US" sz="1250" dirty="0"/>
          </a:p>
        </p:txBody>
      </p:sp>
      <p:sp>
        <p:nvSpPr>
          <p:cNvPr id="9" name="Text 7"/>
          <p:cNvSpPr/>
          <p:nvPr/>
        </p:nvSpPr>
        <p:spPr>
          <a:xfrm>
            <a:off x="4796028" y="2103120"/>
            <a:ext cx="315468" cy="1371600"/>
          </a:xfrm>
          <a:prstGeom prst="rect">
            <a:avLst/>
          </a:prstGeom>
          <a:noFill/>
          <a:ln/>
        </p:spPr>
        <p:txBody>
          <a:bodyPr wrap="square" lIns="0" tIns="0" rIns="0" bIns="0" rtlCol="0" anchor="ctr"/>
          <a:lstStyle/>
          <a:p>
            <a:pPr marL="0" indent="0" algn="ctr">
              <a:buNone/>
            </a:pPr>
            <a:r>
              <a:rPr lang="en-US" sz="2000" dirty="0">
                <a:solidFill>
                  <a:srgbClr val="1C7293"/>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5111496" y="2103120"/>
            <a:ext cx="1965960" cy="1371600"/>
          </a:xfrm>
          <a:prstGeom prst="roundRect">
            <a:avLst>
              <a:gd name="adj" fmla="val 5333"/>
            </a:avLst>
          </a:prstGeom>
          <a:solidFill>
            <a:srgbClr val="065A82"/>
          </a:solidFill>
          <a:ln/>
        </p:spPr>
        <p:txBody>
          <a:bodyPr/>
          <a:lstStyle/>
          <a:p>
            <a:endParaRPr lang="es-AR"/>
          </a:p>
        </p:txBody>
      </p:sp>
      <p:sp>
        <p:nvSpPr>
          <p:cNvPr id="11" name="Text 9"/>
          <p:cNvSpPr/>
          <p:nvPr/>
        </p:nvSpPr>
        <p:spPr>
          <a:xfrm>
            <a:off x="5221224" y="2212848"/>
            <a:ext cx="1746504" cy="548640"/>
          </a:xfrm>
          <a:prstGeom prst="rect">
            <a:avLst/>
          </a:prstGeom>
          <a:noFill/>
          <a:ln/>
        </p:spPr>
        <p:txBody>
          <a:bodyPr wrap="square" lIns="0" tIns="0" rIns="0" bIns="0" rtlCol="0" anchor="t"/>
          <a:lstStyle/>
          <a:p>
            <a:pPr marL="0" indent="0" algn="l">
              <a:buNone/>
            </a:pPr>
            <a:r>
              <a:rPr lang="en-US" sz="1250" b="1" dirty="0">
                <a:solidFill>
                  <a:srgbClr val="FFFFFF"/>
                </a:solidFill>
                <a:latin typeface="Cambria" pitchFamily="34" charset="0"/>
                <a:ea typeface="Cambria" pitchFamily="34" charset="-122"/>
                <a:cs typeface="Cambria" pitchFamily="34" charset="-120"/>
              </a:rPr>
              <a:t>Change Tracker</a:t>
            </a:r>
            <a:endParaRPr lang="en-US" sz="1250" dirty="0"/>
          </a:p>
        </p:txBody>
      </p:sp>
      <p:sp>
        <p:nvSpPr>
          <p:cNvPr id="12" name="Text 10"/>
          <p:cNvSpPr/>
          <p:nvPr/>
        </p:nvSpPr>
        <p:spPr>
          <a:xfrm>
            <a:off x="7077456" y="2103120"/>
            <a:ext cx="315468" cy="1371600"/>
          </a:xfrm>
          <a:prstGeom prst="rect">
            <a:avLst/>
          </a:prstGeom>
          <a:noFill/>
          <a:ln/>
        </p:spPr>
        <p:txBody>
          <a:bodyPr wrap="square" lIns="0" tIns="0" rIns="0" bIns="0" rtlCol="0" anchor="ctr"/>
          <a:lstStyle/>
          <a:p>
            <a:pPr marL="0" indent="0" algn="ctr">
              <a:buNone/>
            </a:pPr>
            <a:r>
              <a:rPr lang="en-US" sz="2000" dirty="0">
                <a:solidFill>
                  <a:srgbClr val="1C7293"/>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7392924" y="2103120"/>
            <a:ext cx="1965960" cy="1371600"/>
          </a:xfrm>
          <a:prstGeom prst="roundRect">
            <a:avLst>
              <a:gd name="adj" fmla="val 5333"/>
            </a:avLst>
          </a:prstGeom>
          <a:solidFill>
            <a:srgbClr val="1C7293"/>
          </a:solidFill>
          <a:ln/>
        </p:spPr>
        <p:txBody>
          <a:bodyPr/>
          <a:lstStyle/>
          <a:p>
            <a:endParaRPr lang="es-AR"/>
          </a:p>
        </p:txBody>
      </p:sp>
      <p:sp>
        <p:nvSpPr>
          <p:cNvPr id="14" name="Text 12"/>
          <p:cNvSpPr/>
          <p:nvPr/>
        </p:nvSpPr>
        <p:spPr>
          <a:xfrm>
            <a:off x="7502652" y="2212848"/>
            <a:ext cx="1746504" cy="548640"/>
          </a:xfrm>
          <a:prstGeom prst="rect">
            <a:avLst/>
          </a:prstGeom>
          <a:noFill/>
          <a:ln/>
        </p:spPr>
        <p:txBody>
          <a:bodyPr wrap="square" lIns="0" tIns="0" rIns="0" bIns="0" rtlCol="0" anchor="t"/>
          <a:lstStyle/>
          <a:p>
            <a:pPr marL="0" indent="0" algn="l">
              <a:buNone/>
            </a:pPr>
            <a:r>
              <a:rPr lang="en-US" sz="1250" b="1" dirty="0">
                <a:solidFill>
                  <a:srgbClr val="FFFFFF"/>
                </a:solidFill>
                <a:latin typeface="Cambria" pitchFamily="34" charset="0"/>
                <a:ea typeface="Cambria" pitchFamily="34" charset="-122"/>
                <a:cs typeface="Cambria" pitchFamily="34" charset="-120"/>
              </a:rPr>
              <a:t>Proveedor (Provider)</a:t>
            </a:r>
            <a:endParaRPr lang="en-US" sz="1250" dirty="0"/>
          </a:p>
        </p:txBody>
      </p:sp>
      <p:sp>
        <p:nvSpPr>
          <p:cNvPr id="15" name="Text 13"/>
          <p:cNvSpPr/>
          <p:nvPr/>
        </p:nvSpPr>
        <p:spPr>
          <a:xfrm>
            <a:off x="9358884" y="2103120"/>
            <a:ext cx="315468" cy="1371600"/>
          </a:xfrm>
          <a:prstGeom prst="rect">
            <a:avLst/>
          </a:prstGeom>
          <a:noFill/>
          <a:ln/>
        </p:spPr>
        <p:txBody>
          <a:bodyPr wrap="square" lIns="0" tIns="0" rIns="0" bIns="0" rtlCol="0" anchor="ctr"/>
          <a:lstStyle/>
          <a:p>
            <a:pPr marL="0" indent="0" algn="ctr">
              <a:buNone/>
            </a:pPr>
            <a:r>
              <a:rPr lang="en-US" sz="2000" dirty="0">
                <a:solidFill>
                  <a:srgbClr val="1C7293"/>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674352" y="2103120"/>
            <a:ext cx="1965960" cy="1371600"/>
          </a:xfrm>
          <a:prstGeom prst="roundRect">
            <a:avLst>
              <a:gd name="adj" fmla="val 5333"/>
            </a:avLst>
          </a:prstGeom>
          <a:solidFill>
            <a:srgbClr val="065A82"/>
          </a:solidFill>
          <a:ln/>
        </p:spPr>
        <p:txBody>
          <a:bodyPr/>
          <a:lstStyle/>
          <a:p>
            <a:endParaRPr lang="es-AR"/>
          </a:p>
        </p:txBody>
      </p:sp>
      <p:sp>
        <p:nvSpPr>
          <p:cNvPr id="17" name="Text 15"/>
          <p:cNvSpPr/>
          <p:nvPr/>
        </p:nvSpPr>
        <p:spPr>
          <a:xfrm>
            <a:off x="9784080" y="2212848"/>
            <a:ext cx="1746504" cy="548640"/>
          </a:xfrm>
          <a:prstGeom prst="rect">
            <a:avLst/>
          </a:prstGeom>
          <a:noFill/>
          <a:ln/>
        </p:spPr>
        <p:txBody>
          <a:bodyPr wrap="square" lIns="0" tIns="0" rIns="0" bIns="0" rtlCol="0" anchor="t"/>
          <a:lstStyle/>
          <a:p>
            <a:pPr marL="0" indent="0" algn="l">
              <a:buNone/>
            </a:pPr>
            <a:r>
              <a:rPr lang="en-US" sz="1250" b="1" dirty="0">
                <a:solidFill>
                  <a:srgbClr val="FFFFFF"/>
                </a:solidFill>
                <a:latin typeface="Cambria" pitchFamily="34" charset="0"/>
                <a:ea typeface="Cambria" pitchFamily="34" charset="-122"/>
                <a:cs typeface="Cambria" pitchFamily="34" charset="-120"/>
              </a:rPr>
              <a:t>Base de datos</a:t>
            </a:r>
            <a:endParaRPr lang="en-US" sz="1250" dirty="0"/>
          </a:p>
        </p:txBody>
      </p:sp>
      <p:sp>
        <p:nvSpPr>
          <p:cNvPr id="18" name="Text 16"/>
          <p:cNvSpPr/>
          <p:nvPr/>
        </p:nvSpPr>
        <p:spPr>
          <a:xfrm>
            <a:off x="548640" y="3703320"/>
            <a:ext cx="1965960" cy="1463040"/>
          </a:xfrm>
          <a:prstGeom prst="rect">
            <a:avLst/>
          </a:prstGeom>
          <a:noFill/>
          <a:ln/>
        </p:spPr>
        <p:txBody>
          <a:bodyPr wrap="square" lIns="0" tIns="0" rIns="0" bIns="0" rtlCol="0" anchor="ctr"/>
          <a:lstStyle/>
          <a:p>
            <a:pPr marL="0" indent="0" algn="l">
              <a:buNone/>
            </a:pPr>
            <a:r>
              <a:rPr lang="en-US" sz="1000" dirty="0">
                <a:solidFill>
                  <a:srgbClr val="21295C"/>
                </a:solidFill>
                <a:latin typeface="Calibri" pitchFamily="34" charset="0"/>
                <a:ea typeface="Calibri" pitchFamily="34" charset="-122"/>
                <a:cs typeface="Calibri" pitchFamily="34" charset="-120"/>
              </a:rPr>
              <a:t>Código C# que trabaja con objetos normales (POCOs).</a:t>
            </a:r>
            <a:endParaRPr lang="en-US" sz="1000" dirty="0"/>
          </a:p>
        </p:txBody>
      </p:sp>
      <p:sp>
        <p:nvSpPr>
          <p:cNvPr id="19" name="Text 17"/>
          <p:cNvSpPr/>
          <p:nvPr/>
        </p:nvSpPr>
        <p:spPr>
          <a:xfrm>
            <a:off x="2830068" y="3703320"/>
            <a:ext cx="1965960" cy="1463040"/>
          </a:xfrm>
          <a:prstGeom prst="rect">
            <a:avLst/>
          </a:prstGeom>
          <a:noFill/>
          <a:ln/>
        </p:spPr>
        <p:txBody>
          <a:bodyPr wrap="square" lIns="0" tIns="0" rIns="0" bIns="0" rtlCol="0" anchor="ctr"/>
          <a:lstStyle/>
          <a:p>
            <a:pPr marL="0" indent="0" algn="l">
              <a:buNone/>
            </a:pPr>
            <a:r>
              <a:rPr lang="en-US" sz="1000" dirty="0">
                <a:solidFill>
                  <a:srgbClr val="21295C"/>
                </a:solidFill>
                <a:latin typeface="Calibri" pitchFamily="34" charset="0"/>
                <a:ea typeface="Calibri" pitchFamily="34" charset="-122"/>
                <a:cs typeface="Calibri" pitchFamily="34" charset="-120"/>
              </a:rPr>
              <a:t>Representa la sesión: agrupa los DbSet y coordina los cambios.</a:t>
            </a:r>
            <a:endParaRPr lang="en-US" sz="1000" dirty="0"/>
          </a:p>
        </p:txBody>
      </p:sp>
      <p:sp>
        <p:nvSpPr>
          <p:cNvPr id="20" name="Text 18"/>
          <p:cNvSpPr/>
          <p:nvPr/>
        </p:nvSpPr>
        <p:spPr>
          <a:xfrm>
            <a:off x="5111496" y="3703320"/>
            <a:ext cx="1965960" cy="1463040"/>
          </a:xfrm>
          <a:prstGeom prst="rect">
            <a:avLst/>
          </a:prstGeom>
          <a:noFill/>
          <a:ln/>
        </p:spPr>
        <p:txBody>
          <a:bodyPr wrap="square" lIns="0" tIns="0" rIns="0" bIns="0" rtlCol="0" anchor="ctr"/>
          <a:lstStyle/>
          <a:p>
            <a:pPr marL="0" indent="0" algn="l">
              <a:buNone/>
            </a:pPr>
            <a:r>
              <a:rPr lang="en-US" sz="1000" dirty="0">
                <a:solidFill>
                  <a:srgbClr val="21295C"/>
                </a:solidFill>
                <a:latin typeface="Calibri" pitchFamily="34" charset="0"/>
                <a:ea typeface="Calibri" pitchFamily="34" charset="-122"/>
                <a:cs typeface="Calibri" pitchFamily="34" charset="-120"/>
              </a:rPr>
              <a:t>Detecta qué objetos cambiaron desde que se cargaron.</a:t>
            </a:r>
            <a:endParaRPr lang="en-US" sz="1000" dirty="0"/>
          </a:p>
        </p:txBody>
      </p:sp>
      <p:sp>
        <p:nvSpPr>
          <p:cNvPr id="21" name="Text 19"/>
          <p:cNvSpPr/>
          <p:nvPr/>
        </p:nvSpPr>
        <p:spPr>
          <a:xfrm>
            <a:off x="7392924" y="3703320"/>
            <a:ext cx="1965960" cy="1463040"/>
          </a:xfrm>
          <a:prstGeom prst="rect">
            <a:avLst/>
          </a:prstGeom>
          <a:noFill/>
          <a:ln/>
        </p:spPr>
        <p:txBody>
          <a:bodyPr wrap="square" lIns="0" tIns="0" rIns="0" bIns="0" rtlCol="0" anchor="ctr"/>
          <a:lstStyle/>
          <a:p>
            <a:pPr marL="0" indent="0" algn="l">
              <a:buNone/>
            </a:pPr>
            <a:r>
              <a:rPr lang="en-US" sz="1000" dirty="0">
                <a:solidFill>
                  <a:srgbClr val="21295C"/>
                </a:solidFill>
                <a:latin typeface="Calibri" pitchFamily="34" charset="0"/>
                <a:ea typeface="Calibri" pitchFamily="34" charset="-122"/>
                <a:cs typeface="Calibri" pitchFamily="34" charset="-120"/>
              </a:rPr>
              <a:t>Traduce LINQ al dialecto SQL del motor elegido.</a:t>
            </a:r>
            <a:endParaRPr lang="en-US" sz="1000" dirty="0"/>
          </a:p>
        </p:txBody>
      </p:sp>
      <p:sp>
        <p:nvSpPr>
          <p:cNvPr id="22" name="Text 20"/>
          <p:cNvSpPr/>
          <p:nvPr/>
        </p:nvSpPr>
        <p:spPr>
          <a:xfrm>
            <a:off x="9674352" y="3703320"/>
            <a:ext cx="1965960" cy="1463040"/>
          </a:xfrm>
          <a:prstGeom prst="rect">
            <a:avLst/>
          </a:prstGeom>
          <a:noFill/>
          <a:ln/>
        </p:spPr>
        <p:txBody>
          <a:bodyPr wrap="square" lIns="0" tIns="0" rIns="0" bIns="0" rtlCol="0" anchor="ctr"/>
          <a:lstStyle/>
          <a:p>
            <a:pPr marL="0" indent="0" algn="l">
              <a:buNone/>
            </a:pPr>
            <a:r>
              <a:rPr lang="en-US" sz="1000" dirty="0">
                <a:solidFill>
                  <a:srgbClr val="21295C"/>
                </a:solidFill>
                <a:latin typeface="Calibri" pitchFamily="34" charset="0"/>
                <a:ea typeface="Calibri" pitchFamily="34" charset="-122"/>
                <a:cs typeface="Calibri" pitchFamily="34" charset="-120"/>
              </a:rPr>
              <a:t>SQL Server, PostgreSQL, SQLite, MySQL, etc.</a:t>
            </a:r>
            <a:endParaRPr lang="en-US" sz="1000" dirty="0"/>
          </a:p>
        </p:txBody>
      </p:sp>
      <p:sp>
        <p:nvSpPr>
          <p:cNvPr id="23" name="Shape 21"/>
          <p:cNvSpPr/>
          <p:nvPr/>
        </p:nvSpPr>
        <p:spPr>
          <a:xfrm>
            <a:off x="548640" y="5120640"/>
            <a:ext cx="11091672" cy="822960"/>
          </a:xfrm>
          <a:prstGeom prst="roundRect">
            <a:avLst>
              <a:gd name="adj" fmla="val 8889"/>
            </a:avLst>
          </a:prstGeom>
          <a:solidFill>
            <a:srgbClr val="E7F1F6"/>
          </a:solidFill>
          <a:ln/>
        </p:spPr>
        <p:txBody>
          <a:bodyPr/>
          <a:lstStyle/>
          <a:p>
            <a:endParaRPr lang="es-AR"/>
          </a:p>
        </p:txBody>
      </p:sp>
      <p:sp>
        <p:nvSpPr>
          <p:cNvPr id="24" name="Text 22"/>
          <p:cNvSpPr/>
          <p:nvPr/>
        </p:nvSpPr>
        <p:spPr>
          <a:xfrm>
            <a:off x="822960" y="5120640"/>
            <a:ext cx="10543032" cy="822960"/>
          </a:xfrm>
          <a:prstGeom prst="rect">
            <a:avLst/>
          </a:prstGeom>
          <a:noFill/>
          <a:ln/>
        </p:spPr>
        <p:txBody>
          <a:bodyPr wrap="square" lIns="0" tIns="0" rIns="0" bIns="0" rtlCol="0" anchor="ctr"/>
          <a:lstStyle/>
          <a:p>
            <a:pPr marL="0" indent="0" algn="l">
              <a:buNone/>
            </a:pPr>
            <a:r>
              <a:rPr lang="en-US" sz="1200" dirty="0">
                <a:solidFill>
                  <a:srgbClr val="21295C"/>
                </a:solidFill>
                <a:latin typeface="Calibri" pitchFamily="34" charset="0"/>
                <a:ea typeface="Calibri" pitchFamily="34" charset="-122"/>
                <a:cs typeface="Calibri" pitchFamily="34" charset="-120"/>
              </a:rPr>
              <a:t>El DbContext es la pieza central: en él se registran los DbSet&lt;T&gt; (uno por entidad) y se llama a SaveChanges() para confirmar cualquier cambio pendiente contra la base.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Instalación y configuración</a:t>
            </a:r>
            <a:endParaRPr lang="en-US" sz="3000" dirty="0"/>
          </a:p>
        </p:txBody>
      </p:sp>
      <p:sp>
        <p:nvSpPr>
          <p:cNvPr id="4" name="Shape 2"/>
          <p:cNvSpPr/>
          <p:nvPr/>
        </p:nvSpPr>
        <p:spPr>
          <a:xfrm>
            <a:off x="548640" y="1828800"/>
            <a:ext cx="5394960" cy="3931920"/>
          </a:xfrm>
          <a:prstGeom prst="roundRect">
            <a:avLst>
              <a:gd name="adj" fmla="val 1860"/>
            </a:avLst>
          </a:prstGeom>
          <a:solidFill>
            <a:srgbClr val="132139"/>
          </a:solidFill>
          <a:ln/>
        </p:spPr>
        <p:txBody>
          <a:bodyPr/>
          <a:lstStyle/>
          <a:p>
            <a:endParaRPr lang="es-AR"/>
          </a:p>
        </p:txBody>
      </p:sp>
      <p:sp>
        <p:nvSpPr>
          <p:cNvPr id="5" name="Text 3"/>
          <p:cNvSpPr/>
          <p:nvPr/>
        </p:nvSpPr>
        <p:spPr>
          <a:xfrm>
            <a:off x="822960" y="2011680"/>
            <a:ext cx="4846320" cy="320040"/>
          </a:xfrm>
          <a:prstGeom prst="rect">
            <a:avLst/>
          </a:prstGeom>
          <a:noFill/>
          <a:ln/>
        </p:spPr>
        <p:txBody>
          <a:bodyPr wrap="square" lIns="0" tIns="0" rIns="0" bIns="0" rtlCol="0" anchor="ctr"/>
          <a:lstStyle/>
          <a:p>
            <a:pPr marL="0" indent="0" algn="l">
              <a:buNone/>
            </a:pPr>
            <a:r>
              <a:rPr lang="en-US" sz="1250" b="1" dirty="0">
                <a:solidFill>
                  <a:srgbClr val="8FA3C9"/>
                </a:solidFill>
                <a:latin typeface="Calibri" pitchFamily="34" charset="0"/>
                <a:ea typeface="Calibri" pitchFamily="34" charset="-122"/>
                <a:cs typeface="Calibri" pitchFamily="34" charset="-120"/>
              </a:rPr>
              <a:t>Paquetes NuGet necesarios</a:t>
            </a:r>
            <a:endParaRPr lang="en-US" sz="1250" dirty="0"/>
          </a:p>
        </p:txBody>
      </p:sp>
      <p:sp>
        <p:nvSpPr>
          <p:cNvPr id="6" name="Text 4"/>
          <p:cNvSpPr/>
          <p:nvPr/>
        </p:nvSpPr>
        <p:spPr>
          <a:xfrm>
            <a:off x="960120" y="3136392"/>
            <a:ext cx="4846320" cy="310896"/>
          </a:xfrm>
          <a:prstGeom prst="rect">
            <a:avLst/>
          </a:prstGeom>
          <a:noFill/>
          <a:ln/>
        </p:spPr>
        <p:txBody>
          <a:bodyPr wrap="square" lIns="0" tIns="0" rIns="0" bIns="0" rtlCol="0" anchor="ctr"/>
          <a:lstStyle/>
          <a:p>
            <a:pPr marL="0" indent="0" algn="l">
              <a:buNone/>
            </a:pPr>
            <a:r>
              <a:rPr lang="en-US" sz="1150" dirty="0">
                <a:solidFill>
                  <a:srgbClr val="8FD694"/>
                </a:solidFill>
                <a:latin typeface="Courier New" pitchFamily="34" charset="0"/>
                <a:ea typeface="Courier New" pitchFamily="34" charset="-122"/>
                <a:cs typeface="Courier New" pitchFamily="34" charset="-120"/>
              </a:rPr>
              <a:t>Install-Package </a:t>
            </a:r>
            <a:r>
              <a:rPr lang="en-US" sz="1150" dirty="0" err="1">
                <a:solidFill>
                  <a:srgbClr val="8FD694"/>
                </a:solidFill>
                <a:latin typeface="Courier New" pitchFamily="34" charset="0"/>
                <a:ea typeface="Courier New" pitchFamily="34" charset="-122"/>
                <a:cs typeface="Courier New" pitchFamily="34" charset="-120"/>
              </a:rPr>
              <a:t>Microsoft.EntityFrameworkCore.SqlServer</a:t>
            </a:r>
            <a:endParaRPr lang="en-US" sz="1150" dirty="0"/>
          </a:p>
        </p:txBody>
      </p:sp>
      <p:sp>
        <p:nvSpPr>
          <p:cNvPr id="8" name="Text 6"/>
          <p:cNvSpPr/>
          <p:nvPr/>
        </p:nvSpPr>
        <p:spPr>
          <a:xfrm>
            <a:off x="822960" y="3127248"/>
            <a:ext cx="4846320" cy="310896"/>
          </a:xfrm>
          <a:prstGeom prst="rect">
            <a:avLst/>
          </a:prstGeom>
          <a:noFill/>
          <a:ln/>
        </p:spPr>
        <p:txBody>
          <a:bodyPr wrap="square" lIns="0" tIns="0" rIns="0" bIns="0" rtlCol="0" anchor="ctr"/>
          <a:lstStyle/>
          <a:p>
            <a:pPr marL="0" indent="0" algn="l">
              <a:buNone/>
            </a:pPr>
            <a:endParaRPr lang="en-US" sz="1150" dirty="0"/>
          </a:p>
        </p:txBody>
      </p:sp>
      <p:sp>
        <p:nvSpPr>
          <p:cNvPr id="10" name="Text 8"/>
          <p:cNvSpPr/>
          <p:nvPr/>
        </p:nvSpPr>
        <p:spPr>
          <a:xfrm>
            <a:off x="807720" y="3785616"/>
            <a:ext cx="4846320" cy="310896"/>
          </a:xfrm>
          <a:prstGeom prst="rect">
            <a:avLst/>
          </a:prstGeom>
          <a:noFill/>
          <a:ln/>
        </p:spPr>
        <p:txBody>
          <a:bodyPr wrap="square" lIns="0" tIns="0" rIns="0" bIns="0" rtlCol="0" anchor="ctr"/>
          <a:lstStyle/>
          <a:p>
            <a:pPr marL="0" indent="0" algn="l">
              <a:buNone/>
            </a:pPr>
            <a:r>
              <a:rPr lang="en-US" sz="1150" dirty="0">
                <a:solidFill>
                  <a:srgbClr val="8FD694"/>
                </a:solidFill>
                <a:latin typeface="Courier New" pitchFamily="34" charset="0"/>
                <a:ea typeface="Courier New" pitchFamily="34" charset="-122"/>
                <a:cs typeface="Courier New" pitchFamily="34" charset="-120"/>
              </a:rPr>
              <a:t>  Install-Package </a:t>
            </a:r>
            <a:r>
              <a:rPr lang="en-US" sz="1150" dirty="0" err="1">
                <a:solidFill>
                  <a:srgbClr val="8FD694"/>
                </a:solidFill>
                <a:latin typeface="Courier New" pitchFamily="34" charset="0"/>
                <a:ea typeface="Courier New" pitchFamily="34" charset="-122"/>
                <a:cs typeface="Courier New" pitchFamily="34" charset="-120"/>
              </a:rPr>
              <a:t>Microsoft.EntityFrameworkCore.Tools</a:t>
            </a:r>
            <a:endParaRPr lang="en-US" sz="1150" dirty="0"/>
          </a:p>
        </p:txBody>
      </p:sp>
      <p:sp>
        <p:nvSpPr>
          <p:cNvPr id="11" name="Text 9"/>
          <p:cNvSpPr/>
          <p:nvPr/>
        </p:nvSpPr>
        <p:spPr>
          <a:xfrm>
            <a:off x="822960" y="4114800"/>
            <a:ext cx="4846320" cy="310896"/>
          </a:xfrm>
          <a:prstGeom prst="rect">
            <a:avLst/>
          </a:prstGeom>
          <a:noFill/>
          <a:ln/>
        </p:spPr>
        <p:txBody>
          <a:bodyPr wrap="square" lIns="0" tIns="0" rIns="0" bIns="0" rtlCol="0" anchor="ctr"/>
          <a:lstStyle/>
          <a:p>
            <a:pPr marL="0" indent="0" algn="l">
              <a:buNone/>
            </a:pPr>
            <a:endParaRPr lang="en-US" sz="1150" dirty="0"/>
          </a:p>
        </p:txBody>
      </p:sp>
      <p:sp>
        <p:nvSpPr>
          <p:cNvPr id="14" name="Text 12"/>
          <p:cNvSpPr/>
          <p:nvPr/>
        </p:nvSpPr>
        <p:spPr>
          <a:xfrm>
            <a:off x="822960" y="5074920"/>
            <a:ext cx="4846320" cy="594360"/>
          </a:xfrm>
          <a:prstGeom prst="rect">
            <a:avLst/>
          </a:prstGeom>
          <a:noFill/>
          <a:ln/>
        </p:spPr>
        <p:txBody>
          <a:bodyPr wrap="square" lIns="0" tIns="0" rIns="0" bIns="0" rtlCol="0" anchor="ctr"/>
          <a:lstStyle/>
          <a:p>
            <a:pPr marL="0" indent="0" algn="l">
              <a:buNone/>
            </a:pPr>
            <a:r>
              <a:rPr lang="en-US" sz="1000" i="1" dirty="0">
                <a:solidFill>
                  <a:srgbClr val="CADCFC"/>
                </a:solidFill>
                <a:latin typeface="Calibri" pitchFamily="34" charset="0"/>
                <a:ea typeface="Calibri" pitchFamily="34" charset="-122"/>
                <a:cs typeface="Calibri" pitchFamily="34" charset="-120"/>
              </a:rPr>
              <a:t>El paquete del proveedor cambia según el motor: .SqlServer, .Npgsql (PostgreSQL), .Sqlite, Pomelo.EntityFrameworkCore.MySql...</a:t>
            </a:r>
            <a:endParaRPr lang="en-US" sz="1000" dirty="0"/>
          </a:p>
        </p:txBody>
      </p:sp>
      <p:sp>
        <p:nvSpPr>
          <p:cNvPr id="15" name="Shape 13"/>
          <p:cNvSpPr/>
          <p:nvPr/>
        </p:nvSpPr>
        <p:spPr>
          <a:xfrm>
            <a:off x="6263640" y="1828800"/>
            <a:ext cx="5394960" cy="3931920"/>
          </a:xfrm>
          <a:prstGeom prst="roundRect">
            <a:avLst>
              <a:gd name="adj" fmla="val 1860"/>
            </a:avLst>
          </a:prstGeom>
          <a:solidFill>
            <a:srgbClr val="132139"/>
          </a:solidFill>
          <a:ln/>
        </p:spPr>
        <p:txBody>
          <a:bodyPr/>
          <a:lstStyle/>
          <a:p>
            <a:endParaRPr lang="es-AR"/>
          </a:p>
        </p:txBody>
      </p:sp>
      <p:sp>
        <p:nvSpPr>
          <p:cNvPr id="16" name="Text 14"/>
          <p:cNvSpPr/>
          <p:nvPr/>
        </p:nvSpPr>
        <p:spPr>
          <a:xfrm>
            <a:off x="6537960" y="2011680"/>
            <a:ext cx="4846320" cy="320040"/>
          </a:xfrm>
          <a:prstGeom prst="rect">
            <a:avLst/>
          </a:prstGeom>
          <a:noFill/>
          <a:ln/>
        </p:spPr>
        <p:txBody>
          <a:bodyPr wrap="square" lIns="0" tIns="0" rIns="0" bIns="0" rtlCol="0" anchor="ctr"/>
          <a:lstStyle/>
          <a:p>
            <a:pPr marL="0" indent="0" algn="l">
              <a:buNone/>
            </a:pPr>
            <a:r>
              <a:rPr lang="en-US" sz="1250" b="1" dirty="0">
                <a:solidFill>
                  <a:srgbClr val="8FA3C9"/>
                </a:solidFill>
                <a:latin typeface="Calibri" pitchFamily="34" charset="0"/>
                <a:ea typeface="Calibri" pitchFamily="34" charset="-122"/>
                <a:cs typeface="Calibri" pitchFamily="34" charset="-120"/>
              </a:rPr>
              <a:t>Program.cs — registrar el DbContext</a:t>
            </a:r>
            <a:endParaRPr lang="en-US" sz="1250" dirty="0"/>
          </a:p>
        </p:txBody>
      </p:sp>
      <p:sp>
        <p:nvSpPr>
          <p:cNvPr id="17" name="Text 15"/>
          <p:cNvSpPr/>
          <p:nvPr/>
        </p:nvSpPr>
        <p:spPr>
          <a:xfrm>
            <a:off x="6537960" y="2450592"/>
            <a:ext cx="4846320" cy="256032"/>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builder.Services</a:t>
            </a:r>
            <a:endParaRPr lang="en-US" sz="1050" dirty="0"/>
          </a:p>
        </p:txBody>
      </p:sp>
      <p:sp>
        <p:nvSpPr>
          <p:cNvPr id="18" name="Text 16"/>
          <p:cNvSpPr/>
          <p:nvPr/>
        </p:nvSpPr>
        <p:spPr>
          <a:xfrm>
            <a:off x="6537960" y="2715768"/>
            <a:ext cx="4846320" cy="256032"/>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.AddDbContext&lt;AppDbContext&gt;(</a:t>
            </a:r>
            <a:endParaRPr lang="en-US" sz="1050" dirty="0"/>
          </a:p>
        </p:txBody>
      </p:sp>
      <p:sp>
        <p:nvSpPr>
          <p:cNvPr id="19" name="Text 17"/>
          <p:cNvSpPr/>
          <p:nvPr/>
        </p:nvSpPr>
        <p:spPr>
          <a:xfrm>
            <a:off x="6537960" y="2980944"/>
            <a:ext cx="4846320" cy="256032"/>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options =&gt; options.UseSqlServer(</a:t>
            </a:r>
            <a:endParaRPr lang="en-US" sz="1050" dirty="0"/>
          </a:p>
        </p:txBody>
      </p:sp>
      <p:sp>
        <p:nvSpPr>
          <p:cNvPr id="20" name="Text 18"/>
          <p:cNvSpPr/>
          <p:nvPr/>
        </p:nvSpPr>
        <p:spPr>
          <a:xfrm>
            <a:off x="6537960" y="3246120"/>
            <a:ext cx="4846320" cy="256032"/>
          </a:xfrm>
          <a:prstGeom prst="rect">
            <a:avLst/>
          </a:prstGeom>
          <a:noFill/>
          <a:ln/>
        </p:spPr>
        <p:txBody>
          <a:bodyPr wrap="square" lIns="0" tIns="0" rIns="0" bIns="0" rtlCol="0" anchor="ctr"/>
          <a:lstStyle/>
          <a:p>
            <a:pPr marL="0" indent="0" algn="l">
              <a:buNone/>
            </a:pPr>
            <a:r>
              <a:rPr lang="en-US" sz="1050" dirty="0">
                <a:solidFill>
                  <a:srgbClr val="8FC7E8"/>
                </a:solidFill>
                <a:latin typeface="Courier New" pitchFamily="34" charset="0"/>
                <a:ea typeface="Courier New" pitchFamily="34" charset="-122"/>
                <a:cs typeface="Courier New" pitchFamily="34" charset="-120"/>
              </a:rPr>
              <a:t>      builder.Configuration</a:t>
            </a:r>
            <a:endParaRPr lang="en-US" sz="1050" dirty="0"/>
          </a:p>
        </p:txBody>
      </p:sp>
      <p:sp>
        <p:nvSpPr>
          <p:cNvPr id="21" name="Text 19"/>
          <p:cNvSpPr/>
          <p:nvPr/>
        </p:nvSpPr>
        <p:spPr>
          <a:xfrm>
            <a:off x="6537960" y="3511296"/>
            <a:ext cx="4846320" cy="256032"/>
          </a:xfrm>
          <a:prstGeom prst="rect">
            <a:avLst/>
          </a:prstGeom>
          <a:noFill/>
          <a:ln/>
        </p:spPr>
        <p:txBody>
          <a:bodyPr wrap="square" lIns="0" tIns="0" rIns="0" bIns="0" rtlCol="0" anchor="ctr"/>
          <a:lstStyle/>
          <a:p>
            <a:pPr marL="0" indent="0" algn="l">
              <a:buNone/>
            </a:pPr>
            <a:r>
              <a:rPr lang="en-US" sz="1050" dirty="0">
                <a:solidFill>
                  <a:srgbClr val="8FC7E8"/>
                </a:solidFill>
                <a:latin typeface="Courier New" pitchFamily="34" charset="0"/>
                <a:ea typeface="Courier New" pitchFamily="34" charset="-122"/>
                <a:cs typeface="Courier New" pitchFamily="34" charset="-120"/>
              </a:rPr>
              <a:t>        .GetConnectionString("Default")</a:t>
            </a:r>
            <a:endParaRPr lang="en-US" sz="1050" dirty="0"/>
          </a:p>
        </p:txBody>
      </p:sp>
      <p:sp>
        <p:nvSpPr>
          <p:cNvPr id="22" name="Text 20"/>
          <p:cNvSpPr/>
          <p:nvPr/>
        </p:nvSpPr>
        <p:spPr>
          <a:xfrm>
            <a:off x="6537960" y="3776472"/>
            <a:ext cx="4846320" cy="256032"/>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a:t>
            </a:r>
            <a:endParaRPr lang="en-US" sz="1050" dirty="0"/>
          </a:p>
        </p:txBody>
      </p:sp>
      <p:sp>
        <p:nvSpPr>
          <p:cNvPr id="23" name="Text 21"/>
          <p:cNvSpPr/>
          <p:nvPr/>
        </p:nvSpPr>
        <p:spPr>
          <a:xfrm>
            <a:off x="6537960" y="4041648"/>
            <a:ext cx="4846320" cy="256032"/>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a:t>
            </a:r>
            <a:endParaRPr lang="en-US" sz="1050" dirty="0"/>
          </a:p>
        </p:txBody>
      </p:sp>
      <p:sp>
        <p:nvSpPr>
          <p:cNvPr id="24" name="Text 22"/>
          <p:cNvSpPr/>
          <p:nvPr/>
        </p:nvSpPr>
        <p:spPr>
          <a:xfrm>
            <a:off x="6537960" y="4306824"/>
            <a:ext cx="4846320" cy="256032"/>
          </a:xfrm>
          <a:prstGeom prst="rect">
            <a:avLst/>
          </a:prstGeom>
          <a:noFill/>
          <a:ln/>
        </p:spPr>
        <p:txBody>
          <a:bodyPr wrap="square" lIns="0" tIns="0" rIns="0" bIns="0" rtlCol="0" anchor="ctr"/>
          <a:lstStyle/>
          <a:p>
            <a:pPr marL="0" indent="0" algn="l">
              <a:buNone/>
            </a:pPr>
            <a:endParaRPr lang="en-US" sz="1050" dirty="0"/>
          </a:p>
        </p:txBody>
      </p:sp>
      <p:sp>
        <p:nvSpPr>
          <p:cNvPr id="25" name="Text 23"/>
          <p:cNvSpPr/>
          <p:nvPr/>
        </p:nvSpPr>
        <p:spPr>
          <a:xfrm>
            <a:off x="6537960" y="4572000"/>
            <a:ext cx="4846320" cy="256032"/>
          </a:xfrm>
          <a:prstGeom prst="rect">
            <a:avLst/>
          </a:prstGeom>
          <a:noFill/>
          <a:ln/>
        </p:spPr>
        <p:txBody>
          <a:bodyPr wrap="square" lIns="0" tIns="0" rIns="0" bIns="0" rtlCol="0" anchor="ctr"/>
          <a:lstStyle/>
          <a:p>
            <a:pPr marL="0" indent="0" algn="l">
              <a:buNone/>
            </a:pPr>
            <a:r>
              <a:rPr lang="en-US" sz="1050" dirty="0">
                <a:solidFill>
                  <a:srgbClr val="8FA3C9"/>
                </a:solidFill>
                <a:latin typeface="Courier New" pitchFamily="34" charset="0"/>
                <a:ea typeface="Courier New" pitchFamily="34" charset="-122"/>
                <a:cs typeface="Courier New" pitchFamily="34" charset="-120"/>
              </a:rPr>
              <a:t>// appsettings.json</a:t>
            </a:r>
            <a:endParaRPr lang="en-US" sz="1050" dirty="0"/>
          </a:p>
        </p:txBody>
      </p:sp>
      <p:sp>
        <p:nvSpPr>
          <p:cNvPr id="26" name="Text 24"/>
          <p:cNvSpPr/>
          <p:nvPr/>
        </p:nvSpPr>
        <p:spPr>
          <a:xfrm>
            <a:off x="6537960" y="4837176"/>
            <a:ext cx="4846320" cy="256032"/>
          </a:xfrm>
          <a:prstGeom prst="rect">
            <a:avLst/>
          </a:prstGeom>
          <a:noFill/>
          <a:ln/>
        </p:spPr>
        <p:txBody>
          <a:bodyPr wrap="square" lIns="0" tIns="0" rIns="0" bIns="0" rtlCol="0" anchor="ctr"/>
          <a:lstStyle/>
          <a:p>
            <a:pPr marL="0" indent="0" algn="l">
              <a:buNone/>
            </a:pPr>
            <a:r>
              <a:rPr lang="en-US" sz="1050" dirty="0">
                <a:solidFill>
                  <a:srgbClr val="C9A9E8"/>
                </a:solidFill>
                <a:latin typeface="Courier New" pitchFamily="34" charset="0"/>
                <a:ea typeface="Courier New" pitchFamily="34" charset="-122"/>
                <a:cs typeface="Courier New" pitchFamily="34" charset="-120"/>
              </a:rPr>
              <a:t>"ConnectionStrings": {</a:t>
            </a:r>
            <a:endParaRPr lang="en-US" sz="1050" dirty="0"/>
          </a:p>
        </p:txBody>
      </p:sp>
      <p:sp>
        <p:nvSpPr>
          <p:cNvPr id="27" name="Text 25"/>
          <p:cNvSpPr/>
          <p:nvPr/>
        </p:nvSpPr>
        <p:spPr>
          <a:xfrm>
            <a:off x="6537960" y="5102352"/>
            <a:ext cx="4846320" cy="256032"/>
          </a:xfrm>
          <a:prstGeom prst="rect">
            <a:avLst/>
          </a:prstGeom>
          <a:noFill/>
          <a:ln/>
        </p:spPr>
        <p:txBody>
          <a:bodyPr wrap="square" lIns="0" tIns="0" rIns="0" bIns="0" rtlCol="0" anchor="ctr"/>
          <a:lstStyle/>
          <a:p>
            <a:pPr marL="0" indent="0" algn="l">
              <a:buNone/>
            </a:pPr>
            <a:r>
              <a:rPr lang="en-US" sz="1050" dirty="0">
                <a:solidFill>
                  <a:srgbClr val="C9A9E8"/>
                </a:solidFill>
                <a:latin typeface="Courier New" pitchFamily="34" charset="0"/>
                <a:ea typeface="Courier New" pitchFamily="34" charset="-122"/>
                <a:cs typeface="Courier New" pitchFamily="34" charset="-120"/>
              </a:rPr>
              <a:t>  "Default": "Server=...;Database=..."</a:t>
            </a:r>
            <a:endParaRPr lang="en-US" sz="1050" dirty="0"/>
          </a:p>
        </p:txBody>
      </p:sp>
      <p:sp>
        <p:nvSpPr>
          <p:cNvPr id="28" name="Text 26"/>
          <p:cNvSpPr/>
          <p:nvPr/>
        </p:nvSpPr>
        <p:spPr>
          <a:xfrm>
            <a:off x="6537960" y="5367528"/>
            <a:ext cx="4846320" cy="256032"/>
          </a:xfrm>
          <a:prstGeom prst="rect">
            <a:avLst/>
          </a:prstGeom>
          <a:noFill/>
          <a:ln/>
        </p:spPr>
        <p:txBody>
          <a:bodyPr wrap="square" lIns="0" tIns="0" rIns="0" bIns="0" rtlCol="0" anchor="ctr"/>
          <a:lstStyle/>
          <a:p>
            <a:pPr marL="0" indent="0" algn="l">
              <a:buNone/>
            </a:pPr>
            <a:r>
              <a:rPr lang="en-US" sz="1050" dirty="0">
                <a:solidFill>
                  <a:srgbClr val="C9A9E8"/>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Modelando entidades y relaciones</a:t>
            </a:r>
            <a:endParaRPr lang="en-US" sz="3000" dirty="0"/>
          </a:p>
        </p:txBody>
      </p:sp>
      <p:sp>
        <p:nvSpPr>
          <p:cNvPr id="3" name="Text 1"/>
          <p:cNvSpPr/>
          <p:nvPr/>
        </p:nvSpPr>
        <p:spPr>
          <a:xfrm>
            <a:off x="548640" y="1024128"/>
            <a:ext cx="11091672" cy="365760"/>
          </a:xfrm>
          <a:prstGeom prst="rect">
            <a:avLst/>
          </a:prstGeom>
          <a:noFill/>
          <a:ln/>
        </p:spPr>
        <p:txBody>
          <a:bodyPr wrap="square" lIns="0" tIns="0" rIns="0" bIns="0" rtlCol="0" anchor="ctr"/>
          <a:lstStyle/>
          <a:p>
            <a:pPr marL="0" indent="0" algn="l">
              <a:buNone/>
            </a:pPr>
            <a:r>
              <a:rPr lang="en-US" sz="1400" i="1" dirty="0">
                <a:solidFill>
                  <a:srgbClr val="1C7293"/>
                </a:solidFill>
                <a:latin typeface="Calibri" pitchFamily="34" charset="0"/>
                <a:ea typeface="Calibri" pitchFamily="34" charset="-122"/>
                <a:cs typeface="Calibri" pitchFamily="34" charset="-120"/>
              </a:rPr>
              <a:t>Clases POCO simples: EF Core hace el resto</a:t>
            </a:r>
            <a:endParaRPr lang="en-US" sz="1400" dirty="0"/>
          </a:p>
        </p:txBody>
      </p:sp>
      <p:sp>
        <p:nvSpPr>
          <p:cNvPr id="4" name="Shape 2"/>
          <p:cNvSpPr/>
          <p:nvPr/>
        </p:nvSpPr>
        <p:spPr>
          <a:xfrm>
            <a:off x="548640" y="1828800"/>
            <a:ext cx="5486400" cy="4023360"/>
          </a:xfrm>
          <a:prstGeom prst="roundRect">
            <a:avLst>
              <a:gd name="adj" fmla="val 1818"/>
            </a:avLst>
          </a:prstGeom>
          <a:solidFill>
            <a:srgbClr val="132139"/>
          </a:solidFill>
          <a:ln/>
        </p:spPr>
        <p:txBody>
          <a:bodyPr/>
          <a:lstStyle/>
          <a:p>
            <a:endParaRPr lang="es-AR"/>
          </a:p>
        </p:txBody>
      </p:sp>
      <p:sp>
        <p:nvSpPr>
          <p:cNvPr id="5" name="Text 3"/>
          <p:cNvSpPr/>
          <p:nvPr/>
        </p:nvSpPr>
        <p:spPr>
          <a:xfrm>
            <a:off x="822960" y="2029968"/>
            <a:ext cx="4937760" cy="219456"/>
          </a:xfrm>
          <a:prstGeom prst="rect">
            <a:avLst/>
          </a:prstGeom>
          <a:noFill/>
          <a:ln/>
        </p:spPr>
        <p:txBody>
          <a:bodyPr wrap="square" lIns="0" tIns="0" rIns="0" bIns="0" rtlCol="0" anchor="ctr"/>
          <a:lstStyle/>
          <a:p>
            <a:pPr marL="0" indent="0" algn="l">
              <a:buNone/>
            </a:pPr>
            <a:r>
              <a:rPr lang="en-US" sz="1050" dirty="0">
                <a:solidFill>
                  <a:srgbClr val="8FC7E8"/>
                </a:solidFill>
                <a:latin typeface="Courier New" pitchFamily="34" charset="0"/>
                <a:ea typeface="Courier New" pitchFamily="34" charset="-122"/>
                <a:cs typeface="Courier New" pitchFamily="34" charset="-120"/>
              </a:rPr>
              <a:t>public class Autor</a:t>
            </a:r>
            <a:endParaRPr lang="en-US" sz="1050" dirty="0"/>
          </a:p>
        </p:txBody>
      </p:sp>
      <p:sp>
        <p:nvSpPr>
          <p:cNvPr id="6" name="Text 4"/>
          <p:cNvSpPr/>
          <p:nvPr/>
        </p:nvSpPr>
        <p:spPr>
          <a:xfrm>
            <a:off x="822960" y="2253996"/>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822960" y="2478024"/>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public int Id { get; set; }</a:t>
            </a:r>
            <a:endParaRPr lang="en-US" sz="1050" dirty="0"/>
          </a:p>
        </p:txBody>
      </p:sp>
      <p:sp>
        <p:nvSpPr>
          <p:cNvPr id="8" name="Text 6"/>
          <p:cNvSpPr/>
          <p:nvPr/>
        </p:nvSpPr>
        <p:spPr>
          <a:xfrm>
            <a:off x="822960" y="2702052"/>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public string Nombre { get; set; }</a:t>
            </a:r>
            <a:endParaRPr lang="en-US" sz="1050" dirty="0"/>
          </a:p>
        </p:txBody>
      </p:sp>
      <p:sp>
        <p:nvSpPr>
          <p:cNvPr id="9" name="Text 7"/>
          <p:cNvSpPr/>
          <p:nvPr/>
        </p:nvSpPr>
        <p:spPr>
          <a:xfrm>
            <a:off x="822960" y="2926080"/>
            <a:ext cx="4937760" cy="219456"/>
          </a:xfrm>
          <a:prstGeom prst="rect">
            <a:avLst/>
          </a:prstGeom>
          <a:noFill/>
          <a:ln/>
        </p:spPr>
        <p:txBody>
          <a:bodyPr wrap="square" lIns="0" tIns="0" rIns="0" bIns="0" rtlCol="0" anchor="ctr"/>
          <a:lstStyle/>
          <a:p>
            <a:pPr marL="0" indent="0" algn="l">
              <a:buNone/>
            </a:pPr>
            <a:endParaRPr lang="en-US" sz="1050" dirty="0"/>
          </a:p>
        </p:txBody>
      </p:sp>
      <p:sp>
        <p:nvSpPr>
          <p:cNvPr id="10" name="Text 8"/>
          <p:cNvSpPr/>
          <p:nvPr/>
        </p:nvSpPr>
        <p:spPr>
          <a:xfrm>
            <a:off x="822960" y="3150108"/>
            <a:ext cx="493776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public List&lt;Libro&gt; Libros</a:t>
            </a:r>
            <a:endParaRPr lang="en-US" sz="1050" dirty="0"/>
          </a:p>
        </p:txBody>
      </p:sp>
      <p:sp>
        <p:nvSpPr>
          <p:cNvPr id="11" name="Text 9"/>
          <p:cNvSpPr/>
          <p:nvPr/>
        </p:nvSpPr>
        <p:spPr>
          <a:xfrm>
            <a:off x="822960" y="3374136"/>
            <a:ext cx="493776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 get; set; }</a:t>
            </a:r>
            <a:endParaRPr lang="en-US" sz="1050" dirty="0"/>
          </a:p>
        </p:txBody>
      </p:sp>
      <p:sp>
        <p:nvSpPr>
          <p:cNvPr id="12" name="Text 10"/>
          <p:cNvSpPr/>
          <p:nvPr/>
        </p:nvSpPr>
        <p:spPr>
          <a:xfrm>
            <a:off x="822960" y="3598164"/>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a:t>
            </a:r>
            <a:endParaRPr lang="en-US" sz="1050" dirty="0"/>
          </a:p>
        </p:txBody>
      </p:sp>
      <p:sp>
        <p:nvSpPr>
          <p:cNvPr id="13" name="Text 11"/>
          <p:cNvSpPr/>
          <p:nvPr/>
        </p:nvSpPr>
        <p:spPr>
          <a:xfrm>
            <a:off x="822960" y="3822192"/>
            <a:ext cx="4937760" cy="219456"/>
          </a:xfrm>
          <a:prstGeom prst="rect">
            <a:avLst/>
          </a:prstGeom>
          <a:noFill/>
          <a:ln/>
        </p:spPr>
        <p:txBody>
          <a:bodyPr wrap="square" lIns="0" tIns="0" rIns="0" bIns="0" rtlCol="0" anchor="ctr"/>
          <a:lstStyle/>
          <a:p>
            <a:pPr marL="0" indent="0" algn="l">
              <a:buNone/>
            </a:pPr>
            <a:endParaRPr lang="en-US" sz="1050" dirty="0"/>
          </a:p>
        </p:txBody>
      </p:sp>
      <p:sp>
        <p:nvSpPr>
          <p:cNvPr id="14" name="Text 12"/>
          <p:cNvSpPr/>
          <p:nvPr/>
        </p:nvSpPr>
        <p:spPr>
          <a:xfrm>
            <a:off x="822960" y="4046220"/>
            <a:ext cx="4937760" cy="219456"/>
          </a:xfrm>
          <a:prstGeom prst="rect">
            <a:avLst/>
          </a:prstGeom>
          <a:noFill/>
          <a:ln/>
        </p:spPr>
        <p:txBody>
          <a:bodyPr wrap="square" lIns="0" tIns="0" rIns="0" bIns="0" rtlCol="0" anchor="ctr"/>
          <a:lstStyle/>
          <a:p>
            <a:pPr marL="0" indent="0" algn="l">
              <a:buNone/>
            </a:pPr>
            <a:r>
              <a:rPr lang="en-US" sz="1050" dirty="0">
                <a:solidFill>
                  <a:srgbClr val="8FC7E8"/>
                </a:solidFill>
                <a:latin typeface="Courier New" pitchFamily="34" charset="0"/>
                <a:ea typeface="Courier New" pitchFamily="34" charset="-122"/>
                <a:cs typeface="Courier New" pitchFamily="34" charset="-120"/>
              </a:rPr>
              <a:t>public class Libro</a:t>
            </a:r>
            <a:endParaRPr lang="en-US" sz="1050" dirty="0"/>
          </a:p>
        </p:txBody>
      </p:sp>
      <p:sp>
        <p:nvSpPr>
          <p:cNvPr id="15" name="Text 13"/>
          <p:cNvSpPr/>
          <p:nvPr/>
        </p:nvSpPr>
        <p:spPr>
          <a:xfrm>
            <a:off x="822960" y="4270248"/>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a:t>
            </a:r>
            <a:endParaRPr lang="en-US" sz="1050" dirty="0"/>
          </a:p>
        </p:txBody>
      </p:sp>
      <p:sp>
        <p:nvSpPr>
          <p:cNvPr id="16" name="Text 14"/>
          <p:cNvSpPr/>
          <p:nvPr/>
        </p:nvSpPr>
        <p:spPr>
          <a:xfrm>
            <a:off x="822960" y="4494276"/>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public int Id { get; set; }</a:t>
            </a:r>
            <a:endParaRPr lang="en-US" sz="1050" dirty="0"/>
          </a:p>
        </p:txBody>
      </p:sp>
      <p:sp>
        <p:nvSpPr>
          <p:cNvPr id="17" name="Text 15"/>
          <p:cNvSpPr/>
          <p:nvPr/>
        </p:nvSpPr>
        <p:spPr>
          <a:xfrm>
            <a:off x="822960" y="4718304"/>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public string Titulo { get; set; }</a:t>
            </a:r>
            <a:endParaRPr lang="en-US" sz="1050" dirty="0"/>
          </a:p>
        </p:txBody>
      </p:sp>
      <p:sp>
        <p:nvSpPr>
          <p:cNvPr id="18" name="Text 16"/>
          <p:cNvSpPr/>
          <p:nvPr/>
        </p:nvSpPr>
        <p:spPr>
          <a:xfrm>
            <a:off x="822960" y="4942332"/>
            <a:ext cx="4937760" cy="219456"/>
          </a:xfrm>
          <a:prstGeom prst="rect">
            <a:avLst/>
          </a:prstGeom>
          <a:noFill/>
          <a:ln/>
        </p:spPr>
        <p:txBody>
          <a:bodyPr wrap="square" lIns="0" tIns="0" rIns="0" bIns="0" rtlCol="0" anchor="ctr"/>
          <a:lstStyle/>
          <a:p>
            <a:pPr marL="0" indent="0" algn="l">
              <a:buNone/>
            </a:pPr>
            <a:endParaRPr lang="en-US" sz="1050" dirty="0"/>
          </a:p>
        </p:txBody>
      </p:sp>
      <p:sp>
        <p:nvSpPr>
          <p:cNvPr id="19" name="Text 17"/>
          <p:cNvSpPr/>
          <p:nvPr/>
        </p:nvSpPr>
        <p:spPr>
          <a:xfrm>
            <a:off x="822960" y="5166360"/>
            <a:ext cx="493776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public int AutorId { get; set; }</a:t>
            </a:r>
            <a:endParaRPr lang="en-US" sz="1050" dirty="0"/>
          </a:p>
        </p:txBody>
      </p:sp>
      <p:sp>
        <p:nvSpPr>
          <p:cNvPr id="20" name="Text 18"/>
          <p:cNvSpPr/>
          <p:nvPr/>
        </p:nvSpPr>
        <p:spPr>
          <a:xfrm>
            <a:off x="822960" y="5390388"/>
            <a:ext cx="493776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public Autor Autor { get; set; }</a:t>
            </a:r>
            <a:endParaRPr lang="en-US" sz="1050" dirty="0"/>
          </a:p>
        </p:txBody>
      </p:sp>
      <p:sp>
        <p:nvSpPr>
          <p:cNvPr id="21" name="Text 19"/>
          <p:cNvSpPr/>
          <p:nvPr/>
        </p:nvSpPr>
        <p:spPr>
          <a:xfrm>
            <a:off x="822960" y="5614416"/>
            <a:ext cx="493776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a:t>
            </a:r>
            <a:endParaRPr lang="en-US" sz="1050" dirty="0"/>
          </a:p>
        </p:txBody>
      </p:sp>
      <p:sp>
        <p:nvSpPr>
          <p:cNvPr id="22" name="Shape 20"/>
          <p:cNvSpPr/>
          <p:nvPr/>
        </p:nvSpPr>
        <p:spPr>
          <a:xfrm>
            <a:off x="6309360" y="1874520"/>
            <a:ext cx="146304" cy="146304"/>
          </a:xfrm>
          <a:prstGeom prst="ellipse">
            <a:avLst/>
          </a:prstGeom>
          <a:solidFill>
            <a:srgbClr val="1C7293"/>
          </a:solidFill>
          <a:ln/>
        </p:spPr>
        <p:txBody>
          <a:bodyPr/>
          <a:lstStyle/>
          <a:p>
            <a:endParaRPr lang="es-AR"/>
          </a:p>
        </p:txBody>
      </p:sp>
      <p:sp>
        <p:nvSpPr>
          <p:cNvPr id="23" name="Text 21"/>
          <p:cNvSpPr/>
          <p:nvPr/>
        </p:nvSpPr>
        <p:spPr>
          <a:xfrm>
            <a:off x="6601968" y="1755648"/>
            <a:ext cx="5056632" cy="320040"/>
          </a:xfrm>
          <a:prstGeom prst="rect">
            <a:avLst/>
          </a:prstGeom>
          <a:noFill/>
          <a:ln/>
        </p:spPr>
        <p:txBody>
          <a:bodyPr wrap="square" lIns="0" tIns="0" rIns="0" bIns="0" rtlCol="0" anchor="ctr"/>
          <a:lstStyle/>
          <a:p>
            <a:pPr marL="0" indent="0" algn="l">
              <a:buNone/>
            </a:pPr>
            <a:r>
              <a:rPr lang="en-US" sz="1300" b="1" dirty="0">
                <a:solidFill>
                  <a:srgbClr val="21295C"/>
                </a:solidFill>
                <a:latin typeface="Cambria" pitchFamily="34" charset="0"/>
                <a:ea typeface="Cambria" pitchFamily="34" charset="-122"/>
                <a:cs typeface="Cambria" pitchFamily="34" charset="-120"/>
              </a:rPr>
              <a:t>Propiedades de navegación</a:t>
            </a:r>
            <a:endParaRPr lang="en-US" sz="1300" dirty="0"/>
          </a:p>
        </p:txBody>
      </p:sp>
      <p:sp>
        <p:nvSpPr>
          <p:cNvPr id="24" name="Text 22"/>
          <p:cNvSpPr/>
          <p:nvPr/>
        </p:nvSpPr>
        <p:spPr>
          <a:xfrm>
            <a:off x="6601968" y="2057400"/>
            <a:ext cx="5056632" cy="594360"/>
          </a:xfrm>
          <a:prstGeom prst="rect">
            <a:avLst/>
          </a:prstGeom>
          <a:noFill/>
          <a:ln/>
        </p:spPr>
        <p:txBody>
          <a:bodyPr wrap="square" lIns="0" tIns="0" rIns="0" bIns="0" rtlCol="0" anchor="ctr"/>
          <a:lstStyle/>
          <a:p>
            <a:pPr marL="0" indent="0" algn="l">
              <a:buNone/>
            </a:pPr>
            <a:r>
              <a:rPr lang="en-US" sz="1050" dirty="0">
                <a:solidFill>
                  <a:srgbClr val="5C6B73"/>
                </a:solidFill>
                <a:latin typeface="Calibri" pitchFamily="34" charset="0"/>
                <a:ea typeface="Calibri" pitchFamily="34" charset="-122"/>
                <a:cs typeface="Calibri" pitchFamily="34" charset="-120"/>
              </a:rPr>
              <a:t>Libros y Autor permiten "caminar" la relación desde cualquiera de los dos lados, en código C# normal.</a:t>
            </a:r>
            <a:endParaRPr lang="en-US" sz="1050" dirty="0"/>
          </a:p>
        </p:txBody>
      </p:sp>
      <p:sp>
        <p:nvSpPr>
          <p:cNvPr id="25" name="Shape 23"/>
          <p:cNvSpPr/>
          <p:nvPr/>
        </p:nvSpPr>
        <p:spPr>
          <a:xfrm>
            <a:off x="6309360" y="2834640"/>
            <a:ext cx="146304" cy="146304"/>
          </a:xfrm>
          <a:prstGeom prst="ellipse">
            <a:avLst/>
          </a:prstGeom>
          <a:solidFill>
            <a:srgbClr val="1C7293"/>
          </a:solidFill>
          <a:ln/>
        </p:spPr>
        <p:txBody>
          <a:bodyPr/>
          <a:lstStyle/>
          <a:p>
            <a:endParaRPr lang="es-AR"/>
          </a:p>
        </p:txBody>
      </p:sp>
      <p:sp>
        <p:nvSpPr>
          <p:cNvPr id="26" name="Text 24"/>
          <p:cNvSpPr/>
          <p:nvPr/>
        </p:nvSpPr>
        <p:spPr>
          <a:xfrm>
            <a:off x="6601968" y="2715768"/>
            <a:ext cx="5056632" cy="320040"/>
          </a:xfrm>
          <a:prstGeom prst="rect">
            <a:avLst/>
          </a:prstGeom>
          <a:noFill/>
          <a:ln/>
        </p:spPr>
        <p:txBody>
          <a:bodyPr wrap="square" lIns="0" tIns="0" rIns="0" bIns="0" rtlCol="0" anchor="ctr"/>
          <a:lstStyle/>
          <a:p>
            <a:pPr marL="0" indent="0" algn="l">
              <a:buNone/>
            </a:pPr>
            <a:r>
              <a:rPr lang="en-US" sz="1300" b="1" dirty="0">
                <a:solidFill>
                  <a:srgbClr val="21295C"/>
                </a:solidFill>
                <a:latin typeface="Cambria" pitchFamily="34" charset="0"/>
                <a:ea typeface="Cambria" pitchFamily="34" charset="-122"/>
                <a:cs typeface="Cambria" pitchFamily="34" charset="-120"/>
              </a:rPr>
              <a:t>Clave foránea explícita</a:t>
            </a:r>
            <a:endParaRPr lang="en-US" sz="1300" dirty="0"/>
          </a:p>
        </p:txBody>
      </p:sp>
      <p:sp>
        <p:nvSpPr>
          <p:cNvPr id="27" name="Text 25"/>
          <p:cNvSpPr/>
          <p:nvPr/>
        </p:nvSpPr>
        <p:spPr>
          <a:xfrm>
            <a:off x="6601968" y="3017520"/>
            <a:ext cx="5056632" cy="594360"/>
          </a:xfrm>
          <a:prstGeom prst="rect">
            <a:avLst/>
          </a:prstGeom>
          <a:noFill/>
          <a:ln/>
        </p:spPr>
        <p:txBody>
          <a:bodyPr wrap="square" lIns="0" tIns="0" rIns="0" bIns="0" rtlCol="0" anchor="ctr"/>
          <a:lstStyle/>
          <a:p>
            <a:pPr marL="0" indent="0" algn="l">
              <a:buNone/>
            </a:pPr>
            <a:r>
              <a:rPr lang="en-US" sz="1050" dirty="0">
                <a:solidFill>
                  <a:srgbClr val="5C6B73"/>
                </a:solidFill>
                <a:latin typeface="Calibri" pitchFamily="34" charset="0"/>
                <a:ea typeface="Calibri" pitchFamily="34" charset="-122"/>
                <a:cs typeface="Calibri" pitchFamily="34" charset="-120"/>
              </a:rPr>
              <a:t>AutorId es la clave foránea. Al llamarse &lt;Nombre de la navegación&gt; + Id, EF Core la detecta sola.</a:t>
            </a:r>
            <a:endParaRPr lang="en-US" sz="1050" dirty="0"/>
          </a:p>
        </p:txBody>
      </p:sp>
      <p:sp>
        <p:nvSpPr>
          <p:cNvPr id="28" name="Shape 26"/>
          <p:cNvSpPr/>
          <p:nvPr/>
        </p:nvSpPr>
        <p:spPr>
          <a:xfrm>
            <a:off x="6309360" y="3794760"/>
            <a:ext cx="146304" cy="146304"/>
          </a:xfrm>
          <a:prstGeom prst="ellipse">
            <a:avLst/>
          </a:prstGeom>
          <a:solidFill>
            <a:srgbClr val="1C7293"/>
          </a:solidFill>
          <a:ln/>
        </p:spPr>
        <p:txBody>
          <a:bodyPr/>
          <a:lstStyle/>
          <a:p>
            <a:endParaRPr lang="es-AR"/>
          </a:p>
        </p:txBody>
      </p:sp>
      <p:sp>
        <p:nvSpPr>
          <p:cNvPr id="29" name="Text 27"/>
          <p:cNvSpPr/>
          <p:nvPr/>
        </p:nvSpPr>
        <p:spPr>
          <a:xfrm>
            <a:off x="6601968" y="3675888"/>
            <a:ext cx="5056632" cy="320040"/>
          </a:xfrm>
          <a:prstGeom prst="rect">
            <a:avLst/>
          </a:prstGeom>
          <a:noFill/>
          <a:ln/>
        </p:spPr>
        <p:txBody>
          <a:bodyPr wrap="square" lIns="0" tIns="0" rIns="0" bIns="0" rtlCol="0" anchor="ctr"/>
          <a:lstStyle/>
          <a:p>
            <a:pPr marL="0" indent="0" algn="l">
              <a:buNone/>
            </a:pPr>
            <a:r>
              <a:rPr lang="en-US" sz="1300" b="1" dirty="0">
                <a:solidFill>
                  <a:srgbClr val="21295C"/>
                </a:solidFill>
                <a:latin typeface="Cambria" pitchFamily="34" charset="0"/>
                <a:ea typeface="Cambria" pitchFamily="34" charset="-122"/>
                <a:cs typeface="Cambria" pitchFamily="34" charset="-120"/>
              </a:rPr>
              <a:t>Relación uno a muchos</a:t>
            </a:r>
            <a:endParaRPr lang="en-US" sz="1300" dirty="0"/>
          </a:p>
        </p:txBody>
      </p:sp>
      <p:sp>
        <p:nvSpPr>
          <p:cNvPr id="30" name="Text 28"/>
          <p:cNvSpPr/>
          <p:nvPr/>
        </p:nvSpPr>
        <p:spPr>
          <a:xfrm>
            <a:off x="6601968" y="3977640"/>
            <a:ext cx="5056632" cy="594360"/>
          </a:xfrm>
          <a:prstGeom prst="rect">
            <a:avLst/>
          </a:prstGeom>
          <a:noFill/>
          <a:ln/>
        </p:spPr>
        <p:txBody>
          <a:bodyPr wrap="square" lIns="0" tIns="0" rIns="0" bIns="0" rtlCol="0" anchor="ctr"/>
          <a:lstStyle/>
          <a:p>
            <a:pPr marL="0" indent="0" algn="l">
              <a:buNone/>
            </a:pPr>
            <a:r>
              <a:rPr lang="en-US" sz="1050" dirty="0">
                <a:solidFill>
                  <a:srgbClr val="5C6B73"/>
                </a:solidFill>
                <a:latin typeface="Calibri" pitchFamily="34" charset="0"/>
                <a:ea typeface="Calibri" pitchFamily="34" charset="-122"/>
                <a:cs typeface="Calibri" pitchFamily="34" charset="-120"/>
              </a:rPr>
              <a:t>Un Autor tiene muchos Libros; cada Libro pertenece a un solo Autor — la relación más común en cualquier dominio.</a:t>
            </a:r>
            <a:endParaRPr lang="en-US" sz="1050" dirty="0"/>
          </a:p>
        </p:txBody>
      </p:sp>
      <p:sp>
        <p:nvSpPr>
          <p:cNvPr id="31" name="Shape 29"/>
          <p:cNvSpPr/>
          <p:nvPr/>
        </p:nvSpPr>
        <p:spPr>
          <a:xfrm>
            <a:off x="6309360" y="4754880"/>
            <a:ext cx="146304" cy="146304"/>
          </a:xfrm>
          <a:prstGeom prst="ellipse">
            <a:avLst/>
          </a:prstGeom>
          <a:solidFill>
            <a:srgbClr val="1C7293"/>
          </a:solidFill>
          <a:ln/>
        </p:spPr>
        <p:txBody>
          <a:bodyPr/>
          <a:lstStyle/>
          <a:p>
            <a:endParaRPr lang="es-AR"/>
          </a:p>
        </p:txBody>
      </p:sp>
      <p:sp>
        <p:nvSpPr>
          <p:cNvPr id="32" name="Text 30"/>
          <p:cNvSpPr/>
          <p:nvPr/>
        </p:nvSpPr>
        <p:spPr>
          <a:xfrm>
            <a:off x="6601968" y="4636008"/>
            <a:ext cx="5056632" cy="320040"/>
          </a:xfrm>
          <a:prstGeom prst="rect">
            <a:avLst/>
          </a:prstGeom>
          <a:noFill/>
          <a:ln/>
        </p:spPr>
        <p:txBody>
          <a:bodyPr wrap="square" lIns="0" tIns="0" rIns="0" bIns="0" rtlCol="0" anchor="ctr"/>
          <a:lstStyle/>
          <a:p>
            <a:pPr marL="0" indent="0" algn="l">
              <a:buNone/>
            </a:pPr>
            <a:r>
              <a:rPr lang="en-US" sz="1300" b="1" dirty="0">
                <a:solidFill>
                  <a:srgbClr val="21295C"/>
                </a:solidFill>
                <a:latin typeface="Cambria" pitchFamily="34" charset="0"/>
                <a:ea typeface="Cambria" pitchFamily="34" charset="-122"/>
                <a:cs typeface="Cambria" pitchFamily="34" charset="-120"/>
              </a:rPr>
              <a:t>También existen otras</a:t>
            </a:r>
            <a:endParaRPr lang="en-US" sz="1300" dirty="0"/>
          </a:p>
        </p:txBody>
      </p:sp>
      <p:sp>
        <p:nvSpPr>
          <p:cNvPr id="33" name="Text 31"/>
          <p:cNvSpPr/>
          <p:nvPr/>
        </p:nvSpPr>
        <p:spPr>
          <a:xfrm>
            <a:off x="6601968" y="4937760"/>
            <a:ext cx="5056632" cy="594360"/>
          </a:xfrm>
          <a:prstGeom prst="rect">
            <a:avLst/>
          </a:prstGeom>
          <a:noFill/>
          <a:ln/>
        </p:spPr>
        <p:txBody>
          <a:bodyPr wrap="square" lIns="0" tIns="0" rIns="0" bIns="0" rtlCol="0" anchor="ctr"/>
          <a:lstStyle/>
          <a:p>
            <a:pPr marL="0" indent="0" algn="l">
              <a:buNone/>
            </a:pPr>
            <a:r>
              <a:rPr lang="en-US" sz="1050" dirty="0">
                <a:solidFill>
                  <a:srgbClr val="5C6B73"/>
                </a:solidFill>
                <a:latin typeface="Calibri" pitchFamily="34" charset="0"/>
                <a:ea typeface="Calibri" pitchFamily="34" charset="-122"/>
                <a:cs typeface="Calibri" pitchFamily="34" charset="-120"/>
              </a:rPr>
              <a:t>One-to-One con una FK única, y Many-to-Many con una entidad de unión (implícita o explícita).</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CRUD esencial con EF Core</a:t>
            </a:r>
            <a:endParaRPr lang="en-US" sz="3000" dirty="0"/>
          </a:p>
        </p:txBody>
      </p:sp>
      <p:sp>
        <p:nvSpPr>
          <p:cNvPr id="4" name="Shape 2"/>
          <p:cNvSpPr/>
          <p:nvPr/>
        </p:nvSpPr>
        <p:spPr>
          <a:xfrm>
            <a:off x="548640" y="1828800"/>
            <a:ext cx="2697480" cy="3977640"/>
          </a:xfrm>
          <a:prstGeom prst="roundRect">
            <a:avLst>
              <a:gd name="adj" fmla="val 2712"/>
            </a:avLst>
          </a:prstGeom>
          <a:solidFill>
            <a:srgbClr val="065A82"/>
          </a:solidFill>
          <a:ln/>
        </p:spPr>
        <p:txBody>
          <a:bodyPr/>
          <a:lstStyle/>
          <a:p>
            <a:endParaRPr lang="es-AR"/>
          </a:p>
        </p:txBody>
      </p:sp>
      <p:sp>
        <p:nvSpPr>
          <p:cNvPr id="5" name="Text 3"/>
          <p:cNvSpPr/>
          <p:nvPr/>
        </p:nvSpPr>
        <p:spPr>
          <a:xfrm>
            <a:off x="713232" y="1993392"/>
            <a:ext cx="2368296" cy="365760"/>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Create</a:t>
            </a:r>
            <a:endParaRPr lang="en-US" sz="1600" dirty="0"/>
          </a:p>
        </p:txBody>
      </p:sp>
      <p:sp>
        <p:nvSpPr>
          <p:cNvPr id="6" name="Shape 4"/>
          <p:cNvSpPr/>
          <p:nvPr/>
        </p:nvSpPr>
        <p:spPr>
          <a:xfrm>
            <a:off x="713232" y="2423160"/>
            <a:ext cx="2368296" cy="3200400"/>
          </a:xfrm>
          <a:prstGeom prst="roundRect">
            <a:avLst>
              <a:gd name="adj" fmla="val 2317"/>
            </a:avLst>
          </a:prstGeom>
          <a:solidFill>
            <a:srgbClr val="132139"/>
          </a:solidFill>
          <a:ln/>
        </p:spPr>
        <p:txBody>
          <a:bodyPr/>
          <a:lstStyle/>
          <a:p>
            <a:endParaRPr lang="es-AR"/>
          </a:p>
        </p:txBody>
      </p:sp>
      <p:sp>
        <p:nvSpPr>
          <p:cNvPr id="7" name="Text 5"/>
          <p:cNvSpPr/>
          <p:nvPr/>
        </p:nvSpPr>
        <p:spPr>
          <a:xfrm>
            <a:off x="822960" y="2542032"/>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var libro = new Libro {</a:t>
            </a:r>
            <a:endParaRPr lang="en-US" sz="950" dirty="0"/>
          </a:p>
        </p:txBody>
      </p:sp>
      <p:sp>
        <p:nvSpPr>
          <p:cNvPr id="8" name="Text 6"/>
          <p:cNvSpPr/>
          <p:nvPr/>
        </p:nvSpPr>
        <p:spPr>
          <a:xfrm>
            <a:off x="822960" y="2825496"/>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Titulo = "Rayuela",</a:t>
            </a:r>
            <a:endParaRPr lang="en-US" sz="950" dirty="0"/>
          </a:p>
        </p:txBody>
      </p:sp>
      <p:sp>
        <p:nvSpPr>
          <p:cNvPr id="9" name="Text 7"/>
          <p:cNvSpPr/>
          <p:nvPr/>
        </p:nvSpPr>
        <p:spPr>
          <a:xfrm>
            <a:off x="822960" y="3108960"/>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AutorId = 3</a:t>
            </a:r>
            <a:endParaRPr lang="en-US" sz="950" dirty="0"/>
          </a:p>
        </p:txBody>
      </p:sp>
      <p:sp>
        <p:nvSpPr>
          <p:cNvPr id="10" name="Text 8"/>
          <p:cNvSpPr/>
          <p:nvPr/>
        </p:nvSpPr>
        <p:spPr>
          <a:xfrm>
            <a:off x="822960" y="3392424"/>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a:t>
            </a:r>
            <a:endParaRPr lang="en-US" sz="950" dirty="0"/>
          </a:p>
        </p:txBody>
      </p:sp>
      <p:sp>
        <p:nvSpPr>
          <p:cNvPr id="11" name="Text 9"/>
          <p:cNvSpPr/>
          <p:nvPr/>
        </p:nvSpPr>
        <p:spPr>
          <a:xfrm>
            <a:off x="822960" y="3675888"/>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context.Libros.Add(libro);</a:t>
            </a:r>
            <a:endParaRPr lang="en-US" sz="950" dirty="0"/>
          </a:p>
        </p:txBody>
      </p:sp>
      <p:sp>
        <p:nvSpPr>
          <p:cNvPr id="12" name="Text 10"/>
          <p:cNvSpPr/>
          <p:nvPr/>
        </p:nvSpPr>
        <p:spPr>
          <a:xfrm>
            <a:off x="822960" y="3959352"/>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context.SaveChanges();</a:t>
            </a:r>
            <a:endParaRPr lang="en-US" sz="950" dirty="0"/>
          </a:p>
        </p:txBody>
      </p:sp>
      <p:sp>
        <p:nvSpPr>
          <p:cNvPr id="13" name="Shape 11"/>
          <p:cNvSpPr/>
          <p:nvPr/>
        </p:nvSpPr>
        <p:spPr>
          <a:xfrm>
            <a:off x="3419856" y="1828800"/>
            <a:ext cx="2697480" cy="3977640"/>
          </a:xfrm>
          <a:prstGeom prst="roundRect">
            <a:avLst>
              <a:gd name="adj" fmla="val 2712"/>
            </a:avLst>
          </a:prstGeom>
          <a:solidFill>
            <a:srgbClr val="1C7293"/>
          </a:solidFill>
          <a:ln/>
        </p:spPr>
        <p:txBody>
          <a:bodyPr/>
          <a:lstStyle/>
          <a:p>
            <a:endParaRPr lang="es-AR"/>
          </a:p>
        </p:txBody>
      </p:sp>
      <p:sp>
        <p:nvSpPr>
          <p:cNvPr id="14" name="Text 12"/>
          <p:cNvSpPr/>
          <p:nvPr/>
        </p:nvSpPr>
        <p:spPr>
          <a:xfrm>
            <a:off x="3584448" y="1993392"/>
            <a:ext cx="2368296" cy="365760"/>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Read</a:t>
            </a:r>
            <a:endParaRPr lang="en-US" sz="1600" dirty="0"/>
          </a:p>
        </p:txBody>
      </p:sp>
      <p:sp>
        <p:nvSpPr>
          <p:cNvPr id="15" name="Shape 13"/>
          <p:cNvSpPr/>
          <p:nvPr/>
        </p:nvSpPr>
        <p:spPr>
          <a:xfrm>
            <a:off x="3584448" y="2423160"/>
            <a:ext cx="2368296" cy="3200400"/>
          </a:xfrm>
          <a:prstGeom prst="roundRect">
            <a:avLst>
              <a:gd name="adj" fmla="val 2317"/>
            </a:avLst>
          </a:prstGeom>
          <a:solidFill>
            <a:srgbClr val="132139"/>
          </a:solidFill>
          <a:ln/>
        </p:spPr>
        <p:txBody>
          <a:bodyPr/>
          <a:lstStyle/>
          <a:p>
            <a:endParaRPr lang="es-AR"/>
          </a:p>
        </p:txBody>
      </p:sp>
      <p:sp>
        <p:nvSpPr>
          <p:cNvPr id="16" name="Text 14"/>
          <p:cNvSpPr/>
          <p:nvPr/>
        </p:nvSpPr>
        <p:spPr>
          <a:xfrm>
            <a:off x="3694176" y="2542032"/>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var libro = context.Libros</a:t>
            </a:r>
            <a:endParaRPr lang="en-US" sz="950" dirty="0"/>
          </a:p>
        </p:txBody>
      </p:sp>
      <p:sp>
        <p:nvSpPr>
          <p:cNvPr id="17" name="Text 15"/>
          <p:cNvSpPr/>
          <p:nvPr/>
        </p:nvSpPr>
        <p:spPr>
          <a:xfrm>
            <a:off x="3694176" y="2825496"/>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.FirstOrDefault(</a:t>
            </a:r>
            <a:endParaRPr lang="en-US" sz="950" dirty="0"/>
          </a:p>
        </p:txBody>
      </p:sp>
      <p:sp>
        <p:nvSpPr>
          <p:cNvPr id="18" name="Text 16"/>
          <p:cNvSpPr/>
          <p:nvPr/>
        </p:nvSpPr>
        <p:spPr>
          <a:xfrm>
            <a:off x="3694176" y="3108960"/>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l =&gt; l.Id == 5);</a:t>
            </a:r>
            <a:endParaRPr lang="en-US" sz="950" dirty="0"/>
          </a:p>
        </p:txBody>
      </p:sp>
      <p:sp>
        <p:nvSpPr>
          <p:cNvPr id="19" name="Text 17"/>
          <p:cNvSpPr/>
          <p:nvPr/>
        </p:nvSpPr>
        <p:spPr>
          <a:xfrm>
            <a:off x="3694176" y="3392424"/>
            <a:ext cx="2148840" cy="274320"/>
          </a:xfrm>
          <a:prstGeom prst="rect">
            <a:avLst/>
          </a:prstGeom>
          <a:noFill/>
          <a:ln/>
        </p:spPr>
        <p:txBody>
          <a:bodyPr wrap="square" lIns="0" tIns="0" rIns="0" bIns="0" rtlCol="0" anchor="ctr"/>
          <a:lstStyle/>
          <a:p>
            <a:pPr marL="0" indent="0" algn="l">
              <a:buNone/>
            </a:pPr>
            <a:endParaRPr lang="en-US" sz="950" dirty="0"/>
          </a:p>
        </p:txBody>
      </p:sp>
      <p:sp>
        <p:nvSpPr>
          <p:cNvPr id="20" name="Text 18"/>
          <p:cNvSpPr/>
          <p:nvPr/>
        </p:nvSpPr>
        <p:spPr>
          <a:xfrm>
            <a:off x="3694176" y="3675888"/>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var todos = context.Libros</a:t>
            </a:r>
            <a:endParaRPr lang="en-US" sz="950" dirty="0"/>
          </a:p>
        </p:txBody>
      </p:sp>
      <p:sp>
        <p:nvSpPr>
          <p:cNvPr id="21" name="Text 19"/>
          <p:cNvSpPr/>
          <p:nvPr/>
        </p:nvSpPr>
        <p:spPr>
          <a:xfrm>
            <a:off x="3694176" y="3959352"/>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.ToList();</a:t>
            </a:r>
            <a:endParaRPr lang="en-US" sz="950" dirty="0"/>
          </a:p>
        </p:txBody>
      </p:sp>
      <p:sp>
        <p:nvSpPr>
          <p:cNvPr id="22" name="Shape 20"/>
          <p:cNvSpPr/>
          <p:nvPr/>
        </p:nvSpPr>
        <p:spPr>
          <a:xfrm>
            <a:off x="6291072" y="1828800"/>
            <a:ext cx="2697480" cy="3977640"/>
          </a:xfrm>
          <a:prstGeom prst="roundRect">
            <a:avLst>
              <a:gd name="adj" fmla="val 2712"/>
            </a:avLst>
          </a:prstGeom>
          <a:solidFill>
            <a:srgbClr val="065A82"/>
          </a:solidFill>
          <a:ln/>
        </p:spPr>
        <p:txBody>
          <a:bodyPr/>
          <a:lstStyle/>
          <a:p>
            <a:endParaRPr lang="es-AR"/>
          </a:p>
        </p:txBody>
      </p:sp>
      <p:sp>
        <p:nvSpPr>
          <p:cNvPr id="23" name="Text 21"/>
          <p:cNvSpPr/>
          <p:nvPr/>
        </p:nvSpPr>
        <p:spPr>
          <a:xfrm>
            <a:off x="6455664" y="1993392"/>
            <a:ext cx="2368296" cy="365760"/>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Update</a:t>
            </a:r>
            <a:endParaRPr lang="en-US" sz="1600" dirty="0"/>
          </a:p>
        </p:txBody>
      </p:sp>
      <p:sp>
        <p:nvSpPr>
          <p:cNvPr id="24" name="Shape 22"/>
          <p:cNvSpPr/>
          <p:nvPr/>
        </p:nvSpPr>
        <p:spPr>
          <a:xfrm>
            <a:off x="6455664" y="2423160"/>
            <a:ext cx="2368296" cy="3200400"/>
          </a:xfrm>
          <a:prstGeom prst="roundRect">
            <a:avLst>
              <a:gd name="adj" fmla="val 2317"/>
            </a:avLst>
          </a:prstGeom>
          <a:solidFill>
            <a:srgbClr val="132139"/>
          </a:solidFill>
          <a:ln/>
        </p:spPr>
        <p:txBody>
          <a:bodyPr/>
          <a:lstStyle/>
          <a:p>
            <a:endParaRPr lang="es-AR"/>
          </a:p>
        </p:txBody>
      </p:sp>
      <p:sp>
        <p:nvSpPr>
          <p:cNvPr id="25" name="Text 23"/>
          <p:cNvSpPr/>
          <p:nvPr/>
        </p:nvSpPr>
        <p:spPr>
          <a:xfrm>
            <a:off x="6565392" y="2542032"/>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var libro = context.Libros</a:t>
            </a:r>
            <a:endParaRPr lang="en-US" sz="950" dirty="0"/>
          </a:p>
        </p:txBody>
      </p:sp>
      <p:sp>
        <p:nvSpPr>
          <p:cNvPr id="26" name="Text 24"/>
          <p:cNvSpPr/>
          <p:nvPr/>
        </p:nvSpPr>
        <p:spPr>
          <a:xfrm>
            <a:off x="6565392" y="2825496"/>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.Find(5);</a:t>
            </a:r>
            <a:endParaRPr lang="en-US" sz="950" dirty="0"/>
          </a:p>
        </p:txBody>
      </p:sp>
      <p:sp>
        <p:nvSpPr>
          <p:cNvPr id="27" name="Text 25"/>
          <p:cNvSpPr/>
          <p:nvPr/>
        </p:nvSpPr>
        <p:spPr>
          <a:xfrm>
            <a:off x="6565392" y="3108960"/>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libro.Titulo = "Nuevo título";</a:t>
            </a:r>
            <a:endParaRPr lang="en-US" sz="950" dirty="0"/>
          </a:p>
        </p:txBody>
      </p:sp>
      <p:sp>
        <p:nvSpPr>
          <p:cNvPr id="28" name="Text 26"/>
          <p:cNvSpPr/>
          <p:nvPr/>
        </p:nvSpPr>
        <p:spPr>
          <a:xfrm>
            <a:off x="6565392" y="3392424"/>
            <a:ext cx="2148840" cy="274320"/>
          </a:xfrm>
          <a:prstGeom prst="rect">
            <a:avLst/>
          </a:prstGeom>
          <a:noFill/>
          <a:ln/>
        </p:spPr>
        <p:txBody>
          <a:bodyPr wrap="square" lIns="0" tIns="0" rIns="0" bIns="0" rtlCol="0" anchor="ctr"/>
          <a:lstStyle/>
          <a:p>
            <a:pPr marL="0" indent="0" algn="l">
              <a:buNone/>
            </a:pPr>
            <a:endParaRPr lang="en-US" sz="950" dirty="0"/>
          </a:p>
        </p:txBody>
      </p:sp>
      <p:sp>
        <p:nvSpPr>
          <p:cNvPr id="29" name="Text 27"/>
          <p:cNvSpPr/>
          <p:nvPr/>
        </p:nvSpPr>
        <p:spPr>
          <a:xfrm>
            <a:off x="6565392" y="3675888"/>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context.SaveChanges();</a:t>
            </a:r>
            <a:endParaRPr lang="en-US" sz="950" dirty="0"/>
          </a:p>
        </p:txBody>
      </p:sp>
      <p:sp>
        <p:nvSpPr>
          <p:cNvPr id="30" name="Shape 28"/>
          <p:cNvSpPr/>
          <p:nvPr/>
        </p:nvSpPr>
        <p:spPr>
          <a:xfrm>
            <a:off x="9162288" y="1828800"/>
            <a:ext cx="2697480" cy="3977640"/>
          </a:xfrm>
          <a:prstGeom prst="roundRect">
            <a:avLst>
              <a:gd name="adj" fmla="val 2712"/>
            </a:avLst>
          </a:prstGeom>
          <a:solidFill>
            <a:srgbClr val="1C7293"/>
          </a:solidFill>
          <a:ln/>
        </p:spPr>
        <p:txBody>
          <a:bodyPr/>
          <a:lstStyle/>
          <a:p>
            <a:endParaRPr lang="es-AR"/>
          </a:p>
        </p:txBody>
      </p:sp>
      <p:sp>
        <p:nvSpPr>
          <p:cNvPr id="31" name="Text 29"/>
          <p:cNvSpPr/>
          <p:nvPr/>
        </p:nvSpPr>
        <p:spPr>
          <a:xfrm>
            <a:off x="9326880" y="1993392"/>
            <a:ext cx="2368296" cy="365760"/>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Delete</a:t>
            </a:r>
            <a:endParaRPr lang="en-US" sz="1600" dirty="0"/>
          </a:p>
        </p:txBody>
      </p:sp>
      <p:sp>
        <p:nvSpPr>
          <p:cNvPr id="32" name="Shape 30"/>
          <p:cNvSpPr/>
          <p:nvPr/>
        </p:nvSpPr>
        <p:spPr>
          <a:xfrm>
            <a:off x="9326880" y="2423160"/>
            <a:ext cx="2368296" cy="3200400"/>
          </a:xfrm>
          <a:prstGeom prst="roundRect">
            <a:avLst>
              <a:gd name="adj" fmla="val 2317"/>
            </a:avLst>
          </a:prstGeom>
          <a:solidFill>
            <a:srgbClr val="132139"/>
          </a:solidFill>
          <a:ln/>
        </p:spPr>
        <p:txBody>
          <a:bodyPr/>
          <a:lstStyle/>
          <a:p>
            <a:endParaRPr lang="es-AR"/>
          </a:p>
        </p:txBody>
      </p:sp>
      <p:sp>
        <p:nvSpPr>
          <p:cNvPr id="33" name="Text 31"/>
          <p:cNvSpPr/>
          <p:nvPr/>
        </p:nvSpPr>
        <p:spPr>
          <a:xfrm>
            <a:off x="9436608" y="2542032"/>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var libro = context.Libros</a:t>
            </a:r>
            <a:endParaRPr lang="en-US" sz="950" dirty="0"/>
          </a:p>
        </p:txBody>
      </p:sp>
      <p:sp>
        <p:nvSpPr>
          <p:cNvPr id="34" name="Text 32"/>
          <p:cNvSpPr/>
          <p:nvPr/>
        </p:nvSpPr>
        <p:spPr>
          <a:xfrm>
            <a:off x="9436608" y="2825496"/>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.Find(5);</a:t>
            </a:r>
            <a:endParaRPr lang="en-US" sz="950" dirty="0"/>
          </a:p>
        </p:txBody>
      </p:sp>
      <p:sp>
        <p:nvSpPr>
          <p:cNvPr id="35" name="Text 33"/>
          <p:cNvSpPr/>
          <p:nvPr/>
        </p:nvSpPr>
        <p:spPr>
          <a:xfrm>
            <a:off x="9436608" y="3108960"/>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context.Libros.Remove(libro);</a:t>
            </a:r>
            <a:endParaRPr lang="en-US" sz="950" dirty="0"/>
          </a:p>
        </p:txBody>
      </p:sp>
      <p:sp>
        <p:nvSpPr>
          <p:cNvPr id="36" name="Text 34"/>
          <p:cNvSpPr/>
          <p:nvPr/>
        </p:nvSpPr>
        <p:spPr>
          <a:xfrm>
            <a:off x="9436608" y="3392424"/>
            <a:ext cx="2148840" cy="274320"/>
          </a:xfrm>
          <a:prstGeom prst="rect">
            <a:avLst/>
          </a:prstGeom>
          <a:noFill/>
          <a:ln/>
        </p:spPr>
        <p:txBody>
          <a:bodyPr wrap="square" lIns="0" tIns="0" rIns="0" bIns="0" rtlCol="0" anchor="ctr"/>
          <a:lstStyle/>
          <a:p>
            <a:pPr marL="0" indent="0" algn="l">
              <a:buNone/>
            </a:pPr>
            <a:endParaRPr lang="en-US" sz="950" dirty="0"/>
          </a:p>
        </p:txBody>
      </p:sp>
      <p:sp>
        <p:nvSpPr>
          <p:cNvPr id="37" name="Text 35"/>
          <p:cNvSpPr/>
          <p:nvPr/>
        </p:nvSpPr>
        <p:spPr>
          <a:xfrm>
            <a:off x="9436608" y="3675888"/>
            <a:ext cx="2148840" cy="274320"/>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context.SaveChanges();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Convenciones de EF Core</a:t>
            </a:r>
            <a:endParaRPr lang="en-US" sz="3000" dirty="0"/>
          </a:p>
        </p:txBody>
      </p:sp>
      <p:sp>
        <p:nvSpPr>
          <p:cNvPr id="3" name="Text 1"/>
          <p:cNvSpPr/>
          <p:nvPr/>
        </p:nvSpPr>
        <p:spPr>
          <a:xfrm>
            <a:off x="548640" y="1024128"/>
            <a:ext cx="11091672" cy="365760"/>
          </a:xfrm>
          <a:prstGeom prst="rect">
            <a:avLst/>
          </a:prstGeom>
          <a:noFill/>
          <a:ln/>
        </p:spPr>
        <p:txBody>
          <a:bodyPr wrap="square" lIns="0" tIns="0" rIns="0" bIns="0" rtlCol="0" anchor="ctr"/>
          <a:lstStyle/>
          <a:p>
            <a:pPr marL="0" indent="0" algn="l">
              <a:buNone/>
            </a:pPr>
            <a:r>
              <a:rPr lang="en-US" sz="1400" i="1" dirty="0">
                <a:solidFill>
                  <a:srgbClr val="1C7293"/>
                </a:solidFill>
                <a:latin typeface="Calibri" pitchFamily="34" charset="0"/>
                <a:ea typeface="Calibri" pitchFamily="34" charset="-122"/>
                <a:cs typeface="Calibri" pitchFamily="34" charset="-120"/>
              </a:rPr>
              <a:t>Cuánto puede inferir el modelo sin que le digamos nada</a:t>
            </a:r>
            <a:endParaRPr lang="en-US" sz="1400" dirty="0"/>
          </a:p>
        </p:txBody>
      </p:sp>
      <p:sp>
        <p:nvSpPr>
          <p:cNvPr id="4" name="Shape 2"/>
          <p:cNvSpPr/>
          <p:nvPr/>
        </p:nvSpPr>
        <p:spPr>
          <a:xfrm>
            <a:off x="548640" y="1783080"/>
            <a:ext cx="3611880" cy="1463040"/>
          </a:xfrm>
          <a:prstGeom prst="roundRect">
            <a:avLst>
              <a:gd name="adj" fmla="val 5000"/>
            </a:avLst>
          </a:prstGeom>
          <a:solidFill>
            <a:srgbClr val="E7F1F6"/>
          </a:solidFill>
          <a:ln/>
        </p:spPr>
        <p:txBody>
          <a:bodyPr/>
          <a:lstStyle/>
          <a:p>
            <a:endParaRPr lang="es-AR"/>
          </a:p>
        </p:txBody>
      </p:sp>
      <p:sp>
        <p:nvSpPr>
          <p:cNvPr id="5" name="Text 3"/>
          <p:cNvSpPr/>
          <p:nvPr/>
        </p:nvSpPr>
        <p:spPr>
          <a:xfrm>
            <a:off x="731520" y="1947672"/>
            <a:ext cx="3246120" cy="365760"/>
          </a:xfrm>
          <a:prstGeom prst="rect">
            <a:avLst/>
          </a:prstGeom>
          <a:noFill/>
          <a:ln/>
        </p:spPr>
        <p:txBody>
          <a:bodyPr wrap="square" lIns="0" tIns="0" rIns="0" bIns="0" rtlCol="0" anchor="ctr"/>
          <a:lstStyle/>
          <a:p>
            <a:pPr marL="0" indent="0" algn="l">
              <a:buNone/>
            </a:pPr>
            <a:r>
              <a:rPr lang="en-US" sz="1350" b="1" dirty="0">
                <a:solidFill>
                  <a:srgbClr val="065A82"/>
                </a:solidFill>
                <a:latin typeface="Cambria" pitchFamily="34" charset="0"/>
                <a:ea typeface="Cambria" pitchFamily="34" charset="-122"/>
                <a:cs typeface="Cambria" pitchFamily="34" charset="-120"/>
              </a:rPr>
              <a:t>Clave primaria</a:t>
            </a:r>
            <a:endParaRPr lang="en-US" sz="1350" dirty="0"/>
          </a:p>
        </p:txBody>
      </p:sp>
      <p:sp>
        <p:nvSpPr>
          <p:cNvPr id="6" name="Text 4"/>
          <p:cNvSpPr/>
          <p:nvPr/>
        </p:nvSpPr>
        <p:spPr>
          <a:xfrm>
            <a:off x="731520" y="2350008"/>
            <a:ext cx="3246120" cy="777240"/>
          </a:xfrm>
          <a:prstGeom prst="rect">
            <a:avLst/>
          </a:prstGeom>
          <a:noFill/>
          <a:ln/>
        </p:spPr>
        <p:txBody>
          <a:bodyPr wrap="square" lIns="0" tIns="0" rIns="0" bIns="0" rtlCol="0" anchor="ctr"/>
          <a:lstStyle/>
          <a:p>
            <a:pPr marL="0" indent="0" algn="l">
              <a:buNone/>
            </a:pPr>
            <a:r>
              <a:rPr lang="en-US" sz="1050" dirty="0">
                <a:solidFill>
                  <a:srgbClr val="21295C"/>
                </a:solidFill>
                <a:latin typeface="Calibri" pitchFamily="34" charset="0"/>
                <a:ea typeface="Calibri" pitchFamily="34" charset="-122"/>
                <a:cs typeface="Calibri" pitchFamily="34" charset="-120"/>
              </a:rPr>
              <a:t>Una propiedad llamada Id, o &lt;NombreClase&gt;Id (ej. LibroId).</a:t>
            </a:r>
            <a:endParaRPr lang="en-US" sz="1050" dirty="0"/>
          </a:p>
        </p:txBody>
      </p:sp>
      <p:sp>
        <p:nvSpPr>
          <p:cNvPr id="7" name="Shape 5"/>
          <p:cNvSpPr/>
          <p:nvPr/>
        </p:nvSpPr>
        <p:spPr>
          <a:xfrm>
            <a:off x="4389120" y="1783080"/>
            <a:ext cx="3611880" cy="1463040"/>
          </a:xfrm>
          <a:prstGeom prst="roundRect">
            <a:avLst>
              <a:gd name="adj" fmla="val 5000"/>
            </a:avLst>
          </a:prstGeom>
          <a:solidFill>
            <a:srgbClr val="E7F1F6"/>
          </a:solidFill>
          <a:ln/>
        </p:spPr>
        <p:txBody>
          <a:bodyPr/>
          <a:lstStyle/>
          <a:p>
            <a:endParaRPr lang="es-AR"/>
          </a:p>
        </p:txBody>
      </p:sp>
      <p:sp>
        <p:nvSpPr>
          <p:cNvPr id="8" name="Text 6"/>
          <p:cNvSpPr/>
          <p:nvPr/>
        </p:nvSpPr>
        <p:spPr>
          <a:xfrm>
            <a:off x="4572000" y="1947672"/>
            <a:ext cx="3246120" cy="365760"/>
          </a:xfrm>
          <a:prstGeom prst="rect">
            <a:avLst/>
          </a:prstGeom>
          <a:noFill/>
          <a:ln/>
        </p:spPr>
        <p:txBody>
          <a:bodyPr wrap="square" lIns="0" tIns="0" rIns="0" bIns="0" rtlCol="0" anchor="ctr"/>
          <a:lstStyle/>
          <a:p>
            <a:pPr marL="0" indent="0" algn="l">
              <a:buNone/>
            </a:pPr>
            <a:r>
              <a:rPr lang="en-US" sz="1350" b="1" dirty="0">
                <a:solidFill>
                  <a:srgbClr val="065A82"/>
                </a:solidFill>
                <a:latin typeface="Cambria" pitchFamily="34" charset="0"/>
                <a:ea typeface="Cambria" pitchFamily="34" charset="-122"/>
                <a:cs typeface="Cambria" pitchFamily="34" charset="-120"/>
              </a:rPr>
              <a:t>Nombre de tabla</a:t>
            </a:r>
            <a:endParaRPr lang="en-US" sz="1350" dirty="0"/>
          </a:p>
        </p:txBody>
      </p:sp>
      <p:sp>
        <p:nvSpPr>
          <p:cNvPr id="9" name="Text 7"/>
          <p:cNvSpPr/>
          <p:nvPr/>
        </p:nvSpPr>
        <p:spPr>
          <a:xfrm>
            <a:off x="4572000" y="2350008"/>
            <a:ext cx="3246120" cy="777240"/>
          </a:xfrm>
          <a:prstGeom prst="rect">
            <a:avLst/>
          </a:prstGeom>
          <a:noFill/>
          <a:ln/>
        </p:spPr>
        <p:txBody>
          <a:bodyPr wrap="square" lIns="0" tIns="0" rIns="0" bIns="0" rtlCol="0" anchor="ctr"/>
          <a:lstStyle/>
          <a:p>
            <a:pPr marL="0" indent="0" algn="l">
              <a:buNone/>
            </a:pPr>
            <a:r>
              <a:rPr lang="en-US" sz="1050" dirty="0">
                <a:solidFill>
                  <a:srgbClr val="21295C"/>
                </a:solidFill>
                <a:latin typeface="Calibri" pitchFamily="34" charset="0"/>
                <a:ea typeface="Calibri" pitchFamily="34" charset="-122"/>
                <a:cs typeface="Calibri" pitchFamily="34" charset="-120"/>
              </a:rPr>
              <a:t>El nombre del DbSet&lt;T&gt; en el DbContext (pluralizado).</a:t>
            </a:r>
            <a:endParaRPr lang="en-US" sz="1050" dirty="0"/>
          </a:p>
        </p:txBody>
      </p:sp>
      <p:sp>
        <p:nvSpPr>
          <p:cNvPr id="10" name="Shape 8"/>
          <p:cNvSpPr/>
          <p:nvPr/>
        </p:nvSpPr>
        <p:spPr>
          <a:xfrm>
            <a:off x="8229600" y="1783080"/>
            <a:ext cx="3611880" cy="1463040"/>
          </a:xfrm>
          <a:prstGeom prst="roundRect">
            <a:avLst>
              <a:gd name="adj" fmla="val 5000"/>
            </a:avLst>
          </a:prstGeom>
          <a:solidFill>
            <a:srgbClr val="E7F1F6"/>
          </a:solidFill>
          <a:ln/>
        </p:spPr>
        <p:txBody>
          <a:bodyPr/>
          <a:lstStyle/>
          <a:p>
            <a:endParaRPr lang="es-AR"/>
          </a:p>
        </p:txBody>
      </p:sp>
      <p:sp>
        <p:nvSpPr>
          <p:cNvPr id="11" name="Text 9"/>
          <p:cNvSpPr/>
          <p:nvPr/>
        </p:nvSpPr>
        <p:spPr>
          <a:xfrm>
            <a:off x="8412480" y="1947672"/>
            <a:ext cx="3246120" cy="365760"/>
          </a:xfrm>
          <a:prstGeom prst="rect">
            <a:avLst/>
          </a:prstGeom>
          <a:noFill/>
          <a:ln/>
        </p:spPr>
        <p:txBody>
          <a:bodyPr wrap="square" lIns="0" tIns="0" rIns="0" bIns="0" rtlCol="0" anchor="ctr"/>
          <a:lstStyle/>
          <a:p>
            <a:pPr marL="0" indent="0" algn="l">
              <a:buNone/>
            </a:pPr>
            <a:r>
              <a:rPr lang="en-US" sz="1350" b="1" dirty="0">
                <a:solidFill>
                  <a:srgbClr val="065A82"/>
                </a:solidFill>
                <a:latin typeface="Cambria" pitchFamily="34" charset="0"/>
                <a:ea typeface="Cambria" pitchFamily="34" charset="-122"/>
                <a:cs typeface="Cambria" pitchFamily="34" charset="-120"/>
              </a:rPr>
              <a:t>Tipo de columna</a:t>
            </a:r>
            <a:endParaRPr lang="en-US" sz="1350" dirty="0"/>
          </a:p>
        </p:txBody>
      </p:sp>
      <p:sp>
        <p:nvSpPr>
          <p:cNvPr id="12" name="Text 10"/>
          <p:cNvSpPr/>
          <p:nvPr/>
        </p:nvSpPr>
        <p:spPr>
          <a:xfrm>
            <a:off x="8412480" y="2350008"/>
            <a:ext cx="3246120" cy="777240"/>
          </a:xfrm>
          <a:prstGeom prst="rect">
            <a:avLst/>
          </a:prstGeom>
          <a:noFill/>
          <a:ln/>
        </p:spPr>
        <p:txBody>
          <a:bodyPr wrap="square" lIns="0" tIns="0" rIns="0" bIns="0" rtlCol="0" anchor="ctr"/>
          <a:lstStyle/>
          <a:p>
            <a:pPr marL="0" indent="0" algn="l">
              <a:buNone/>
            </a:pPr>
            <a:r>
              <a:rPr lang="en-US" sz="1050" dirty="0">
                <a:solidFill>
                  <a:srgbClr val="21295C"/>
                </a:solidFill>
                <a:latin typeface="Calibri" pitchFamily="34" charset="0"/>
                <a:ea typeface="Calibri" pitchFamily="34" charset="-122"/>
                <a:cs typeface="Calibri" pitchFamily="34" charset="-120"/>
              </a:rPr>
              <a:t>Se infiere del tipo de C#: int → int, string → nvarchar(max).</a:t>
            </a:r>
            <a:endParaRPr lang="en-US" sz="1050" dirty="0"/>
          </a:p>
        </p:txBody>
      </p:sp>
      <p:sp>
        <p:nvSpPr>
          <p:cNvPr id="13" name="Shape 11"/>
          <p:cNvSpPr/>
          <p:nvPr/>
        </p:nvSpPr>
        <p:spPr>
          <a:xfrm>
            <a:off x="548640" y="3429000"/>
            <a:ext cx="3611880" cy="1463040"/>
          </a:xfrm>
          <a:prstGeom prst="roundRect">
            <a:avLst>
              <a:gd name="adj" fmla="val 5000"/>
            </a:avLst>
          </a:prstGeom>
          <a:solidFill>
            <a:srgbClr val="E7F1F6"/>
          </a:solidFill>
          <a:ln/>
        </p:spPr>
        <p:txBody>
          <a:bodyPr/>
          <a:lstStyle/>
          <a:p>
            <a:endParaRPr lang="es-AR"/>
          </a:p>
        </p:txBody>
      </p:sp>
      <p:sp>
        <p:nvSpPr>
          <p:cNvPr id="14" name="Text 12"/>
          <p:cNvSpPr/>
          <p:nvPr/>
        </p:nvSpPr>
        <p:spPr>
          <a:xfrm>
            <a:off x="731520" y="3593592"/>
            <a:ext cx="3246120" cy="365760"/>
          </a:xfrm>
          <a:prstGeom prst="rect">
            <a:avLst/>
          </a:prstGeom>
          <a:noFill/>
          <a:ln/>
        </p:spPr>
        <p:txBody>
          <a:bodyPr wrap="square" lIns="0" tIns="0" rIns="0" bIns="0" rtlCol="0" anchor="ctr"/>
          <a:lstStyle/>
          <a:p>
            <a:pPr marL="0" indent="0" algn="l">
              <a:buNone/>
            </a:pPr>
            <a:r>
              <a:rPr lang="en-US" sz="1350" b="1" dirty="0">
                <a:solidFill>
                  <a:srgbClr val="065A82"/>
                </a:solidFill>
                <a:latin typeface="Cambria" pitchFamily="34" charset="0"/>
                <a:ea typeface="Cambria" pitchFamily="34" charset="-122"/>
                <a:cs typeface="Cambria" pitchFamily="34" charset="-120"/>
              </a:rPr>
              <a:t>Clave foránea</a:t>
            </a:r>
            <a:endParaRPr lang="en-US" sz="1350" dirty="0"/>
          </a:p>
        </p:txBody>
      </p:sp>
      <p:sp>
        <p:nvSpPr>
          <p:cNvPr id="15" name="Text 13"/>
          <p:cNvSpPr/>
          <p:nvPr/>
        </p:nvSpPr>
        <p:spPr>
          <a:xfrm>
            <a:off x="731520" y="3995928"/>
            <a:ext cx="3246120" cy="777240"/>
          </a:xfrm>
          <a:prstGeom prst="rect">
            <a:avLst/>
          </a:prstGeom>
          <a:noFill/>
          <a:ln/>
        </p:spPr>
        <p:txBody>
          <a:bodyPr wrap="square" lIns="0" tIns="0" rIns="0" bIns="0" rtlCol="0" anchor="ctr"/>
          <a:lstStyle/>
          <a:p>
            <a:pPr marL="0" indent="0" algn="l">
              <a:buNone/>
            </a:pPr>
            <a:r>
              <a:rPr lang="en-US" sz="1050" dirty="0">
                <a:solidFill>
                  <a:srgbClr val="21295C"/>
                </a:solidFill>
                <a:latin typeface="Calibri" pitchFamily="34" charset="0"/>
                <a:ea typeface="Calibri" pitchFamily="34" charset="-122"/>
                <a:cs typeface="Calibri" pitchFamily="34" charset="-120"/>
              </a:rPr>
              <a:t>&lt;NombreNavegación&gt; + Id, ej. AutorId para la navegación Autor.</a:t>
            </a:r>
            <a:endParaRPr lang="en-US" sz="1050" dirty="0"/>
          </a:p>
        </p:txBody>
      </p:sp>
      <p:sp>
        <p:nvSpPr>
          <p:cNvPr id="16" name="Shape 14"/>
          <p:cNvSpPr/>
          <p:nvPr/>
        </p:nvSpPr>
        <p:spPr>
          <a:xfrm>
            <a:off x="4389120" y="3429000"/>
            <a:ext cx="3611880" cy="1463040"/>
          </a:xfrm>
          <a:prstGeom prst="roundRect">
            <a:avLst>
              <a:gd name="adj" fmla="val 5000"/>
            </a:avLst>
          </a:prstGeom>
          <a:solidFill>
            <a:srgbClr val="E7F1F6"/>
          </a:solidFill>
          <a:ln/>
        </p:spPr>
        <p:txBody>
          <a:bodyPr/>
          <a:lstStyle/>
          <a:p>
            <a:endParaRPr lang="es-AR"/>
          </a:p>
        </p:txBody>
      </p:sp>
      <p:sp>
        <p:nvSpPr>
          <p:cNvPr id="17" name="Text 15"/>
          <p:cNvSpPr/>
          <p:nvPr/>
        </p:nvSpPr>
        <p:spPr>
          <a:xfrm>
            <a:off x="4572000" y="3593592"/>
            <a:ext cx="3246120" cy="365760"/>
          </a:xfrm>
          <a:prstGeom prst="rect">
            <a:avLst/>
          </a:prstGeom>
          <a:noFill/>
          <a:ln/>
        </p:spPr>
        <p:txBody>
          <a:bodyPr wrap="square" lIns="0" tIns="0" rIns="0" bIns="0" rtlCol="0" anchor="ctr"/>
          <a:lstStyle/>
          <a:p>
            <a:pPr marL="0" indent="0" algn="l">
              <a:buNone/>
            </a:pPr>
            <a:r>
              <a:rPr lang="en-US" sz="1350" b="1" dirty="0">
                <a:solidFill>
                  <a:srgbClr val="065A82"/>
                </a:solidFill>
                <a:latin typeface="Cambria" pitchFamily="34" charset="0"/>
                <a:ea typeface="Cambria" pitchFamily="34" charset="-122"/>
                <a:cs typeface="Cambria" pitchFamily="34" charset="-120"/>
              </a:rPr>
              <a:t>Campos requeridos</a:t>
            </a:r>
            <a:endParaRPr lang="en-US" sz="1350" dirty="0"/>
          </a:p>
        </p:txBody>
      </p:sp>
      <p:sp>
        <p:nvSpPr>
          <p:cNvPr id="18" name="Text 16"/>
          <p:cNvSpPr/>
          <p:nvPr/>
        </p:nvSpPr>
        <p:spPr>
          <a:xfrm>
            <a:off x="4572000" y="3995928"/>
            <a:ext cx="3246120" cy="777240"/>
          </a:xfrm>
          <a:prstGeom prst="rect">
            <a:avLst/>
          </a:prstGeom>
          <a:noFill/>
          <a:ln/>
        </p:spPr>
        <p:txBody>
          <a:bodyPr wrap="square" lIns="0" tIns="0" rIns="0" bIns="0" rtlCol="0" anchor="ctr"/>
          <a:lstStyle/>
          <a:p>
            <a:pPr marL="0" indent="0" algn="l">
              <a:buNone/>
            </a:pPr>
            <a:r>
              <a:rPr lang="en-US" sz="1050" dirty="0">
                <a:solidFill>
                  <a:srgbClr val="21295C"/>
                </a:solidFill>
                <a:latin typeface="Calibri" pitchFamily="34" charset="0"/>
                <a:ea typeface="Calibri" pitchFamily="34" charset="-122"/>
                <a:cs typeface="Calibri" pitchFamily="34" charset="-120"/>
              </a:rPr>
              <a:t>Los tipos no-nullable de C# se mapean como NOT NULL.</a:t>
            </a:r>
            <a:endParaRPr lang="en-US" sz="1050" dirty="0"/>
          </a:p>
        </p:txBody>
      </p:sp>
      <p:sp>
        <p:nvSpPr>
          <p:cNvPr id="19" name="Shape 17"/>
          <p:cNvSpPr/>
          <p:nvPr/>
        </p:nvSpPr>
        <p:spPr>
          <a:xfrm>
            <a:off x="8229600" y="3429000"/>
            <a:ext cx="3611880" cy="1463040"/>
          </a:xfrm>
          <a:prstGeom prst="roundRect">
            <a:avLst>
              <a:gd name="adj" fmla="val 5000"/>
            </a:avLst>
          </a:prstGeom>
          <a:solidFill>
            <a:srgbClr val="E7F1F6"/>
          </a:solidFill>
          <a:ln/>
        </p:spPr>
        <p:txBody>
          <a:bodyPr/>
          <a:lstStyle/>
          <a:p>
            <a:endParaRPr lang="es-AR"/>
          </a:p>
        </p:txBody>
      </p:sp>
      <p:sp>
        <p:nvSpPr>
          <p:cNvPr id="20" name="Text 18"/>
          <p:cNvSpPr/>
          <p:nvPr/>
        </p:nvSpPr>
        <p:spPr>
          <a:xfrm>
            <a:off x="8412480" y="3593592"/>
            <a:ext cx="3246120" cy="365760"/>
          </a:xfrm>
          <a:prstGeom prst="rect">
            <a:avLst/>
          </a:prstGeom>
          <a:noFill/>
          <a:ln/>
        </p:spPr>
        <p:txBody>
          <a:bodyPr wrap="square" lIns="0" tIns="0" rIns="0" bIns="0" rtlCol="0" anchor="ctr"/>
          <a:lstStyle/>
          <a:p>
            <a:pPr marL="0" indent="0" algn="l">
              <a:buNone/>
            </a:pPr>
            <a:r>
              <a:rPr lang="en-US" sz="1350" b="1" dirty="0">
                <a:solidFill>
                  <a:srgbClr val="065A82"/>
                </a:solidFill>
                <a:latin typeface="Cambria" pitchFamily="34" charset="0"/>
                <a:ea typeface="Cambria" pitchFamily="34" charset="-122"/>
                <a:cs typeface="Cambria" pitchFamily="34" charset="-120"/>
              </a:rPr>
              <a:t>Relaciones</a:t>
            </a:r>
            <a:endParaRPr lang="en-US" sz="1350" dirty="0"/>
          </a:p>
        </p:txBody>
      </p:sp>
      <p:sp>
        <p:nvSpPr>
          <p:cNvPr id="21" name="Text 19"/>
          <p:cNvSpPr/>
          <p:nvPr/>
        </p:nvSpPr>
        <p:spPr>
          <a:xfrm>
            <a:off x="8412480" y="3995928"/>
            <a:ext cx="3246120" cy="777240"/>
          </a:xfrm>
          <a:prstGeom prst="rect">
            <a:avLst/>
          </a:prstGeom>
          <a:noFill/>
          <a:ln/>
        </p:spPr>
        <p:txBody>
          <a:bodyPr wrap="square" lIns="0" tIns="0" rIns="0" bIns="0" rtlCol="0" anchor="ctr"/>
          <a:lstStyle/>
          <a:p>
            <a:pPr marL="0" indent="0" algn="l">
              <a:buNone/>
            </a:pPr>
            <a:r>
              <a:rPr lang="en-US" sz="1050" dirty="0">
                <a:solidFill>
                  <a:srgbClr val="21295C"/>
                </a:solidFill>
                <a:latin typeface="Calibri" pitchFamily="34" charset="0"/>
                <a:ea typeface="Calibri" pitchFamily="34" charset="-122"/>
                <a:cs typeface="Calibri" pitchFamily="34" charset="-120"/>
              </a:rPr>
              <a:t>Se detectan automáticamente a partir de las propiedades de navegación.</a:t>
            </a:r>
            <a:endParaRPr lang="en-US" sz="1050" dirty="0"/>
          </a:p>
        </p:txBody>
      </p:sp>
      <p:sp>
        <p:nvSpPr>
          <p:cNvPr id="22" name="Text 20"/>
          <p:cNvSpPr/>
          <p:nvPr/>
        </p:nvSpPr>
        <p:spPr>
          <a:xfrm>
            <a:off x="548640" y="5120640"/>
            <a:ext cx="11091672" cy="365760"/>
          </a:xfrm>
          <a:prstGeom prst="rect">
            <a:avLst/>
          </a:prstGeom>
          <a:noFill/>
          <a:ln/>
        </p:spPr>
        <p:txBody>
          <a:bodyPr wrap="square" lIns="0" tIns="0" rIns="0" bIns="0" rtlCol="0" anchor="ctr"/>
          <a:lstStyle/>
          <a:p>
            <a:pPr marL="0" indent="0" algn="l">
              <a:buNone/>
            </a:pPr>
            <a:r>
              <a:rPr lang="en-US" sz="1150" i="1" dirty="0">
                <a:solidFill>
                  <a:srgbClr val="5C6B73"/>
                </a:solidFill>
                <a:latin typeface="Calibri" pitchFamily="34" charset="0"/>
                <a:ea typeface="Calibri" pitchFamily="34" charset="-122"/>
                <a:cs typeface="Calibri" pitchFamily="34" charset="-120"/>
              </a:rPr>
              <a:t>Cuando la convención no alcanza para expresar una regla del negocio, entran Data Annotations o Fluent API.</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Data Annotations vs. Fluent API</a:t>
            </a:r>
            <a:endParaRPr lang="en-US" sz="3000" dirty="0"/>
          </a:p>
        </p:txBody>
      </p:sp>
      <p:sp>
        <p:nvSpPr>
          <p:cNvPr id="3" name="Text 1"/>
          <p:cNvSpPr/>
          <p:nvPr/>
        </p:nvSpPr>
        <p:spPr>
          <a:xfrm>
            <a:off x="548640" y="1024128"/>
            <a:ext cx="11091672" cy="365760"/>
          </a:xfrm>
          <a:prstGeom prst="rect">
            <a:avLst/>
          </a:prstGeom>
          <a:noFill/>
          <a:ln/>
        </p:spPr>
        <p:txBody>
          <a:bodyPr wrap="square" lIns="0" tIns="0" rIns="0" bIns="0" rtlCol="0" anchor="ctr"/>
          <a:lstStyle/>
          <a:p>
            <a:pPr marL="0" indent="0" algn="l">
              <a:buNone/>
            </a:pPr>
            <a:r>
              <a:rPr lang="en-US" sz="1400" i="1" dirty="0">
                <a:solidFill>
                  <a:srgbClr val="1C7293"/>
                </a:solidFill>
                <a:latin typeface="Calibri" pitchFamily="34" charset="0"/>
                <a:ea typeface="Calibri" pitchFamily="34" charset="-122"/>
                <a:cs typeface="Calibri" pitchFamily="34" charset="-120"/>
              </a:rPr>
              <a:t>Dos formas de ir más allá de las convenciones</a:t>
            </a:r>
            <a:endParaRPr lang="en-US" sz="1400" dirty="0"/>
          </a:p>
        </p:txBody>
      </p:sp>
      <p:sp>
        <p:nvSpPr>
          <p:cNvPr id="4" name="Shape 2"/>
          <p:cNvSpPr/>
          <p:nvPr/>
        </p:nvSpPr>
        <p:spPr>
          <a:xfrm>
            <a:off x="548640" y="1828800"/>
            <a:ext cx="5120640" cy="3977640"/>
          </a:xfrm>
          <a:prstGeom prst="roundRect">
            <a:avLst>
              <a:gd name="adj" fmla="val 1839"/>
            </a:avLst>
          </a:prstGeom>
          <a:solidFill>
            <a:srgbClr val="065A82"/>
          </a:solidFill>
          <a:ln/>
        </p:spPr>
        <p:txBody>
          <a:bodyPr/>
          <a:lstStyle/>
          <a:p>
            <a:endParaRPr lang="es-AR"/>
          </a:p>
        </p:txBody>
      </p:sp>
      <p:sp>
        <p:nvSpPr>
          <p:cNvPr id="5" name="Text 3"/>
          <p:cNvSpPr/>
          <p:nvPr/>
        </p:nvSpPr>
        <p:spPr>
          <a:xfrm>
            <a:off x="548640" y="2029968"/>
            <a:ext cx="5120640" cy="365760"/>
          </a:xfrm>
          <a:prstGeom prst="rect">
            <a:avLst/>
          </a:prstGeom>
          <a:no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Data Annotations</a:t>
            </a:r>
            <a:endParaRPr lang="en-US" sz="1650" dirty="0"/>
          </a:p>
        </p:txBody>
      </p:sp>
      <p:sp>
        <p:nvSpPr>
          <p:cNvPr id="6" name="Text 4"/>
          <p:cNvSpPr/>
          <p:nvPr/>
        </p:nvSpPr>
        <p:spPr>
          <a:xfrm>
            <a:off x="548640" y="2395728"/>
            <a:ext cx="5120640" cy="32004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Atributos sobre la propia clase</a:t>
            </a:r>
            <a:endParaRPr lang="en-US" sz="1100" dirty="0"/>
          </a:p>
        </p:txBody>
      </p:sp>
      <p:sp>
        <p:nvSpPr>
          <p:cNvPr id="7" name="Shape 5"/>
          <p:cNvSpPr/>
          <p:nvPr/>
        </p:nvSpPr>
        <p:spPr>
          <a:xfrm>
            <a:off x="822960" y="2834640"/>
            <a:ext cx="4572000" cy="1371600"/>
          </a:xfrm>
          <a:prstGeom prst="roundRect">
            <a:avLst>
              <a:gd name="adj" fmla="val 4000"/>
            </a:avLst>
          </a:prstGeom>
          <a:solidFill>
            <a:srgbClr val="132139"/>
          </a:solidFill>
          <a:ln/>
        </p:spPr>
        <p:txBody>
          <a:bodyPr/>
          <a:lstStyle/>
          <a:p>
            <a:endParaRPr lang="es-AR"/>
          </a:p>
        </p:txBody>
      </p:sp>
      <p:sp>
        <p:nvSpPr>
          <p:cNvPr id="8" name="Text 6"/>
          <p:cNvSpPr/>
          <p:nvPr/>
        </p:nvSpPr>
        <p:spPr>
          <a:xfrm>
            <a:off x="1005840" y="2944368"/>
            <a:ext cx="4206240" cy="155448"/>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public class Libro</a:t>
            </a:r>
            <a:endParaRPr lang="en-US" sz="950" dirty="0"/>
          </a:p>
        </p:txBody>
      </p:sp>
      <p:sp>
        <p:nvSpPr>
          <p:cNvPr id="9" name="Text 7"/>
          <p:cNvSpPr/>
          <p:nvPr/>
        </p:nvSpPr>
        <p:spPr>
          <a:xfrm>
            <a:off x="1005840" y="3104388"/>
            <a:ext cx="4206240" cy="155448"/>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a:t>
            </a:r>
            <a:endParaRPr lang="en-US" sz="950" dirty="0"/>
          </a:p>
        </p:txBody>
      </p:sp>
      <p:sp>
        <p:nvSpPr>
          <p:cNvPr id="10" name="Text 8"/>
          <p:cNvSpPr/>
          <p:nvPr/>
        </p:nvSpPr>
        <p:spPr>
          <a:xfrm>
            <a:off x="1005840" y="3264408"/>
            <a:ext cx="4206240" cy="155448"/>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[Key]</a:t>
            </a:r>
            <a:endParaRPr lang="en-US" sz="950" dirty="0"/>
          </a:p>
        </p:txBody>
      </p:sp>
      <p:sp>
        <p:nvSpPr>
          <p:cNvPr id="11" name="Text 9"/>
          <p:cNvSpPr/>
          <p:nvPr/>
        </p:nvSpPr>
        <p:spPr>
          <a:xfrm>
            <a:off x="1005840" y="3424428"/>
            <a:ext cx="4206240" cy="155448"/>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public int Id { get; set; }</a:t>
            </a:r>
            <a:endParaRPr lang="en-US" sz="950" dirty="0"/>
          </a:p>
        </p:txBody>
      </p:sp>
      <p:sp>
        <p:nvSpPr>
          <p:cNvPr id="12" name="Text 10"/>
          <p:cNvSpPr/>
          <p:nvPr/>
        </p:nvSpPr>
        <p:spPr>
          <a:xfrm>
            <a:off x="1005840" y="3584448"/>
            <a:ext cx="4206240" cy="155448"/>
          </a:xfrm>
          <a:prstGeom prst="rect">
            <a:avLst/>
          </a:prstGeom>
          <a:noFill/>
          <a:ln/>
        </p:spPr>
        <p:txBody>
          <a:bodyPr wrap="square" lIns="0" tIns="0" rIns="0" bIns="0" rtlCol="0" anchor="ctr"/>
          <a:lstStyle/>
          <a:p>
            <a:pPr marL="0" indent="0" algn="l">
              <a:buNone/>
            </a:pPr>
            <a:endParaRPr lang="en-US" sz="950" dirty="0"/>
          </a:p>
        </p:txBody>
      </p:sp>
      <p:sp>
        <p:nvSpPr>
          <p:cNvPr id="13" name="Text 11"/>
          <p:cNvSpPr/>
          <p:nvPr/>
        </p:nvSpPr>
        <p:spPr>
          <a:xfrm>
            <a:off x="1005840" y="3744468"/>
            <a:ext cx="4206240" cy="155448"/>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[Required, MaxLength(200)]</a:t>
            </a:r>
            <a:endParaRPr lang="en-US" sz="950" dirty="0"/>
          </a:p>
        </p:txBody>
      </p:sp>
      <p:sp>
        <p:nvSpPr>
          <p:cNvPr id="14" name="Text 12"/>
          <p:cNvSpPr/>
          <p:nvPr/>
        </p:nvSpPr>
        <p:spPr>
          <a:xfrm>
            <a:off x="1005840" y="3904488"/>
            <a:ext cx="4206240" cy="155448"/>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public string Titulo { get; set; }</a:t>
            </a:r>
            <a:endParaRPr lang="en-US" sz="950" dirty="0"/>
          </a:p>
        </p:txBody>
      </p:sp>
      <p:sp>
        <p:nvSpPr>
          <p:cNvPr id="15" name="Text 13"/>
          <p:cNvSpPr/>
          <p:nvPr/>
        </p:nvSpPr>
        <p:spPr>
          <a:xfrm>
            <a:off x="1005840" y="4064508"/>
            <a:ext cx="4206240" cy="155448"/>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a:t>
            </a:r>
            <a:endParaRPr lang="en-US" sz="950" dirty="0"/>
          </a:p>
        </p:txBody>
      </p:sp>
      <p:sp>
        <p:nvSpPr>
          <p:cNvPr id="16" name="Text 14"/>
          <p:cNvSpPr/>
          <p:nvPr/>
        </p:nvSpPr>
        <p:spPr>
          <a:xfrm>
            <a:off x="822960" y="4343400"/>
            <a:ext cx="4572000" cy="1280160"/>
          </a:xfrm>
          <a:prstGeom prst="rect">
            <a:avLst/>
          </a:prstGeom>
          <a:noFill/>
          <a:ln/>
        </p:spPr>
        <p:txBody>
          <a:bodyPr wrap="square" lIns="0" tIns="0" rIns="0" bIns="0" rtlCol="0" anchor="ctr"/>
          <a:lstStyle/>
          <a:p>
            <a:pPr marL="0" indent="0" algn="l">
              <a:buNone/>
            </a:pPr>
            <a:r>
              <a:rPr lang="en-US" sz="1100" dirty="0">
                <a:solidFill>
                  <a:srgbClr val="EAF3F8"/>
                </a:solidFill>
                <a:latin typeface="Calibri" pitchFamily="34" charset="0"/>
                <a:ea typeface="Calibri" pitchFamily="34" charset="-122"/>
                <a:cs typeface="Calibri" pitchFamily="34" charset="-120"/>
              </a:rPr>
              <a:t>Rápido y legible para reglas simples, pero mezcla configuración de persistencia con la clase de dominio, y no cubre todos los casos.</a:t>
            </a:r>
            <a:endParaRPr lang="en-US" sz="1100" dirty="0"/>
          </a:p>
        </p:txBody>
      </p:sp>
      <p:sp>
        <p:nvSpPr>
          <p:cNvPr id="17" name="Shape 15"/>
          <p:cNvSpPr/>
          <p:nvPr/>
        </p:nvSpPr>
        <p:spPr>
          <a:xfrm>
            <a:off x="6492240" y="1828800"/>
            <a:ext cx="5120640" cy="3977640"/>
          </a:xfrm>
          <a:prstGeom prst="roundRect">
            <a:avLst>
              <a:gd name="adj" fmla="val 1839"/>
            </a:avLst>
          </a:prstGeom>
          <a:solidFill>
            <a:srgbClr val="1C7293"/>
          </a:solidFill>
          <a:ln/>
        </p:spPr>
        <p:txBody>
          <a:bodyPr/>
          <a:lstStyle/>
          <a:p>
            <a:endParaRPr lang="es-AR"/>
          </a:p>
        </p:txBody>
      </p:sp>
      <p:sp>
        <p:nvSpPr>
          <p:cNvPr id="18" name="Text 16"/>
          <p:cNvSpPr/>
          <p:nvPr/>
        </p:nvSpPr>
        <p:spPr>
          <a:xfrm>
            <a:off x="6492240" y="2029968"/>
            <a:ext cx="5120640" cy="365760"/>
          </a:xfrm>
          <a:prstGeom prst="rect">
            <a:avLst/>
          </a:prstGeom>
          <a:no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Fluent API</a:t>
            </a:r>
            <a:endParaRPr lang="en-US" sz="1650" dirty="0"/>
          </a:p>
        </p:txBody>
      </p:sp>
      <p:sp>
        <p:nvSpPr>
          <p:cNvPr id="19" name="Text 17"/>
          <p:cNvSpPr/>
          <p:nvPr/>
        </p:nvSpPr>
        <p:spPr>
          <a:xfrm>
            <a:off x="6492240" y="2395728"/>
            <a:ext cx="5120640" cy="32004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Configuración centralizada en el DbContext</a:t>
            </a:r>
            <a:endParaRPr lang="en-US" sz="1100" dirty="0"/>
          </a:p>
        </p:txBody>
      </p:sp>
      <p:sp>
        <p:nvSpPr>
          <p:cNvPr id="20" name="Shape 18"/>
          <p:cNvSpPr/>
          <p:nvPr/>
        </p:nvSpPr>
        <p:spPr>
          <a:xfrm>
            <a:off x="6766560" y="2834640"/>
            <a:ext cx="4572000" cy="1371600"/>
          </a:xfrm>
          <a:prstGeom prst="roundRect">
            <a:avLst>
              <a:gd name="adj" fmla="val 4000"/>
            </a:avLst>
          </a:prstGeom>
          <a:solidFill>
            <a:srgbClr val="132139"/>
          </a:solidFill>
          <a:ln/>
        </p:spPr>
        <p:txBody>
          <a:bodyPr/>
          <a:lstStyle/>
          <a:p>
            <a:endParaRPr lang="es-AR"/>
          </a:p>
        </p:txBody>
      </p:sp>
      <p:sp>
        <p:nvSpPr>
          <p:cNvPr id="21" name="Text 19"/>
          <p:cNvSpPr/>
          <p:nvPr/>
        </p:nvSpPr>
        <p:spPr>
          <a:xfrm>
            <a:off x="6949440" y="2944368"/>
            <a:ext cx="4206240" cy="192024"/>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modelBuilder.Entity&lt;Libro&gt;(e =&gt;</a:t>
            </a:r>
            <a:endParaRPr lang="en-US" sz="950" dirty="0"/>
          </a:p>
        </p:txBody>
      </p:sp>
      <p:sp>
        <p:nvSpPr>
          <p:cNvPr id="22" name="Text 20"/>
          <p:cNvSpPr/>
          <p:nvPr/>
        </p:nvSpPr>
        <p:spPr>
          <a:xfrm>
            <a:off x="6949440" y="3145536"/>
            <a:ext cx="4206240" cy="192024"/>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a:t>
            </a:r>
            <a:endParaRPr lang="en-US" sz="950" dirty="0"/>
          </a:p>
        </p:txBody>
      </p:sp>
      <p:sp>
        <p:nvSpPr>
          <p:cNvPr id="23" name="Text 21"/>
          <p:cNvSpPr/>
          <p:nvPr/>
        </p:nvSpPr>
        <p:spPr>
          <a:xfrm>
            <a:off x="6949440" y="3346704"/>
            <a:ext cx="4206240" cy="192024"/>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e.Property(l =&gt; l.Titulo)</a:t>
            </a:r>
            <a:endParaRPr lang="en-US" sz="950" dirty="0"/>
          </a:p>
        </p:txBody>
      </p:sp>
      <p:sp>
        <p:nvSpPr>
          <p:cNvPr id="24" name="Text 22"/>
          <p:cNvSpPr/>
          <p:nvPr/>
        </p:nvSpPr>
        <p:spPr>
          <a:xfrm>
            <a:off x="6949440" y="3547872"/>
            <a:ext cx="4206240" cy="192024"/>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.IsRequired()</a:t>
            </a:r>
            <a:endParaRPr lang="en-US" sz="950" dirty="0"/>
          </a:p>
        </p:txBody>
      </p:sp>
      <p:sp>
        <p:nvSpPr>
          <p:cNvPr id="25" name="Text 23"/>
          <p:cNvSpPr/>
          <p:nvPr/>
        </p:nvSpPr>
        <p:spPr>
          <a:xfrm>
            <a:off x="6949440" y="3749040"/>
            <a:ext cx="4206240" cy="192024"/>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    .HasMaxLength(200);</a:t>
            </a:r>
            <a:endParaRPr lang="en-US" sz="950" dirty="0"/>
          </a:p>
        </p:txBody>
      </p:sp>
      <p:sp>
        <p:nvSpPr>
          <p:cNvPr id="26" name="Text 24"/>
          <p:cNvSpPr/>
          <p:nvPr/>
        </p:nvSpPr>
        <p:spPr>
          <a:xfrm>
            <a:off x="6949440" y="3950208"/>
            <a:ext cx="4206240" cy="192024"/>
          </a:xfrm>
          <a:prstGeom prst="rect">
            <a:avLst/>
          </a:prstGeom>
          <a:noFill/>
          <a:ln/>
        </p:spPr>
        <p:txBody>
          <a:bodyPr wrap="square" lIns="0" tIns="0" rIns="0" bIns="0" rtlCol="0" anchor="ctr"/>
          <a:lstStyle/>
          <a:p>
            <a:pPr marL="0" indent="0" algn="l">
              <a:buNone/>
            </a:pPr>
            <a:r>
              <a:rPr lang="en-US" sz="950" dirty="0">
                <a:solidFill>
                  <a:srgbClr val="8FD694"/>
                </a:solidFill>
                <a:latin typeface="Courier New" pitchFamily="34" charset="0"/>
                <a:ea typeface="Courier New" pitchFamily="34" charset="-122"/>
                <a:cs typeface="Courier New" pitchFamily="34" charset="-120"/>
              </a:rPr>
              <a:t>});</a:t>
            </a:r>
            <a:endParaRPr lang="en-US" sz="950" dirty="0"/>
          </a:p>
        </p:txBody>
      </p:sp>
      <p:sp>
        <p:nvSpPr>
          <p:cNvPr id="27" name="Text 25"/>
          <p:cNvSpPr/>
          <p:nvPr/>
        </p:nvSpPr>
        <p:spPr>
          <a:xfrm>
            <a:off x="6766560" y="4343400"/>
            <a:ext cx="4572000" cy="1280160"/>
          </a:xfrm>
          <a:prstGeom prst="rect">
            <a:avLst/>
          </a:prstGeom>
          <a:noFill/>
          <a:ln/>
        </p:spPr>
        <p:txBody>
          <a:bodyPr wrap="square" lIns="0" tIns="0" rIns="0" bIns="0" rtlCol="0" anchor="ctr"/>
          <a:lstStyle/>
          <a:p>
            <a:pPr marL="0" indent="0" algn="l">
              <a:buNone/>
            </a:pPr>
            <a:r>
              <a:rPr lang="en-US" sz="1100" dirty="0">
                <a:solidFill>
                  <a:srgbClr val="EAF3F8"/>
                </a:solidFill>
                <a:latin typeface="Calibri" pitchFamily="34" charset="0"/>
                <a:ea typeface="Calibri" pitchFamily="34" charset="-122"/>
                <a:cs typeface="Calibri" pitchFamily="34" charset="-120"/>
              </a:rPr>
              <a:t>Más verboso, pero con mucho más poder: relaciones complejas, índices, restricciones — y las entidades quedan limpias.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Fluent API en profundidad</a:t>
            </a:r>
            <a:endParaRPr lang="en-US" sz="3000" dirty="0"/>
          </a:p>
        </p:txBody>
      </p:sp>
      <p:sp>
        <p:nvSpPr>
          <p:cNvPr id="3" name="Text 1"/>
          <p:cNvSpPr/>
          <p:nvPr/>
        </p:nvSpPr>
        <p:spPr>
          <a:xfrm>
            <a:off x="548640" y="1024128"/>
            <a:ext cx="11091672" cy="365760"/>
          </a:xfrm>
          <a:prstGeom prst="rect">
            <a:avLst/>
          </a:prstGeom>
          <a:noFill/>
          <a:ln/>
        </p:spPr>
        <p:txBody>
          <a:bodyPr wrap="square" lIns="0" tIns="0" rIns="0" bIns="0" rtlCol="0" anchor="ctr"/>
          <a:lstStyle/>
          <a:p>
            <a:pPr marL="0" indent="0" algn="l">
              <a:buNone/>
            </a:pPr>
            <a:r>
              <a:rPr lang="en-US" sz="1400" i="1" dirty="0">
                <a:solidFill>
                  <a:srgbClr val="1C7293"/>
                </a:solidFill>
                <a:latin typeface="Calibri" pitchFamily="34" charset="0"/>
                <a:ea typeface="Calibri" pitchFamily="34" charset="-122"/>
                <a:cs typeface="Calibri" pitchFamily="34" charset="-120"/>
              </a:rPr>
              <a:t>Todo se configura dentro de OnModelCreating</a:t>
            </a:r>
            <a:endParaRPr lang="en-US" sz="1400" dirty="0"/>
          </a:p>
        </p:txBody>
      </p:sp>
      <p:sp>
        <p:nvSpPr>
          <p:cNvPr id="4" name="Shape 2"/>
          <p:cNvSpPr/>
          <p:nvPr/>
        </p:nvSpPr>
        <p:spPr>
          <a:xfrm>
            <a:off x="548640" y="1828800"/>
            <a:ext cx="6126480" cy="4023360"/>
          </a:xfrm>
          <a:prstGeom prst="roundRect">
            <a:avLst>
              <a:gd name="adj" fmla="val 1818"/>
            </a:avLst>
          </a:prstGeom>
          <a:solidFill>
            <a:srgbClr val="132139"/>
          </a:solidFill>
          <a:ln/>
        </p:spPr>
        <p:txBody>
          <a:bodyPr/>
          <a:lstStyle/>
          <a:p>
            <a:endParaRPr lang="es-AR"/>
          </a:p>
        </p:txBody>
      </p:sp>
      <p:sp>
        <p:nvSpPr>
          <p:cNvPr id="5" name="Text 3"/>
          <p:cNvSpPr/>
          <p:nvPr/>
        </p:nvSpPr>
        <p:spPr>
          <a:xfrm>
            <a:off x="822960" y="2029968"/>
            <a:ext cx="5577840" cy="219456"/>
          </a:xfrm>
          <a:prstGeom prst="rect">
            <a:avLst/>
          </a:prstGeom>
          <a:noFill/>
          <a:ln/>
        </p:spPr>
        <p:txBody>
          <a:bodyPr wrap="square" lIns="0" tIns="0" rIns="0" bIns="0" rtlCol="0" anchor="ctr"/>
          <a:lstStyle/>
          <a:p>
            <a:pPr marL="0" indent="0" algn="l">
              <a:buNone/>
            </a:pPr>
            <a:r>
              <a:rPr lang="en-US" sz="1050" dirty="0">
                <a:solidFill>
                  <a:srgbClr val="8FC7E8"/>
                </a:solidFill>
                <a:latin typeface="Courier New" pitchFamily="34" charset="0"/>
                <a:ea typeface="Courier New" pitchFamily="34" charset="-122"/>
                <a:cs typeface="Courier New" pitchFamily="34" charset="-120"/>
              </a:rPr>
              <a:t>protected override void</a:t>
            </a:r>
            <a:endParaRPr lang="en-US" sz="1050" dirty="0"/>
          </a:p>
        </p:txBody>
      </p:sp>
      <p:sp>
        <p:nvSpPr>
          <p:cNvPr id="6" name="Text 4"/>
          <p:cNvSpPr/>
          <p:nvPr/>
        </p:nvSpPr>
        <p:spPr>
          <a:xfrm>
            <a:off x="822960" y="2258568"/>
            <a:ext cx="5577840" cy="219456"/>
          </a:xfrm>
          <a:prstGeom prst="rect">
            <a:avLst/>
          </a:prstGeom>
          <a:noFill/>
          <a:ln/>
        </p:spPr>
        <p:txBody>
          <a:bodyPr wrap="square" lIns="0" tIns="0" rIns="0" bIns="0" rtlCol="0" anchor="ctr"/>
          <a:lstStyle/>
          <a:p>
            <a:pPr marL="0" indent="0" algn="l">
              <a:buNone/>
            </a:pPr>
            <a:r>
              <a:rPr lang="en-US" sz="1050" dirty="0">
                <a:solidFill>
                  <a:srgbClr val="8FC7E8"/>
                </a:solidFill>
                <a:latin typeface="Courier New" pitchFamily="34" charset="0"/>
                <a:ea typeface="Courier New" pitchFamily="34" charset="-122"/>
                <a:cs typeface="Courier New" pitchFamily="34" charset="-120"/>
              </a:rPr>
              <a:t>  OnModelCreating(ModelBuilder mb)</a:t>
            </a:r>
            <a:endParaRPr lang="en-US" sz="1050" dirty="0"/>
          </a:p>
        </p:txBody>
      </p:sp>
      <p:sp>
        <p:nvSpPr>
          <p:cNvPr id="7" name="Text 5"/>
          <p:cNvSpPr/>
          <p:nvPr/>
        </p:nvSpPr>
        <p:spPr>
          <a:xfrm>
            <a:off x="822960" y="2487168"/>
            <a:ext cx="557784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a:t>
            </a:r>
            <a:endParaRPr lang="en-US" sz="1050" dirty="0"/>
          </a:p>
        </p:txBody>
      </p:sp>
      <p:sp>
        <p:nvSpPr>
          <p:cNvPr id="8" name="Text 6"/>
          <p:cNvSpPr/>
          <p:nvPr/>
        </p:nvSpPr>
        <p:spPr>
          <a:xfrm>
            <a:off x="822960" y="2715768"/>
            <a:ext cx="557784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mb.Entity&lt;Libro&gt;(e =&gt;</a:t>
            </a:r>
            <a:endParaRPr lang="en-US" sz="1050" dirty="0"/>
          </a:p>
        </p:txBody>
      </p:sp>
      <p:sp>
        <p:nvSpPr>
          <p:cNvPr id="9" name="Text 7"/>
          <p:cNvSpPr/>
          <p:nvPr/>
        </p:nvSpPr>
        <p:spPr>
          <a:xfrm>
            <a:off x="822960" y="2944368"/>
            <a:ext cx="557784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a:t>
            </a:r>
            <a:endParaRPr lang="en-US" sz="1050" dirty="0"/>
          </a:p>
        </p:txBody>
      </p:sp>
      <p:sp>
        <p:nvSpPr>
          <p:cNvPr id="10" name="Text 8"/>
          <p:cNvSpPr/>
          <p:nvPr/>
        </p:nvSpPr>
        <p:spPr>
          <a:xfrm>
            <a:off x="822960" y="3172968"/>
            <a:ext cx="557784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e.ToTable("Libros");</a:t>
            </a:r>
            <a:endParaRPr lang="en-US" sz="1050" dirty="0"/>
          </a:p>
        </p:txBody>
      </p:sp>
      <p:sp>
        <p:nvSpPr>
          <p:cNvPr id="11" name="Text 9"/>
          <p:cNvSpPr/>
          <p:nvPr/>
        </p:nvSpPr>
        <p:spPr>
          <a:xfrm>
            <a:off x="822960" y="3401568"/>
            <a:ext cx="557784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e.HasKey(l =&gt; l.Id);</a:t>
            </a:r>
            <a:endParaRPr lang="en-US" sz="1050" dirty="0"/>
          </a:p>
        </p:txBody>
      </p:sp>
      <p:sp>
        <p:nvSpPr>
          <p:cNvPr id="12" name="Text 10"/>
          <p:cNvSpPr/>
          <p:nvPr/>
        </p:nvSpPr>
        <p:spPr>
          <a:xfrm>
            <a:off x="822960" y="3630168"/>
            <a:ext cx="5577840" cy="219456"/>
          </a:xfrm>
          <a:prstGeom prst="rect">
            <a:avLst/>
          </a:prstGeom>
          <a:noFill/>
          <a:ln/>
        </p:spPr>
        <p:txBody>
          <a:bodyPr wrap="square" lIns="0" tIns="0" rIns="0" bIns="0" rtlCol="0" anchor="ctr"/>
          <a:lstStyle/>
          <a:p>
            <a:pPr marL="0" indent="0" algn="l">
              <a:buNone/>
            </a:pPr>
            <a:endParaRPr lang="en-US" sz="1050" dirty="0"/>
          </a:p>
        </p:txBody>
      </p:sp>
      <p:sp>
        <p:nvSpPr>
          <p:cNvPr id="13" name="Text 11"/>
          <p:cNvSpPr/>
          <p:nvPr/>
        </p:nvSpPr>
        <p:spPr>
          <a:xfrm>
            <a:off x="822960" y="3858768"/>
            <a:ext cx="557784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e.HasOne(l =&gt; l.Autor)</a:t>
            </a:r>
            <a:endParaRPr lang="en-US" sz="1050" dirty="0"/>
          </a:p>
        </p:txBody>
      </p:sp>
      <p:sp>
        <p:nvSpPr>
          <p:cNvPr id="14" name="Text 12"/>
          <p:cNvSpPr/>
          <p:nvPr/>
        </p:nvSpPr>
        <p:spPr>
          <a:xfrm>
            <a:off x="822960" y="4087368"/>
            <a:ext cx="557784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.WithMany(a =&gt; a.Libros)</a:t>
            </a:r>
            <a:endParaRPr lang="en-US" sz="1050" dirty="0"/>
          </a:p>
        </p:txBody>
      </p:sp>
      <p:sp>
        <p:nvSpPr>
          <p:cNvPr id="15" name="Text 13"/>
          <p:cNvSpPr/>
          <p:nvPr/>
        </p:nvSpPr>
        <p:spPr>
          <a:xfrm>
            <a:off x="822960" y="4315968"/>
            <a:ext cx="557784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.HasForeignKey(l =&gt; l.AutorId);</a:t>
            </a:r>
            <a:endParaRPr lang="en-US" sz="1050" dirty="0"/>
          </a:p>
        </p:txBody>
      </p:sp>
      <p:sp>
        <p:nvSpPr>
          <p:cNvPr id="16" name="Text 14"/>
          <p:cNvSpPr/>
          <p:nvPr/>
        </p:nvSpPr>
        <p:spPr>
          <a:xfrm>
            <a:off x="822960" y="4544568"/>
            <a:ext cx="5577840" cy="219456"/>
          </a:xfrm>
          <a:prstGeom prst="rect">
            <a:avLst/>
          </a:prstGeom>
          <a:noFill/>
          <a:ln/>
        </p:spPr>
        <p:txBody>
          <a:bodyPr wrap="square" lIns="0" tIns="0" rIns="0" bIns="0" rtlCol="0" anchor="ctr"/>
          <a:lstStyle/>
          <a:p>
            <a:pPr marL="0" indent="0" algn="l">
              <a:buNone/>
            </a:pPr>
            <a:endParaRPr lang="en-US" sz="1050" dirty="0"/>
          </a:p>
        </p:txBody>
      </p:sp>
      <p:sp>
        <p:nvSpPr>
          <p:cNvPr id="17" name="Text 15"/>
          <p:cNvSpPr/>
          <p:nvPr/>
        </p:nvSpPr>
        <p:spPr>
          <a:xfrm>
            <a:off x="822960" y="4773168"/>
            <a:ext cx="557784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e.HasIndex(l =&gt; l.Titulo)</a:t>
            </a:r>
            <a:endParaRPr lang="en-US" sz="1050" dirty="0"/>
          </a:p>
        </p:txBody>
      </p:sp>
      <p:sp>
        <p:nvSpPr>
          <p:cNvPr id="18" name="Text 16"/>
          <p:cNvSpPr/>
          <p:nvPr/>
        </p:nvSpPr>
        <p:spPr>
          <a:xfrm>
            <a:off x="822960" y="5001768"/>
            <a:ext cx="5577840" cy="219456"/>
          </a:xfrm>
          <a:prstGeom prst="rect">
            <a:avLst/>
          </a:prstGeom>
          <a:noFill/>
          <a:ln/>
        </p:spPr>
        <p:txBody>
          <a:bodyPr wrap="square" lIns="0" tIns="0" rIns="0" bIns="0" rtlCol="0" anchor="ctr"/>
          <a:lstStyle/>
          <a:p>
            <a:pPr marL="0" indent="0" algn="l">
              <a:buNone/>
            </a:pPr>
            <a:r>
              <a:rPr lang="en-US" sz="1050" dirty="0">
                <a:solidFill>
                  <a:srgbClr val="8FD694"/>
                </a:solidFill>
                <a:latin typeface="Courier New" pitchFamily="34" charset="0"/>
                <a:ea typeface="Courier New" pitchFamily="34" charset="-122"/>
                <a:cs typeface="Courier New" pitchFamily="34" charset="-120"/>
              </a:rPr>
              <a:t>     .IsUnique();</a:t>
            </a:r>
            <a:endParaRPr lang="en-US" sz="1050" dirty="0"/>
          </a:p>
        </p:txBody>
      </p:sp>
      <p:sp>
        <p:nvSpPr>
          <p:cNvPr id="19" name="Text 17"/>
          <p:cNvSpPr/>
          <p:nvPr/>
        </p:nvSpPr>
        <p:spPr>
          <a:xfrm>
            <a:off x="822960" y="5230368"/>
            <a:ext cx="557784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  });</a:t>
            </a:r>
            <a:endParaRPr lang="en-US" sz="1050" dirty="0"/>
          </a:p>
        </p:txBody>
      </p:sp>
      <p:sp>
        <p:nvSpPr>
          <p:cNvPr id="20" name="Text 18"/>
          <p:cNvSpPr/>
          <p:nvPr/>
        </p:nvSpPr>
        <p:spPr>
          <a:xfrm>
            <a:off x="822960" y="5458968"/>
            <a:ext cx="5577840" cy="219456"/>
          </a:xfrm>
          <a:prstGeom prst="rect">
            <a:avLst/>
          </a:prstGeom>
          <a:noFill/>
          <a:ln/>
        </p:spPr>
        <p:txBody>
          <a:bodyPr wrap="square" lIns="0" tIns="0" rIns="0" bIns="0" rtlCol="0" anchor="ctr"/>
          <a:lstStyle/>
          <a:p>
            <a:pPr marL="0" indent="0" algn="l">
              <a:buNone/>
            </a:pPr>
            <a:r>
              <a:rPr lang="en-US" sz="1050" dirty="0">
                <a:solidFill>
                  <a:srgbClr val="E8EEF2"/>
                </a:solidFill>
                <a:latin typeface="Courier New" pitchFamily="34" charset="0"/>
                <a:ea typeface="Courier New" pitchFamily="34" charset="-122"/>
                <a:cs typeface="Courier New" pitchFamily="34" charset="-120"/>
              </a:rPr>
              <a:t>}</a:t>
            </a:r>
            <a:endParaRPr lang="en-US" sz="1050" dirty="0"/>
          </a:p>
        </p:txBody>
      </p:sp>
      <p:sp>
        <p:nvSpPr>
          <p:cNvPr id="21" name="Shape 19"/>
          <p:cNvSpPr/>
          <p:nvPr/>
        </p:nvSpPr>
        <p:spPr>
          <a:xfrm>
            <a:off x="6903720" y="1874520"/>
            <a:ext cx="137160" cy="137160"/>
          </a:xfrm>
          <a:prstGeom prst="ellipse">
            <a:avLst/>
          </a:prstGeom>
          <a:solidFill>
            <a:srgbClr val="1C7293"/>
          </a:solidFill>
          <a:ln/>
        </p:spPr>
        <p:txBody>
          <a:bodyPr/>
          <a:lstStyle/>
          <a:p>
            <a:endParaRPr lang="es-AR"/>
          </a:p>
        </p:txBody>
      </p:sp>
      <p:sp>
        <p:nvSpPr>
          <p:cNvPr id="22" name="Text 20"/>
          <p:cNvSpPr/>
          <p:nvPr/>
        </p:nvSpPr>
        <p:spPr>
          <a:xfrm>
            <a:off x="7178040" y="1773936"/>
            <a:ext cx="4480560" cy="292608"/>
          </a:xfrm>
          <a:prstGeom prst="rect">
            <a:avLst/>
          </a:prstGeom>
          <a:noFill/>
          <a:ln/>
        </p:spPr>
        <p:txBody>
          <a:bodyPr wrap="square" lIns="0" tIns="0" rIns="0" bIns="0" rtlCol="0" anchor="ctr"/>
          <a:lstStyle/>
          <a:p>
            <a:pPr marL="0" indent="0" algn="l">
              <a:buNone/>
            </a:pPr>
            <a:r>
              <a:rPr lang="en-US" sz="1200" b="1" dirty="0">
                <a:solidFill>
                  <a:srgbClr val="065A82"/>
                </a:solidFill>
                <a:latin typeface="Courier New" pitchFamily="34" charset="0"/>
                <a:ea typeface="Courier New" pitchFamily="34" charset="-122"/>
                <a:cs typeface="Courier New" pitchFamily="34" charset="-120"/>
              </a:rPr>
              <a:t>ToTable(...)</a:t>
            </a:r>
            <a:endParaRPr lang="en-US" sz="1200" dirty="0"/>
          </a:p>
        </p:txBody>
      </p:sp>
      <p:sp>
        <p:nvSpPr>
          <p:cNvPr id="23" name="Text 21"/>
          <p:cNvSpPr/>
          <p:nvPr/>
        </p:nvSpPr>
        <p:spPr>
          <a:xfrm>
            <a:off x="7178040" y="2048256"/>
            <a:ext cx="4480560" cy="457200"/>
          </a:xfrm>
          <a:prstGeom prst="rect">
            <a:avLst/>
          </a:prstGeom>
          <a:noFill/>
          <a:ln/>
        </p:spPr>
        <p:txBody>
          <a:bodyPr wrap="square" lIns="0" tIns="0" rIns="0" bIns="0"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Fija el nombre de la tabla en la base de datos.</a:t>
            </a:r>
            <a:endParaRPr lang="en-US" sz="1000" dirty="0"/>
          </a:p>
        </p:txBody>
      </p:sp>
      <p:sp>
        <p:nvSpPr>
          <p:cNvPr id="24" name="Shape 22"/>
          <p:cNvSpPr/>
          <p:nvPr/>
        </p:nvSpPr>
        <p:spPr>
          <a:xfrm>
            <a:off x="6903720" y="2651760"/>
            <a:ext cx="137160" cy="137160"/>
          </a:xfrm>
          <a:prstGeom prst="ellipse">
            <a:avLst/>
          </a:prstGeom>
          <a:solidFill>
            <a:srgbClr val="1C7293"/>
          </a:solidFill>
          <a:ln/>
        </p:spPr>
        <p:txBody>
          <a:bodyPr/>
          <a:lstStyle/>
          <a:p>
            <a:endParaRPr lang="es-AR"/>
          </a:p>
        </p:txBody>
      </p:sp>
      <p:sp>
        <p:nvSpPr>
          <p:cNvPr id="25" name="Text 23"/>
          <p:cNvSpPr/>
          <p:nvPr/>
        </p:nvSpPr>
        <p:spPr>
          <a:xfrm>
            <a:off x="7178040" y="2551176"/>
            <a:ext cx="4480560" cy="292608"/>
          </a:xfrm>
          <a:prstGeom prst="rect">
            <a:avLst/>
          </a:prstGeom>
          <a:noFill/>
          <a:ln/>
        </p:spPr>
        <p:txBody>
          <a:bodyPr wrap="square" lIns="0" tIns="0" rIns="0" bIns="0" rtlCol="0" anchor="ctr"/>
          <a:lstStyle/>
          <a:p>
            <a:pPr marL="0" indent="0" algn="l">
              <a:buNone/>
            </a:pPr>
            <a:r>
              <a:rPr lang="en-US" sz="1200" b="1" dirty="0">
                <a:solidFill>
                  <a:srgbClr val="065A82"/>
                </a:solidFill>
                <a:latin typeface="Courier New" pitchFamily="34" charset="0"/>
                <a:ea typeface="Courier New" pitchFamily="34" charset="-122"/>
                <a:cs typeface="Courier New" pitchFamily="34" charset="-120"/>
              </a:rPr>
              <a:t>HasKey(...)</a:t>
            </a:r>
            <a:endParaRPr lang="en-US" sz="1200" dirty="0"/>
          </a:p>
        </p:txBody>
      </p:sp>
      <p:sp>
        <p:nvSpPr>
          <p:cNvPr id="26" name="Text 24"/>
          <p:cNvSpPr/>
          <p:nvPr/>
        </p:nvSpPr>
        <p:spPr>
          <a:xfrm>
            <a:off x="7178040" y="2825496"/>
            <a:ext cx="4480560" cy="457200"/>
          </a:xfrm>
          <a:prstGeom prst="rect">
            <a:avLst/>
          </a:prstGeom>
          <a:noFill/>
          <a:ln/>
        </p:spPr>
        <p:txBody>
          <a:bodyPr wrap="square" lIns="0" tIns="0" rIns="0" bIns="0"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Define (o redefine) la clave primaria.</a:t>
            </a:r>
            <a:endParaRPr lang="en-US" sz="1000" dirty="0"/>
          </a:p>
        </p:txBody>
      </p:sp>
      <p:sp>
        <p:nvSpPr>
          <p:cNvPr id="27" name="Shape 25"/>
          <p:cNvSpPr/>
          <p:nvPr/>
        </p:nvSpPr>
        <p:spPr>
          <a:xfrm>
            <a:off x="6903720" y="3429000"/>
            <a:ext cx="137160" cy="137160"/>
          </a:xfrm>
          <a:prstGeom prst="ellipse">
            <a:avLst/>
          </a:prstGeom>
          <a:solidFill>
            <a:srgbClr val="1C7293"/>
          </a:solidFill>
          <a:ln/>
        </p:spPr>
        <p:txBody>
          <a:bodyPr/>
          <a:lstStyle/>
          <a:p>
            <a:endParaRPr lang="es-AR"/>
          </a:p>
        </p:txBody>
      </p:sp>
      <p:sp>
        <p:nvSpPr>
          <p:cNvPr id="28" name="Text 26"/>
          <p:cNvSpPr/>
          <p:nvPr/>
        </p:nvSpPr>
        <p:spPr>
          <a:xfrm>
            <a:off x="7178040" y="3328416"/>
            <a:ext cx="4480560" cy="292608"/>
          </a:xfrm>
          <a:prstGeom prst="rect">
            <a:avLst/>
          </a:prstGeom>
          <a:noFill/>
          <a:ln/>
        </p:spPr>
        <p:txBody>
          <a:bodyPr wrap="square" lIns="0" tIns="0" rIns="0" bIns="0" rtlCol="0" anchor="ctr"/>
          <a:lstStyle/>
          <a:p>
            <a:pPr marL="0" indent="0" algn="l">
              <a:buNone/>
            </a:pPr>
            <a:r>
              <a:rPr lang="en-US" sz="1200" b="1" dirty="0">
                <a:solidFill>
                  <a:srgbClr val="065A82"/>
                </a:solidFill>
                <a:latin typeface="Courier New" pitchFamily="34" charset="0"/>
                <a:ea typeface="Courier New" pitchFamily="34" charset="-122"/>
                <a:cs typeface="Courier New" pitchFamily="34" charset="-120"/>
              </a:rPr>
              <a:t>HasOne / WithMany</a:t>
            </a:r>
            <a:endParaRPr lang="en-US" sz="1200" dirty="0"/>
          </a:p>
        </p:txBody>
      </p:sp>
      <p:sp>
        <p:nvSpPr>
          <p:cNvPr id="29" name="Text 27"/>
          <p:cNvSpPr/>
          <p:nvPr/>
        </p:nvSpPr>
        <p:spPr>
          <a:xfrm>
            <a:off x="7178040" y="3602736"/>
            <a:ext cx="4480560" cy="457200"/>
          </a:xfrm>
          <a:prstGeom prst="rect">
            <a:avLst/>
          </a:prstGeom>
          <a:noFill/>
          <a:ln/>
        </p:spPr>
        <p:txBody>
          <a:bodyPr wrap="square" lIns="0" tIns="0" rIns="0" bIns="0"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Configura relaciones explícitamente, en ambos sentidos.</a:t>
            </a:r>
            <a:endParaRPr lang="en-US" sz="1000" dirty="0"/>
          </a:p>
        </p:txBody>
      </p:sp>
      <p:sp>
        <p:nvSpPr>
          <p:cNvPr id="30" name="Shape 28"/>
          <p:cNvSpPr/>
          <p:nvPr/>
        </p:nvSpPr>
        <p:spPr>
          <a:xfrm>
            <a:off x="6903720" y="4206240"/>
            <a:ext cx="137160" cy="137160"/>
          </a:xfrm>
          <a:prstGeom prst="ellipse">
            <a:avLst/>
          </a:prstGeom>
          <a:solidFill>
            <a:srgbClr val="1C7293"/>
          </a:solidFill>
          <a:ln/>
        </p:spPr>
        <p:txBody>
          <a:bodyPr/>
          <a:lstStyle/>
          <a:p>
            <a:endParaRPr lang="es-AR"/>
          </a:p>
        </p:txBody>
      </p:sp>
      <p:sp>
        <p:nvSpPr>
          <p:cNvPr id="31" name="Text 29"/>
          <p:cNvSpPr/>
          <p:nvPr/>
        </p:nvSpPr>
        <p:spPr>
          <a:xfrm>
            <a:off x="7178040" y="4105656"/>
            <a:ext cx="4480560" cy="292608"/>
          </a:xfrm>
          <a:prstGeom prst="rect">
            <a:avLst/>
          </a:prstGeom>
          <a:noFill/>
          <a:ln/>
        </p:spPr>
        <p:txBody>
          <a:bodyPr wrap="square" lIns="0" tIns="0" rIns="0" bIns="0" rtlCol="0" anchor="ctr"/>
          <a:lstStyle/>
          <a:p>
            <a:pPr marL="0" indent="0" algn="l">
              <a:buNone/>
            </a:pPr>
            <a:r>
              <a:rPr lang="en-US" sz="1200" b="1" dirty="0">
                <a:solidFill>
                  <a:srgbClr val="065A82"/>
                </a:solidFill>
                <a:latin typeface="Courier New" pitchFamily="34" charset="0"/>
                <a:ea typeface="Courier New" pitchFamily="34" charset="-122"/>
                <a:cs typeface="Courier New" pitchFamily="34" charset="-120"/>
              </a:rPr>
              <a:t>HasForeignKey(...)</a:t>
            </a:r>
            <a:endParaRPr lang="en-US" sz="1200" dirty="0"/>
          </a:p>
        </p:txBody>
      </p:sp>
      <p:sp>
        <p:nvSpPr>
          <p:cNvPr id="32" name="Text 30"/>
          <p:cNvSpPr/>
          <p:nvPr/>
        </p:nvSpPr>
        <p:spPr>
          <a:xfrm>
            <a:off x="7178040" y="4379976"/>
            <a:ext cx="4480560" cy="457200"/>
          </a:xfrm>
          <a:prstGeom prst="rect">
            <a:avLst/>
          </a:prstGeom>
          <a:noFill/>
          <a:ln/>
        </p:spPr>
        <p:txBody>
          <a:bodyPr wrap="square" lIns="0" tIns="0" rIns="0" bIns="0"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Indica qué propiedad actúa como clave foránea.</a:t>
            </a:r>
            <a:endParaRPr lang="en-US" sz="1000" dirty="0"/>
          </a:p>
        </p:txBody>
      </p:sp>
      <p:sp>
        <p:nvSpPr>
          <p:cNvPr id="33" name="Shape 31"/>
          <p:cNvSpPr/>
          <p:nvPr/>
        </p:nvSpPr>
        <p:spPr>
          <a:xfrm>
            <a:off x="6903720" y="4983480"/>
            <a:ext cx="137160" cy="137160"/>
          </a:xfrm>
          <a:prstGeom prst="ellipse">
            <a:avLst/>
          </a:prstGeom>
          <a:solidFill>
            <a:srgbClr val="1C7293"/>
          </a:solidFill>
          <a:ln/>
        </p:spPr>
        <p:txBody>
          <a:bodyPr/>
          <a:lstStyle/>
          <a:p>
            <a:endParaRPr lang="es-AR"/>
          </a:p>
        </p:txBody>
      </p:sp>
      <p:sp>
        <p:nvSpPr>
          <p:cNvPr id="34" name="Text 32"/>
          <p:cNvSpPr/>
          <p:nvPr/>
        </p:nvSpPr>
        <p:spPr>
          <a:xfrm>
            <a:off x="7178040" y="4882896"/>
            <a:ext cx="4480560" cy="292608"/>
          </a:xfrm>
          <a:prstGeom prst="rect">
            <a:avLst/>
          </a:prstGeom>
          <a:noFill/>
          <a:ln/>
        </p:spPr>
        <p:txBody>
          <a:bodyPr wrap="square" lIns="0" tIns="0" rIns="0" bIns="0" rtlCol="0" anchor="ctr"/>
          <a:lstStyle/>
          <a:p>
            <a:pPr marL="0" indent="0" algn="l">
              <a:buNone/>
            </a:pPr>
            <a:r>
              <a:rPr lang="en-US" sz="1200" b="1" dirty="0">
                <a:solidFill>
                  <a:srgbClr val="065A82"/>
                </a:solidFill>
                <a:latin typeface="Courier New" pitchFamily="34" charset="0"/>
                <a:ea typeface="Courier New" pitchFamily="34" charset="-122"/>
                <a:cs typeface="Courier New" pitchFamily="34" charset="-120"/>
              </a:rPr>
              <a:t>HasIndex(...).IsUnique()</a:t>
            </a:r>
            <a:endParaRPr lang="en-US" sz="1200" dirty="0"/>
          </a:p>
        </p:txBody>
      </p:sp>
      <p:sp>
        <p:nvSpPr>
          <p:cNvPr id="35" name="Text 33"/>
          <p:cNvSpPr/>
          <p:nvPr/>
        </p:nvSpPr>
        <p:spPr>
          <a:xfrm>
            <a:off x="7178040" y="5157216"/>
            <a:ext cx="4480560" cy="457200"/>
          </a:xfrm>
          <a:prstGeom prst="rect">
            <a:avLst/>
          </a:prstGeom>
          <a:noFill/>
          <a:ln/>
        </p:spPr>
        <p:txBody>
          <a:bodyPr wrap="square" lIns="0" tIns="0" rIns="0" bIns="0"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Crea índices y restricciones de unicidad.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Code First</a:t>
            </a:r>
            <a:endParaRPr lang="en-US" sz="3000" dirty="0"/>
          </a:p>
        </p:txBody>
      </p:sp>
      <p:sp>
        <p:nvSpPr>
          <p:cNvPr id="3" name="Text 1"/>
          <p:cNvSpPr/>
          <p:nvPr/>
        </p:nvSpPr>
        <p:spPr>
          <a:xfrm>
            <a:off x="548640" y="1024128"/>
            <a:ext cx="11091672" cy="365760"/>
          </a:xfrm>
          <a:prstGeom prst="rect">
            <a:avLst/>
          </a:prstGeom>
          <a:noFill/>
          <a:ln/>
        </p:spPr>
        <p:txBody>
          <a:bodyPr wrap="square" lIns="0" tIns="0" rIns="0" bIns="0" rtlCol="0" anchor="ctr"/>
          <a:lstStyle/>
          <a:p>
            <a:pPr marL="0" indent="0" algn="l">
              <a:buNone/>
            </a:pPr>
            <a:r>
              <a:rPr lang="en-US" sz="1400" i="1" dirty="0">
                <a:solidFill>
                  <a:srgbClr val="1C7293"/>
                </a:solidFill>
                <a:latin typeface="Calibri" pitchFamily="34" charset="0"/>
                <a:ea typeface="Calibri" pitchFamily="34" charset="-122"/>
                <a:cs typeface="Calibri" pitchFamily="34" charset="-120"/>
              </a:rPr>
              <a:t>De las clases en C# a un esquema de base de datos versionado</a:t>
            </a:r>
            <a:endParaRPr lang="en-US" sz="1400" dirty="0"/>
          </a:p>
        </p:txBody>
      </p:sp>
      <p:sp>
        <p:nvSpPr>
          <p:cNvPr id="4" name="Shape 2"/>
          <p:cNvSpPr/>
          <p:nvPr/>
        </p:nvSpPr>
        <p:spPr>
          <a:xfrm>
            <a:off x="548640" y="1965960"/>
            <a:ext cx="2697480" cy="2651760"/>
          </a:xfrm>
          <a:prstGeom prst="roundRect">
            <a:avLst>
              <a:gd name="adj" fmla="val 2759"/>
            </a:avLst>
          </a:prstGeom>
          <a:solidFill>
            <a:srgbClr val="065A82"/>
          </a:solidFill>
          <a:ln/>
        </p:spPr>
        <p:txBody>
          <a:bodyPr/>
          <a:lstStyle/>
          <a:p>
            <a:endParaRPr lang="es-AR"/>
          </a:p>
        </p:txBody>
      </p:sp>
      <p:sp>
        <p:nvSpPr>
          <p:cNvPr id="5" name="Text 3"/>
          <p:cNvSpPr/>
          <p:nvPr/>
        </p:nvSpPr>
        <p:spPr>
          <a:xfrm>
            <a:off x="73152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1. Definís las entidades</a:t>
            </a:r>
            <a:endParaRPr lang="en-US" sz="1300" dirty="0"/>
          </a:p>
        </p:txBody>
      </p:sp>
      <p:sp>
        <p:nvSpPr>
          <p:cNvPr id="6" name="Text 4"/>
          <p:cNvSpPr/>
          <p:nvPr/>
        </p:nvSpPr>
        <p:spPr>
          <a:xfrm>
            <a:off x="73152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Escribís las clases POCO y, si hace falta, las configurás con Fluent API.</a:t>
            </a:r>
            <a:endParaRPr lang="en-US" sz="1000" dirty="0"/>
          </a:p>
        </p:txBody>
      </p:sp>
      <p:sp>
        <p:nvSpPr>
          <p:cNvPr id="7" name="Shape 5"/>
          <p:cNvSpPr/>
          <p:nvPr/>
        </p:nvSpPr>
        <p:spPr>
          <a:xfrm>
            <a:off x="3429000" y="1965960"/>
            <a:ext cx="2697480" cy="2651760"/>
          </a:xfrm>
          <a:prstGeom prst="roundRect">
            <a:avLst>
              <a:gd name="adj" fmla="val 2759"/>
            </a:avLst>
          </a:prstGeom>
          <a:solidFill>
            <a:srgbClr val="1C7293"/>
          </a:solidFill>
          <a:ln/>
        </p:spPr>
        <p:txBody>
          <a:bodyPr/>
          <a:lstStyle/>
          <a:p>
            <a:endParaRPr lang="es-AR"/>
          </a:p>
        </p:txBody>
      </p:sp>
      <p:sp>
        <p:nvSpPr>
          <p:cNvPr id="8" name="Text 6"/>
          <p:cNvSpPr/>
          <p:nvPr/>
        </p:nvSpPr>
        <p:spPr>
          <a:xfrm>
            <a:off x="361188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2. Generás la migración</a:t>
            </a:r>
            <a:endParaRPr lang="en-US" sz="1300" dirty="0"/>
          </a:p>
        </p:txBody>
      </p:sp>
      <p:sp>
        <p:nvSpPr>
          <p:cNvPr id="9" name="Text 7"/>
          <p:cNvSpPr/>
          <p:nvPr/>
        </p:nvSpPr>
        <p:spPr>
          <a:xfrm>
            <a:off x="361188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dotnet ef migrations add NombreDescriptivo crea un archivo con los cambios.</a:t>
            </a:r>
            <a:endParaRPr lang="en-US" sz="1000" dirty="0"/>
          </a:p>
        </p:txBody>
      </p:sp>
      <p:sp>
        <p:nvSpPr>
          <p:cNvPr id="10" name="Shape 8"/>
          <p:cNvSpPr/>
          <p:nvPr/>
        </p:nvSpPr>
        <p:spPr>
          <a:xfrm>
            <a:off x="6309360" y="1965960"/>
            <a:ext cx="2697480" cy="2651760"/>
          </a:xfrm>
          <a:prstGeom prst="roundRect">
            <a:avLst>
              <a:gd name="adj" fmla="val 2759"/>
            </a:avLst>
          </a:prstGeom>
          <a:solidFill>
            <a:srgbClr val="065A82"/>
          </a:solidFill>
          <a:ln/>
        </p:spPr>
        <p:txBody>
          <a:bodyPr/>
          <a:lstStyle/>
          <a:p>
            <a:endParaRPr lang="es-AR"/>
          </a:p>
        </p:txBody>
      </p:sp>
      <p:sp>
        <p:nvSpPr>
          <p:cNvPr id="11" name="Text 9"/>
          <p:cNvSpPr/>
          <p:nvPr/>
        </p:nvSpPr>
        <p:spPr>
          <a:xfrm>
            <a:off x="649224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3. Revisás el código generado</a:t>
            </a:r>
            <a:endParaRPr lang="en-US" sz="1300" dirty="0"/>
          </a:p>
        </p:txBody>
      </p:sp>
      <p:sp>
        <p:nvSpPr>
          <p:cNvPr id="12" name="Text 10"/>
          <p:cNvSpPr/>
          <p:nvPr/>
        </p:nvSpPr>
        <p:spPr>
          <a:xfrm>
            <a:off x="649224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El archivo tiene métodos Up() y Down(): aplicar y revertir el cambio.</a:t>
            </a:r>
            <a:endParaRPr lang="en-US" sz="1000" dirty="0"/>
          </a:p>
        </p:txBody>
      </p:sp>
      <p:sp>
        <p:nvSpPr>
          <p:cNvPr id="13" name="Shape 11"/>
          <p:cNvSpPr/>
          <p:nvPr/>
        </p:nvSpPr>
        <p:spPr>
          <a:xfrm>
            <a:off x="9189720" y="1965960"/>
            <a:ext cx="2697480" cy="2651760"/>
          </a:xfrm>
          <a:prstGeom prst="roundRect">
            <a:avLst>
              <a:gd name="adj" fmla="val 2759"/>
            </a:avLst>
          </a:prstGeom>
          <a:solidFill>
            <a:srgbClr val="1C7293"/>
          </a:solidFill>
          <a:ln/>
        </p:spPr>
        <p:txBody>
          <a:bodyPr/>
          <a:lstStyle/>
          <a:p>
            <a:endParaRPr lang="es-AR"/>
          </a:p>
        </p:txBody>
      </p:sp>
      <p:sp>
        <p:nvSpPr>
          <p:cNvPr id="14" name="Text 12"/>
          <p:cNvSpPr/>
          <p:nvPr/>
        </p:nvSpPr>
        <p:spPr>
          <a:xfrm>
            <a:off x="937260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4. Aplicás a la base</a:t>
            </a:r>
            <a:endParaRPr lang="en-US" sz="1300" dirty="0"/>
          </a:p>
        </p:txBody>
      </p:sp>
      <p:sp>
        <p:nvSpPr>
          <p:cNvPr id="15" name="Text 13"/>
          <p:cNvSpPr/>
          <p:nvPr/>
        </p:nvSpPr>
        <p:spPr>
          <a:xfrm>
            <a:off x="937260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dotnet ef database update ejecuta las migraciones pendientes.</a:t>
            </a:r>
            <a:endParaRPr lang="en-US" sz="1000" dirty="0"/>
          </a:p>
        </p:txBody>
      </p:sp>
      <p:sp>
        <p:nvSpPr>
          <p:cNvPr id="16" name="Shape 14"/>
          <p:cNvSpPr/>
          <p:nvPr/>
        </p:nvSpPr>
        <p:spPr>
          <a:xfrm>
            <a:off x="548640" y="4846320"/>
            <a:ext cx="11091672" cy="960120"/>
          </a:xfrm>
          <a:prstGeom prst="roundRect">
            <a:avLst>
              <a:gd name="adj" fmla="val 7619"/>
            </a:avLst>
          </a:prstGeom>
          <a:solidFill>
            <a:srgbClr val="132139"/>
          </a:solidFill>
          <a:ln/>
        </p:spPr>
        <p:txBody>
          <a:bodyPr/>
          <a:lstStyle/>
          <a:p>
            <a:endParaRPr lang="es-AR"/>
          </a:p>
        </p:txBody>
      </p:sp>
      <p:sp>
        <p:nvSpPr>
          <p:cNvPr id="17" name="Text 15"/>
          <p:cNvSpPr/>
          <p:nvPr/>
        </p:nvSpPr>
        <p:spPr>
          <a:xfrm>
            <a:off x="822960" y="4983480"/>
            <a:ext cx="10543032" cy="320040"/>
          </a:xfrm>
          <a:prstGeom prst="rect">
            <a:avLst/>
          </a:prstGeom>
          <a:noFill/>
          <a:ln/>
        </p:spPr>
        <p:txBody>
          <a:bodyPr wrap="square" lIns="0" tIns="0" rIns="0" bIns="0" rtlCol="0" anchor="ctr"/>
          <a:lstStyle/>
          <a:p>
            <a:pPr marL="0" indent="0" algn="l">
              <a:buNone/>
            </a:pPr>
            <a:r>
              <a:rPr lang="en-US" sz="1250" dirty="0">
                <a:solidFill>
                  <a:srgbClr val="8FD694"/>
                </a:solidFill>
                <a:latin typeface="Courier New" pitchFamily="34" charset="0"/>
                <a:ea typeface="Courier New" pitchFamily="34" charset="-122"/>
                <a:cs typeface="Courier New" pitchFamily="34" charset="-120"/>
              </a:rPr>
              <a:t>Add-Migration </a:t>
            </a:r>
            <a:r>
              <a:rPr lang="en-US" sz="1250" dirty="0" err="1">
                <a:solidFill>
                  <a:srgbClr val="8FD694"/>
                </a:solidFill>
                <a:latin typeface="Courier New" pitchFamily="34" charset="0"/>
                <a:ea typeface="Courier New" pitchFamily="34" charset="-122"/>
                <a:cs typeface="Courier New" pitchFamily="34" charset="-120"/>
              </a:rPr>
              <a:t>CrearTablaLibros</a:t>
            </a:r>
            <a:endParaRPr lang="en-US" sz="1250" dirty="0"/>
          </a:p>
        </p:txBody>
      </p:sp>
      <p:sp>
        <p:nvSpPr>
          <p:cNvPr id="18" name="Text 16"/>
          <p:cNvSpPr/>
          <p:nvPr/>
        </p:nvSpPr>
        <p:spPr>
          <a:xfrm>
            <a:off x="822960" y="5349240"/>
            <a:ext cx="10543032" cy="320040"/>
          </a:xfrm>
          <a:prstGeom prst="rect">
            <a:avLst/>
          </a:prstGeom>
          <a:noFill/>
          <a:ln/>
        </p:spPr>
        <p:txBody>
          <a:bodyPr wrap="square" lIns="0" tIns="0" rIns="0" bIns="0" rtlCol="0" anchor="ctr"/>
          <a:lstStyle/>
          <a:p>
            <a:pPr marL="0" indent="0" algn="l">
              <a:buNone/>
            </a:pPr>
            <a:r>
              <a:rPr lang="en-US" sz="1250" dirty="0">
                <a:solidFill>
                  <a:srgbClr val="8FD694"/>
                </a:solidFill>
                <a:latin typeface="Courier New" pitchFamily="34" charset="0"/>
                <a:ea typeface="Courier New" pitchFamily="34" charset="-122"/>
                <a:cs typeface="Courier New" pitchFamily="34" charset="-120"/>
              </a:rPr>
              <a:t>Update-Database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Database First</a:t>
            </a:r>
            <a:endParaRPr lang="en-US" sz="3000" dirty="0"/>
          </a:p>
        </p:txBody>
      </p:sp>
      <p:sp>
        <p:nvSpPr>
          <p:cNvPr id="3" name="Text 1"/>
          <p:cNvSpPr/>
          <p:nvPr/>
        </p:nvSpPr>
        <p:spPr>
          <a:xfrm>
            <a:off x="548640" y="1024128"/>
            <a:ext cx="11091672" cy="365760"/>
          </a:xfrm>
          <a:prstGeom prst="rect">
            <a:avLst/>
          </a:prstGeom>
          <a:noFill/>
          <a:ln/>
        </p:spPr>
        <p:txBody>
          <a:bodyPr wrap="square" lIns="0" tIns="0" rIns="0" bIns="0" rtlCol="0" anchor="ctr"/>
          <a:lstStyle/>
          <a:p>
            <a:pPr marL="0" indent="0" algn="l">
              <a:buNone/>
            </a:pPr>
            <a:r>
              <a:rPr lang="en-US" sz="1400" i="1" dirty="0">
                <a:solidFill>
                  <a:srgbClr val="1C7293"/>
                </a:solidFill>
                <a:latin typeface="Calibri" pitchFamily="34" charset="0"/>
                <a:ea typeface="Calibri" pitchFamily="34" charset="-122"/>
                <a:cs typeface="Calibri" pitchFamily="34" charset="-120"/>
              </a:rPr>
              <a:t>De un esquema ya existente a las clases del modelo</a:t>
            </a:r>
            <a:endParaRPr lang="en-US" sz="1400" dirty="0"/>
          </a:p>
        </p:txBody>
      </p:sp>
      <p:sp>
        <p:nvSpPr>
          <p:cNvPr id="4" name="Shape 2"/>
          <p:cNvSpPr/>
          <p:nvPr/>
        </p:nvSpPr>
        <p:spPr>
          <a:xfrm>
            <a:off x="548640" y="1965960"/>
            <a:ext cx="2697480" cy="2651760"/>
          </a:xfrm>
          <a:prstGeom prst="roundRect">
            <a:avLst>
              <a:gd name="adj" fmla="val 2759"/>
            </a:avLst>
          </a:prstGeom>
          <a:solidFill>
            <a:srgbClr val="1C7293"/>
          </a:solidFill>
          <a:ln/>
        </p:spPr>
        <p:txBody>
          <a:bodyPr/>
          <a:lstStyle/>
          <a:p>
            <a:endParaRPr lang="es-AR"/>
          </a:p>
        </p:txBody>
      </p:sp>
      <p:sp>
        <p:nvSpPr>
          <p:cNvPr id="5" name="Text 3"/>
          <p:cNvSpPr/>
          <p:nvPr/>
        </p:nvSpPr>
        <p:spPr>
          <a:xfrm>
            <a:off x="73152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1. Partís de la base existente</a:t>
            </a:r>
            <a:endParaRPr lang="en-US" sz="1300" dirty="0"/>
          </a:p>
        </p:txBody>
      </p:sp>
      <p:sp>
        <p:nvSpPr>
          <p:cNvPr id="6" name="Text 4"/>
          <p:cNvSpPr/>
          <p:nvPr/>
        </p:nvSpPr>
        <p:spPr>
          <a:xfrm>
            <a:off x="73152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Ya hay tablas, relaciones y datos — no las creás vos.</a:t>
            </a:r>
            <a:endParaRPr lang="en-US" sz="1000" dirty="0"/>
          </a:p>
        </p:txBody>
      </p:sp>
      <p:sp>
        <p:nvSpPr>
          <p:cNvPr id="7" name="Shape 5"/>
          <p:cNvSpPr/>
          <p:nvPr/>
        </p:nvSpPr>
        <p:spPr>
          <a:xfrm>
            <a:off x="3429000" y="1965960"/>
            <a:ext cx="2697480" cy="2651760"/>
          </a:xfrm>
          <a:prstGeom prst="roundRect">
            <a:avLst>
              <a:gd name="adj" fmla="val 2759"/>
            </a:avLst>
          </a:prstGeom>
          <a:solidFill>
            <a:srgbClr val="065A82"/>
          </a:solidFill>
          <a:ln/>
        </p:spPr>
        <p:txBody>
          <a:bodyPr/>
          <a:lstStyle/>
          <a:p>
            <a:endParaRPr lang="es-AR"/>
          </a:p>
        </p:txBody>
      </p:sp>
      <p:sp>
        <p:nvSpPr>
          <p:cNvPr id="8" name="Text 6"/>
          <p:cNvSpPr/>
          <p:nvPr/>
        </p:nvSpPr>
        <p:spPr>
          <a:xfrm>
            <a:off x="361188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2. Instalás las herramientas</a:t>
            </a:r>
            <a:endParaRPr lang="en-US" sz="1300" dirty="0"/>
          </a:p>
        </p:txBody>
      </p:sp>
      <p:sp>
        <p:nvSpPr>
          <p:cNvPr id="9" name="Text 7"/>
          <p:cNvSpPr/>
          <p:nvPr/>
        </p:nvSpPr>
        <p:spPr>
          <a:xfrm>
            <a:off x="361188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Paquetes .Design y del proveedor correspondiente.</a:t>
            </a:r>
            <a:endParaRPr lang="en-US" sz="1000" dirty="0"/>
          </a:p>
        </p:txBody>
      </p:sp>
      <p:sp>
        <p:nvSpPr>
          <p:cNvPr id="10" name="Shape 8"/>
          <p:cNvSpPr/>
          <p:nvPr/>
        </p:nvSpPr>
        <p:spPr>
          <a:xfrm>
            <a:off x="6309360" y="1965960"/>
            <a:ext cx="2697480" cy="2651760"/>
          </a:xfrm>
          <a:prstGeom prst="roundRect">
            <a:avLst>
              <a:gd name="adj" fmla="val 2759"/>
            </a:avLst>
          </a:prstGeom>
          <a:solidFill>
            <a:srgbClr val="1C7293"/>
          </a:solidFill>
          <a:ln/>
        </p:spPr>
        <p:txBody>
          <a:bodyPr/>
          <a:lstStyle/>
          <a:p>
            <a:endParaRPr lang="es-AR"/>
          </a:p>
        </p:txBody>
      </p:sp>
      <p:sp>
        <p:nvSpPr>
          <p:cNvPr id="11" name="Text 9"/>
          <p:cNvSpPr/>
          <p:nvPr/>
        </p:nvSpPr>
        <p:spPr>
          <a:xfrm>
            <a:off x="649224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3. Corrés el scaffolding</a:t>
            </a:r>
            <a:endParaRPr lang="en-US" sz="1300" dirty="0"/>
          </a:p>
        </p:txBody>
      </p:sp>
      <p:sp>
        <p:nvSpPr>
          <p:cNvPr id="12" name="Text 10"/>
          <p:cNvSpPr/>
          <p:nvPr/>
        </p:nvSpPr>
        <p:spPr>
          <a:xfrm>
            <a:off x="649224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El comando inspecciona el esquema y genera clases + DbContext.</a:t>
            </a:r>
            <a:endParaRPr lang="en-US" sz="1000" dirty="0"/>
          </a:p>
        </p:txBody>
      </p:sp>
      <p:sp>
        <p:nvSpPr>
          <p:cNvPr id="13" name="Shape 11"/>
          <p:cNvSpPr/>
          <p:nvPr/>
        </p:nvSpPr>
        <p:spPr>
          <a:xfrm>
            <a:off x="9189720" y="1965960"/>
            <a:ext cx="2697480" cy="2651760"/>
          </a:xfrm>
          <a:prstGeom prst="roundRect">
            <a:avLst>
              <a:gd name="adj" fmla="val 2759"/>
            </a:avLst>
          </a:prstGeom>
          <a:solidFill>
            <a:srgbClr val="065A82"/>
          </a:solidFill>
          <a:ln/>
        </p:spPr>
        <p:txBody>
          <a:bodyPr/>
          <a:lstStyle/>
          <a:p>
            <a:endParaRPr lang="es-AR"/>
          </a:p>
        </p:txBody>
      </p:sp>
      <p:sp>
        <p:nvSpPr>
          <p:cNvPr id="14" name="Text 12"/>
          <p:cNvSpPr/>
          <p:nvPr/>
        </p:nvSpPr>
        <p:spPr>
          <a:xfrm>
            <a:off x="9372600" y="2167128"/>
            <a:ext cx="233172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4. Ajustás lo generado</a:t>
            </a:r>
            <a:endParaRPr lang="en-US" sz="1300" dirty="0"/>
          </a:p>
        </p:txBody>
      </p:sp>
      <p:sp>
        <p:nvSpPr>
          <p:cNvPr id="15" name="Text 13"/>
          <p:cNvSpPr/>
          <p:nvPr/>
        </p:nvSpPr>
        <p:spPr>
          <a:xfrm>
            <a:off x="9372600" y="2834640"/>
            <a:ext cx="2331720" cy="173736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Podés renombrar, mover archivos o completar con Fluent API.</a:t>
            </a:r>
            <a:endParaRPr lang="en-US" sz="1000" dirty="0"/>
          </a:p>
        </p:txBody>
      </p:sp>
      <p:sp>
        <p:nvSpPr>
          <p:cNvPr id="16" name="Shape 14"/>
          <p:cNvSpPr/>
          <p:nvPr/>
        </p:nvSpPr>
        <p:spPr>
          <a:xfrm>
            <a:off x="548640" y="4846320"/>
            <a:ext cx="11091672" cy="1234440"/>
          </a:xfrm>
          <a:prstGeom prst="roundRect">
            <a:avLst>
              <a:gd name="adj" fmla="val 5926"/>
            </a:avLst>
          </a:prstGeom>
          <a:solidFill>
            <a:srgbClr val="132139"/>
          </a:solidFill>
          <a:ln/>
        </p:spPr>
        <p:txBody>
          <a:bodyPr/>
          <a:lstStyle/>
          <a:p>
            <a:endParaRPr lang="es-AR"/>
          </a:p>
        </p:txBody>
      </p:sp>
      <p:sp>
        <p:nvSpPr>
          <p:cNvPr id="17" name="Text 15"/>
          <p:cNvSpPr/>
          <p:nvPr/>
        </p:nvSpPr>
        <p:spPr>
          <a:xfrm>
            <a:off x="822960" y="5349240"/>
            <a:ext cx="10543032" cy="228600"/>
          </a:xfrm>
          <a:prstGeom prst="rect">
            <a:avLst/>
          </a:prstGeom>
          <a:noFill/>
          <a:ln/>
        </p:spPr>
        <p:txBody>
          <a:bodyPr wrap="square" lIns="0" tIns="0" rIns="0" bIns="0" rtlCol="0" anchor="ctr"/>
          <a:lstStyle/>
          <a:p>
            <a:pPr marL="0" indent="0" algn="l">
              <a:buNone/>
            </a:pPr>
            <a:r>
              <a:rPr lang="en-US" sz="1100" dirty="0">
                <a:solidFill>
                  <a:srgbClr val="8FD694"/>
                </a:solidFill>
                <a:latin typeface="Courier New" pitchFamily="34" charset="0"/>
                <a:ea typeface="Courier New" pitchFamily="34" charset="-122"/>
                <a:cs typeface="Courier New" pitchFamily="34" charset="-120"/>
              </a:rPr>
              <a:t>Scaffold-</a:t>
            </a:r>
            <a:r>
              <a:rPr lang="en-US" sz="1100" dirty="0" err="1">
                <a:solidFill>
                  <a:srgbClr val="8FD694"/>
                </a:solidFill>
                <a:latin typeface="Courier New" pitchFamily="34" charset="0"/>
                <a:ea typeface="Courier New" pitchFamily="34" charset="-122"/>
                <a:cs typeface="Courier New" pitchFamily="34" charset="-120"/>
              </a:rPr>
              <a:t>DbContext</a:t>
            </a:r>
            <a:r>
              <a:rPr lang="en-US" sz="1100" dirty="0">
                <a:solidFill>
                  <a:srgbClr val="8FD694"/>
                </a:solidFill>
                <a:latin typeface="Courier New" pitchFamily="34" charset="0"/>
                <a:ea typeface="Courier New" pitchFamily="34" charset="-122"/>
                <a:cs typeface="Courier New" pitchFamily="34" charset="-120"/>
              </a:rPr>
              <a:t> "Server=...;Database=</a:t>
            </a:r>
            <a:r>
              <a:rPr lang="en-US" sz="1100" dirty="0" err="1">
                <a:solidFill>
                  <a:srgbClr val="8FD694"/>
                </a:solidFill>
                <a:latin typeface="Courier New" pitchFamily="34" charset="0"/>
                <a:ea typeface="Courier New" pitchFamily="34" charset="-122"/>
                <a:cs typeface="Courier New" pitchFamily="34" charset="-120"/>
              </a:rPr>
              <a:t>Libreria;Trusted_Connection</a:t>
            </a:r>
            <a:r>
              <a:rPr lang="en-US" sz="1100" dirty="0">
                <a:solidFill>
                  <a:srgbClr val="8FD694"/>
                </a:solidFill>
                <a:latin typeface="Courier New" pitchFamily="34" charset="0"/>
                <a:ea typeface="Courier New" pitchFamily="34" charset="-122"/>
                <a:cs typeface="Courier New" pitchFamily="34" charset="-120"/>
              </a:rPr>
              <a:t>=</a:t>
            </a:r>
            <a:r>
              <a:rPr lang="en-US" sz="1100" dirty="0" err="1">
                <a:solidFill>
                  <a:srgbClr val="8FD694"/>
                </a:solidFill>
                <a:latin typeface="Courier New" pitchFamily="34" charset="0"/>
                <a:ea typeface="Courier New" pitchFamily="34" charset="-122"/>
                <a:cs typeface="Courier New" pitchFamily="34" charset="-120"/>
              </a:rPr>
              <a:t>True;TrustServerCertificate</a:t>
            </a:r>
            <a:r>
              <a:rPr lang="en-US" sz="1100" dirty="0">
                <a:solidFill>
                  <a:srgbClr val="8FD694"/>
                </a:solidFill>
                <a:latin typeface="Courier New" pitchFamily="34" charset="0"/>
                <a:ea typeface="Courier New" pitchFamily="34" charset="-122"/>
                <a:cs typeface="Courier New" pitchFamily="34" charset="-120"/>
              </a:rPr>
              <a:t>=True;" </a:t>
            </a:r>
            <a:r>
              <a:rPr lang="en-US" sz="1100" dirty="0" err="1">
                <a:solidFill>
                  <a:srgbClr val="8FD694"/>
                </a:solidFill>
                <a:latin typeface="Courier New" pitchFamily="34" charset="0"/>
                <a:ea typeface="Courier New" pitchFamily="34" charset="-122"/>
                <a:cs typeface="Courier New" pitchFamily="34" charset="-120"/>
              </a:rPr>
              <a:t>Microsoft.EntityFrameworkCore.SqlServer</a:t>
            </a:r>
            <a:r>
              <a:rPr lang="en-US" sz="1100" dirty="0">
                <a:solidFill>
                  <a:srgbClr val="8FD694"/>
                </a:solidFill>
                <a:latin typeface="Courier New" pitchFamily="34" charset="0"/>
                <a:ea typeface="Courier New" pitchFamily="34" charset="-122"/>
                <a:cs typeface="Courier New" pitchFamily="34" charset="-120"/>
              </a:rPr>
              <a:t> -</a:t>
            </a:r>
            <a:r>
              <a:rPr lang="en-US" sz="1100" dirty="0" err="1">
                <a:solidFill>
                  <a:srgbClr val="8FD694"/>
                </a:solidFill>
                <a:latin typeface="Courier New" pitchFamily="34" charset="0"/>
                <a:ea typeface="Courier New" pitchFamily="34" charset="-122"/>
                <a:cs typeface="Courier New" pitchFamily="34" charset="-120"/>
              </a:rPr>
              <a:t>OutputDir</a:t>
            </a:r>
            <a:r>
              <a:rPr lang="en-US" sz="1100" dirty="0">
                <a:solidFill>
                  <a:srgbClr val="8FD694"/>
                </a:solidFill>
                <a:latin typeface="Courier New" pitchFamily="34" charset="0"/>
                <a:ea typeface="Courier New" pitchFamily="34" charset="-122"/>
                <a:cs typeface="Courier New" pitchFamily="34" charset="-120"/>
              </a:rPr>
              <a:t> Models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¿Cuál elegir?</a:t>
            </a:r>
            <a:endParaRPr lang="en-US" sz="3000" dirty="0"/>
          </a:p>
        </p:txBody>
      </p:sp>
      <p:sp>
        <p:nvSpPr>
          <p:cNvPr id="3" name="Text 1"/>
          <p:cNvSpPr/>
          <p:nvPr/>
        </p:nvSpPr>
        <p:spPr>
          <a:xfrm>
            <a:off x="548640" y="1024128"/>
            <a:ext cx="11091672" cy="365760"/>
          </a:xfrm>
          <a:prstGeom prst="rect">
            <a:avLst/>
          </a:prstGeom>
          <a:noFill/>
          <a:ln/>
        </p:spPr>
        <p:txBody>
          <a:bodyPr wrap="square" lIns="0" tIns="0" rIns="0" bIns="0" rtlCol="0" anchor="ctr"/>
          <a:lstStyle/>
          <a:p>
            <a:pPr marL="0" indent="0" algn="l">
              <a:buNone/>
            </a:pPr>
            <a:r>
              <a:rPr lang="en-US" sz="1400" i="1" dirty="0">
                <a:solidFill>
                  <a:srgbClr val="1C7293"/>
                </a:solidFill>
                <a:latin typeface="Calibri" pitchFamily="34" charset="0"/>
                <a:ea typeface="Calibri" pitchFamily="34" charset="-122"/>
                <a:cs typeface="Calibri" pitchFamily="34" charset="-120"/>
              </a:rPr>
              <a:t>Una guía rápida de decisión</a:t>
            </a:r>
            <a:endParaRPr lang="en-US" sz="1400" dirty="0"/>
          </a:p>
        </p:txBody>
      </p:sp>
      <p:sp>
        <p:nvSpPr>
          <p:cNvPr id="4" name="Shape 2"/>
          <p:cNvSpPr/>
          <p:nvPr/>
        </p:nvSpPr>
        <p:spPr>
          <a:xfrm>
            <a:off x="548640" y="1828800"/>
            <a:ext cx="11091672" cy="502920"/>
          </a:xfrm>
          <a:prstGeom prst="rect">
            <a:avLst/>
          </a:prstGeom>
          <a:solidFill>
            <a:srgbClr val="21295C"/>
          </a:solidFill>
          <a:ln/>
        </p:spPr>
        <p:txBody>
          <a:bodyPr/>
          <a:lstStyle/>
          <a:p>
            <a:endParaRPr lang="es-AR"/>
          </a:p>
        </p:txBody>
      </p:sp>
      <p:sp>
        <p:nvSpPr>
          <p:cNvPr id="5" name="Text 3"/>
          <p:cNvSpPr/>
          <p:nvPr/>
        </p:nvSpPr>
        <p:spPr>
          <a:xfrm>
            <a:off x="548640" y="1828800"/>
            <a:ext cx="7982712" cy="502920"/>
          </a:xfrm>
          <a:prstGeom prst="rect">
            <a:avLst/>
          </a:prstGeom>
          <a:noFill/>
          <a:ln/>
        </p:spPr>
        <p:txBody>
          <a:bodyPr wrap="square" lIns="101600" tIns="101600" rIns="101600" bIns="10160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Factor</a:t>
            </a:r>
            <a:endParaRPr lang="en-US" sz="1300" dirty="0"/>
          </a:p>
        </p:txBody>
      </p:sp>
      <p:sp>
        <p:nvSpPr>
          <p:cNvPr id="6" name="Text 4"/>
          <p:cNvSpPr/>
          <p:nvPr/>
        </p:nvSpPr>
        <p:spPr>
          <a:xfrm>
            <a:off x="8531352" y="1828800"/>
            <a:ext cx="1554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Code First</a:t>
            </a:r>
            <a:endParaRPr lang="en-US" sz="1300" dirty="0"/>
          </a:p>
        </p:txBody>
      </p:sp>
      <p:sp>
        <p:nvSpPr>
          <p:cNvPr id="7" name="Text 5"/>
          <p:cNvSpPr/>
          <p:nvPr/>
        </p:nvSpPr>
        <p:spPr>
          <a:xfrm>
            <a:off x="10085832" y="1828800"/>
            <a:ext cx="1554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Database First</a:t>
            </a:r>
            <a:endParaRPr lang="en-US" sz="1300" dirty="0"/>
          </a:p>
        </p:txBody>
      </p:sp>
      <p:sp>
        <p:nvSpPr>
          <p:cNvPr id="8" name="Shape 6"/>
          <p:cNvSpPr/>
          <p:nvPr/>
        </p:nvSpPr>
        <p:spPr>
          <a:xfrm>
            <a:off x="548640" y="2331720"/>
            <a:ext cx="11091672" cy="621792"/>
          </a:xfrm>
          <a:prstGeom prst="rect">
            <a:avLst/>
          </a:prstGeom>
          <a:solidFill>
            <a:srgbClr val="FFFFFF"/>
          </a:solidFill>
          <a:ln w="6350">
            <a:solidFill>
              <a:srgbClr val="D7E4EA"/>
            </a:solidFill>
            <a:prstDash val="solid"/>
          </a:ln>
        </p:spPr>
        <p:txBody>
          <a:bodyPr/>
          <a:lstStyle/>
          <a:p>
            <a:endParaRPr lang="es-AR"/>
          </a:p>
        </p:txBody>
      </p:sp>
      <p:sp>
        <p:nvSpPr>
          <p:cNvPr id="9" name="Text 7"/>
          <p:cNvSpPr/>
          <p:nvPr/>
        </p:nvSpPr>
        <p:spPr>
          <a:xfrm>
            <a:off x="685800" y="2331720"/>
            <a:ext cx="7845552" cy="621792"/>
          </a:xfrm>
          <a:prstGeom prst="rect">
            <a:avLst/>
          </a:prstGeom>
          <a:noFill/>
          <a:ln/>
        </p:spPr>
        <p:txBody>
          <a:bodyPr wrap="square" lIns="0" tIns="0" rIns="0" bIns="0" rtlCol="0" anchor="ctr"/>
          <a:lstStyle/>
          <a:p>
            <a:pPr marL="0" indent="0" algn="l">
              <a:buNone/>
            </a:pPr>
            <a:r>
              <a:rPr lang="en-US" sz="1150" dirty="0">
                <a:solidFill>
                  <a:srgbClr val="21295C"/>
                </a:solidFill>
                <a:latin typeface="Calibri" pitchFamily="34" charset="0"/>
                <a:ea typeface="Calibri" pitchFamily="34" charset="-122"/>
                <a:cs typeface="Calibri" pitchFamily="34" charset="-120"/>
              </a:rPr>
              <a:t>Proyecto nuevo (greenfield)</a:t>
            </a:r>
            <a:endParaRPr lang="en-US" sz="1150" dirty="0"/>
          </a:p>
        </p:txBody>
      </p:sp>
      <p:sp>
        <p:nvSpPr>
          <p:cNvPr id="10" name="Text 8"/>
          <p:cNvSpPr/>
          <p:nvPr/>
        </p:nvSpPr>
        <p:spPr>
          <a:xfrm>
            <a:off x="8531352" y="2331720"/>
            <a:ext cx="1554480" cy="621792"/>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0085832" y="2331720"/>
            <a:ext cx="1554480" cy="621792"/>
          </a:xfrm>
          <a:prstGeom prst="rect">
            <a:avLst/>
          </a:prstGeom>
          <a:noFill/>
          <a:ln/>
        </p:spPr>
        <p:txBody>
          <a:bodyPr wrap="square" lIns="0" tIns="0" rIns="0" bIns="0" rtlCol="0" anchor="ctr"/>
          <a:lstStyle/>
          <a:p>
            <a:pPr marL="0" indent="0" algn="ctr">
              <a:buNone/>
            </a:pPr>
            <a:r>
              <a:rPr lang="en-US" sz="1400" b="1" dirty="0">
                <a:solidFill>
                  <a:srgbClr val="C3CBD1"/>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548640" y="2953512"/>
            <a:ext cx="11091672" cy="621792"/>
          </a:xfrm>
          <a:prstGeom prst="rect">
            <a:avLst/>
          </a:prstGeom>
          <a:solidFill>
            <a:srgbClr val="E7F1F6"/>
          </a:solidFill>
          <a:ln w="6350">
            <a:solidFill>
              <a:srgbClr val="D7E4EA"/>
            </a:solidFill>
            <a:prstDash val="solid"/>
          </a:ln>
        </p:spPr>
        <p:txBody>
          <a:bodyPr/>
          <a:lstStyle/>
          <a:p>
            <a:endParaRPr lang="es-AR"/>
          </a:p>
        </p:txBody>
      </p:sp>
      <p:sp>
        <p:nvSpPr>
          <p:cNvPr id="13" name="Text 11"/>
          <p:cNvSpPr/>
          <p:nvPr/>
        </p:nvSpPr>
        <p:spPr>
          <a:xfrm>
            <a:off x="685800" y="2953512"/>
            <a:ext cx="7845552" cy="621792"/>
          </a:xfrm>
          <a:prstGeom prst="rect">
            <a:avLst/>
          </a:prstGeom>
          <a:noFill/>
          <a:ln/>
        </p:spPr>
        <p:txBody>
          <a:bodyPr wrap="square" lIns="0" tIns="0" rIns="0" bIns="0" rtlCol="0" anchor="ctr"/>
          <a:lstStyle/>
          <a:p>
            <a:pPr marL="0" indent="0" algn="l">
              <a:buNone/>
            </a:pPr>
            <a:r>
              <a:rPr lang="en-US" sz="1150" dirty="0">
                <a:solidFill>
                  <a:srgbClr val="21295C"/>
                </a:solidFill>
                <a:latin typeface="Calibri" pitchFamily="34" charset="0"/>
                <a:ea typeface="Calibri" pitchFamily="34" charset="-122"/>
                <a:cs typeface="Calibri" pitchFamily="34" charset="-120"/>
              </a:rPr>
              <a:t>Base de datos existente / legacy</a:t>
            </a:r>
            <a:endParaRPr lang="en-US" sz="1150" dirty="0"/>
          </a:p>
        </p:txBody>
      </p:sp>
      <p:sp>
        <p:nvSpPr>
          <p:cNvPr id="14" name="Text 12"/>
          <p:cNvSpPr/>
          <p:nvPr/>
        </p:nvSpPr>
        <p:spPr>
          <a:xfrm>
            <a:off x="8531352" y="2953512"/>
            <a:ext cx="1554480" cy="621792"/>
          </a:xfrm>
          <a:prstGeom prst="rect">
            <a:avLst/>
          </a:prstGeom>
          <a:noFill/>
          <a:ln/>
        </p:spPr>
        <p:txBody>
          <a:bodyPr wrap="square" lIns="0" tIns="0" rIns="0" bIns="0" rtlCol="0" anchor="ctr"/>
          <a:lstStyle/>
          <a:p>
            <a:pPr marL="0" indent="0" algn="ctr">
              <a:buNone/>
            </a:pPr>
            <a:r>
              <a:rPr lang="en-US" sz="1400" b="1" dirty="0">
                <a:solidFill>
                  <a:srgbClr val="C3CBD1"/>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0085832" y="2953512"/>
            <a:ext cx="1554480" cy="621792"/>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8640" y="3575304"/>
            <a:ext cx="11091672" cy="621792"/>
          </a:xfrm>
          <a:prstGeom prst="rect">
            <a:avLst/>
          </a:prstGeom>
          <a:solidFill>
            <a:srgbClr val="FFFFFF"/>
          </a:solidFill>
          <a:ln w="6350">
            <a:solidFill>
              <a:srgbClr val="D7E4EA"/>
            </a:solidFill>
            <a:prstDash val="solid"/>
          </a:ln>
        </p:spPr>
        <p:txBody>
          <a:bodyPr/>
          <a:lstStyle/>
          <a:p>
            <a:endParaRPr lang="es-AR"/>
          </a:p>
        </p:txBody>
      </p:sp>
      <p:sp>
        <p:nvSpPr>
          <p:cNvPr id="17" name="Text 15"/>
          <p:cNvSpPr/>
          <p:nvPr/>
        </p:nvSpPr>
        <p:spPr>
          <a:xfrm>
            <a:off x="685800" y="3575304"/>
            <a:ext cx="7845552" cy="621792"/>
          </a:xfrm>
          <a:prstGeom prst="rect">
            <a:avLst/>
          </a:prstGeom>
          <a:noFill/>
          <a:ln/>
        </p:spPr>
        <p:txBody>
          <a:bodyPr wrap="square" lIns="0" tIns="0" rIns="0" bIns="0" rtlCol="0" anchor="ctr"/>
          <a:lstStyle/>
          <a:p>
            <a:pPr marL="0" indent="0" algn="l">
              <a:buNone/>
            </a:pPr>
            <a:r>
              <a:rPr lang="en-US" sz="1150" dirty="0">
                <a:solidFill>
                  <a:srgbClr val="21295C"/>
                </a:solidFill>
                <a:latin typeface="Calibri" pitchFamily="34" charset="0"/>
                <a:ea typeface="Calibri" pitchFamily="34" charset="-122"/>
                <a:cs typeface="Calibri" pitchFamily="34" charset="-120"/>
              </a:rPr>
              <a:t>El equipo de desarrollo controla el esquema</a:t>
            </a:r>
            <a:endParaRPr lang="en-US" sz="1150" dirty="0"/>
          </a:p>
        </p:txBody>
      </p:sp>
      <p:sp>
        <p:nvSpPr>
          <p:cNvPr id="18" name="Text 16"/>
          <p:cNvSpPr/>
          <p:nvPr/>
        </p:nvSpPr>
        <p:spPr>
          <a:xfrm>
            <a:off x="8531352" y="3575304"/>
            <a:ext cx="1554480" cy="621792"/>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0085832" y="3575304"/>
            <a:ext cx="1554480" cy="621792"/>
          </a:xfrm>
          <a:prstGeom prst="rect">
            <a:avLst/>
          </a:prstGeom>
          <a:noFill/>
          <a:ln/>
        </p:spPr>
        <p:txBody>
          <a:bodyPr wrap="square" lIns="0" tIns="0" rIns="0" bIns="0" rtlCol="0" anchor="ctr"/>
          <a:lstStyle/>
          <a:p>
            <a:pPr marL="0" indent="0" algn="ctr">
              <a:buNone/>
            </a:pPr>
            <a:r>
              <a:rPr lang="en-US" sz="1400" b="1" dirty="0">
                <a:solidFill>
                  <a:srgbClr val="C3CBD1"/>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548640" y="4197096"/>
            <a:ext cx="11091672" cy="621792"/>
          </a:xfrm>
          <a:prstGeom prst="rect">
            <a:avLst/>
          </a:prstGeom>
          <a:solidFill>
            <a:srgbClr val="E7F1F6"/>
          </a:solidFill>
          <a:ln w="6350">
            <a:solidFill>
              <a:srgbClr val="D7E4EA"/>
            </a:solidFill>
            <a:prstDash val="solid"/>
          </a:ln>
        </p:spPr>
        <p:txBody>
          <a:bodyPr/>
          <a:lstStyle/>
          <a:p>
            <a:endParaRPr lang="es-AR"/>
          </a:p>
        </p:txBody>
      </p:sp>
      <p:sp>
        <p:nvSpPr>
          <p:cNvPr id="21" name="Text 19"/>
          <p:cNvSpPr/>
          <p:nvPr/>
        </p:nvSpPr>
        <p:spPr>
          <a:xfrm>
            <a:off x="685800" y="4197096"/>
            <a:ext cx="7845552" cy="621792"/>
          </a:xfrm>
          <a:prstGeom prst="rect">
            <a:avLst/>
          </a:prstGeom>
          <a:noFill/>
          <a:ln/>
        </p:spPr>
        <p:txBody>
          <a:bodyPr wrap="square" lIns="0" tIns="0" rIns="0" bIns="0" rtlCol="0" anchor="ctr"/>
          <a:lstStyle/>
          <a:p>
            <a:pPr marL="0" indent="0" algn="l">
              <a:buNone/>
            </a:pPr>
            <a:r>
              <a:rPr lang="en-US" sz="1150" dirty="0">
                <a:solidFill>
                  <a:srgbClr val="21295C"/>
                </a:solidFill>
                <a:latin typeface="Calibri" pitchFamily="34" charset="0"/>
                <a:ea typeface="Calibri" pitchFamily="34" charset="-122"/>
                <a:cs typeface="Calibri" pitchFamily="34" charset="-120"/>
              </a:rPr>
              <a:t>Un DBA administra el esquema por separado</a:t>
            </a:r>
            <a:endParaRPr lang="en-US" sz="1150" dirty="0"/>
          </a:p>
        </p:txBody>
      </p:sp>
      <p:sp>
        <p:nvSpPr>
          <p:cNvPr id="22" name="Text 20"/>
          <p:cNvSpPr/>
          <p:nvPr/>
        </p:nvSpPr>
        <p:spPr>
          <a:xfrm>
            <a:off x="8531352" y="4197096"/>
            <a:ext cx="1554480" cy="621792"/>
          </a:xfrm>
          <a:prstGeom prst="rect">
            <a:avLst/>
          </a:prstGeom>
          <a:noFill/>
          <a:ln/>
        </p:spPr>
        <p:txBody>
          <a:bodyPr wrap="square" lIns="0" tIns="0" rIns="0" bIns="0" rtlCol="0" anchor="ctr"/>
          <a:lstStyle/>
          <a:p>
            <a:pPr marL="0" indent="0" algn="ctr">
              <a:buNone/>
            </a:pPr>
            <a:r>
              <a:rPr lang="en-US" sz="1400" b="1" dirty="0">
                <a:solidFill>
                  <a:srgbClr val="C3CBD1"/>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10085832" y="4197096"/>
            <a:ext cx="1554480" cy="621792"/>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548640" y="4818888"/>
            <a:ext cx="11091672" cy="621792"/>
          </a:xfrm>
          <a:prstGeom prst="rect">
            <a:avLst/>
          </a:prstGeom>
          <a:solidFill>
            <a:srgbClr val="FFFFFF"/>
          </a:solidFill>
          <a:ln w="6350">
            <a:solidFill>
              <a:srgbClr val="D7E4EA"/>
            </a:solidFill>
            <a:prstDash val="solid"/>
          </a:ln>
        </p:spPr>
        <p:txBody>
          <a:bodyPr/>
          <a:lstStyle/>
          <a:p>
            <a:endParaRPr lang="es-AR"/>
          </a:p>
        </p:txBody>
      </p:sp>
      <p:sp>
        <p:nvSpPr>
          <p:cNvPr id="25" name="Text 23"/>
          <p:cNvSpPr/>
          <p:nvPr/>
        </p:nvSpPr>
        <p:spPr>
          <a:xfrm>
            <a:off x="685800" y="4818888"/>
            <a:ext cx="7845552" cy="621792"/>
          </a:xfrm>
          <a:prstGeom prst="rect">
            <a:avLst/>
          </a:prstGeom>
          <a:noFill/>
          <a:ln/>
        </p:spPr>
        <p:txBody>
          <a:bodyPr wrap="square" lIns="0" tIns="0" rIns="0" bIns="0" rtlCol="0" anchor="ctr"/>
          <a:lstStyle/>
          <a:p>
            <a:pPr marL="0" indent="0" algn="l">
              <a:buNone/>
            </a:pPr>
            <a:r>
              <a:rPr lang="en-US" sz="1150" dirty="0">
                <a:solidFill>
                  <a:srgbClr val="21295C"/>
                </a:solidFill>
                <a:latin typeface="Calibri" pitchFamily="34" charset="0"/>
                <a:ea typeface="Calibri" pitchFamily="34" charset="-122"/>
                <a:cs typeface="Calibri" pitchFamily="34" charset="-120"/>
              </a:rPr>
              <a:t>Esquema versionado junto al código</a:t>
            </a:r>
            <a:endParaRPr lang="en-US" sz="1150" dirty="0"/>
          </a:p>
        </p:txBody>
      </p:sp>
      <p:sp>
        <p:nvSpPr>
          <p:cNvPr id="26" name="Text 24"/>
          <p:cNvSpPr/>
          <p:nvPr/>
        </p:nvSpPr>
        <p:spPr>
          <a:xfrm>
            <a:off x="8531352" y="4818888"/>
            <a:ext cx="1554480" cy="621792"/>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10085832" y="4818888"/>
            <a:ext cx="1554480" cy="621792"/>
          </a:xfrm>
          <a:prstGeom prst="rect">
            <a:avLst/>
          </a:prstGeom>
          <a:noFill/>
          <a:ln/>
        </p:spPr>
        <p:txBody>
          <a:bodyPr wrap="square" lIns="0" tIns="0" rIns="0" bIns="0" rtlCol="0" anchor="ctr"/>
          <a:lstStyle/>
          <a:p>
            <a:pPr marL="0" indent="0" algn="ctr">
              <a:buNone/>
            </a:pPr>
            <a:r>
              <a:rPr lang="en-US" sz="1400" b="1" dirty="0">
                <a:solidFill>
                  <a:srgbClr val="C3CBD1"/>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548640" y="5440680"/>
            <a:ext cx="11091672" cy="621792"/>
          </a:xfrm>
          <a:prstGeom prst="rect">
            <a:avLst/>
          </a:prstGeom>
          <a:solidFill>
            <a:srgbClr val="E7F1F6"/>
          </a:solidFill>
          <a:ln w="6350">
            <a:solidFill>
              <a:srgbClr val="D7E4EA"/>
            </a:solidFill>
            <a:prstDash val="solid"/>
          </a:ln>
        </p:spPr>
        <p:txBody>
          <a:bodyPr/>
          <a:lstStyle/>
          <a:p>
            <a:endParaRPr lang="es-AR"/>
          </a:p>
        </p:txBody>
      </p:sp>
      <p:sp>
        <p:nvSpPr>
          <p:cNvPr id="29" name="Text 27"/>
          <p:cNvSpPr/>
          <p:nvPr/>
        </p:nvSpPr>
        <p:spPr>
          <a:xfrm>
            <a:off x="685800" y="5440680"/>
            <a:ext cx="7845552" cy="621792"/>
          </a:xfrm>
          <a:prstGeom prst="rect">
            <a:avLst/>
          </a:prstGeom>
          <a:noFill/>
          <a:ln/>
        </p:spPr>
        <p:txBody>
          <a:bodyPr wrap="square" lIns="0" tIns="0" rIns="0" bIns="0" rtlCol="0" anchor="ctr"/>
          <a:lstStyle/>
          <a:p>
            <a:pPr marL="0" indent="0" algn="l">
              <a:buNone/>
            </a:pPr>
            <a:r>
              <a:rPr lang="en-US" sz="1150" dirty="0">
                <a:solidFill>
                  <a:srgbClr val="21295C"/>
                </a:solidFill>
                <a:latin typeface="Calibri" pitchFamily="34" charset="0"/>
                <a:ea typeface="Calibri" pitchFamily="34" charset="-122"/>
                <a:cs typeface="Calibri" pitchFamily="34" charset="-120"/>
              </a:rPr>
              <a:t>Necesitás arrancar rápido sobre una base ya armada</a:t>
            </a:r>
            <a:endParaRPr lang="en-US" sz="1150" dirty="0"/>
          </a:p>
        </p:txBody>
      </p:sp>
      <p:sp>
        <p:nvSpPr>
          <p:cNvPr id="30" name="Text 28"/>
          <p:cNvSpPr/>
          <p:nvPr/>
        </p:nvSpPr>
        <p:spPr>
          <a:xfrm>
            <a:off x="8531352" y="5440680"/>
            <a:ext cx="1554480" cy="621792"/>
          </a:xfrm>
          <a:prstGeom prst="rect">
            <a:avLst/>
          </a:prstGeom>
          <a:noFill/>
          <a:ln/>
        </p:spPr>
        <p:txBody>
          <a:bodyPr wrap="square" lIns="0" tIns="0" rIns="0" bIns="0" rtlCol="0" anchor="ctr"/>
          <a:lstStyle/>
          <a:p>
            <a:pPr marL="0" indent="0" algn="ctr">
              <a:buNone/>
            </a:pPr>
            <a:r>
              <a:rPr lang="en-US" sz="1400" b="1" dirty="0">
                <a:solidFill>
                  <a:srgbClr val="C3CBD1"/>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10085832" y="5440680"/>
            <a:ext cx="1554480" cy="621792"/>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DTOs</a:t>
            </a:r>
            <a:endParaRPr lang="en-US" sz="3000" dirty="0"/>
          </a:p>
        </p:txBody>
      </p:sp>
      <p:sp>
        <p:nvSpPr>
          <p:cNvPr id="4" name="Shape 2"/>
          <p:cNvSpPr/>
          <p:nvPr/>
        </p:nvSpPr>
        <p:spPr>
          <a:xfrm>
            <a:off x="548640" y="1411716"/>
            <a:ext cx="11091672" cy="822960"/>
          </a:xfrm>
          <a:prstGeom prst="roundRect">
            <a:avLst>
              <a:gd name="adj" fmla="val 8889"/>
            </a:avLst>
          </a:prstGeom>
          <a:solidFill>
            <a:srgbClr val="E7F1F6"/>
          </a:solidFill>
          <a:ln/>
        </p:spPr>
        <p:txBody>
          <a:bodyPr/>
          <a:lstStyle/>
          <a:p>
            <a:endParaRPr lang="es-AR"/>
          </a:p>
        </p:txBody>
      </p:sp>
      <p:sp>
        <p:nvSpPr>
          <p:cNvPr id="5" name="Text 3"/>
          <p:cNvSpPr/>
          <p:nvPr/>
        </p:nvSpPr>
        <p:spPr>
          <a:xfrm>
            <a:off x="868680" y="1411716"/>
            <a:ext cx="10451592" cy="822960"/>
          </a:xfrm>
          <a:prstGeom prst="rect">
            <a:avLst/>
          </a:prstGeom>
          <a:noFill/>
          <a:ln/>
        </p:spPr>
        <p:txBody>
          <a:bodyPr wrap="square" lIns="0" tIns="0" rIns="0" bIns="0" rtlCol="0" anchor="ctr"/>
          <a:lstStyle/>
          <a:p>
            <a:pPr marL="0" indent="0" algn="l">
              <a:buNone/>
            </a:pPr>
            <a:r>
              <a:rPr lang="en-US" sz="1250" b="1" dirty="0">
                <a:solidFill>
                  <a:srgbClr val="065A82"/>
                </a:solidFill>
                <a:latin typeface="Calibri" pitchFamily="34" charset="0"/>
                <a:ea typeface="Calibri" pitchFamily="34" charset="-122"/>
                <a:cs typeface="Calibri" pitchFamily="34" charset="-120"/>
              </a:rPr>
              <a:t>Un DTO (Data Transfer Object)</a:t>
            </a:r>
            <a:r>
              <a:rPr lang="en-US" sz="1250" dirty="0">
                <a:solidFill>
                  <a:srgbClr val="21295C"/>
                </a:solidFill>
                <a:latin typeface="Calibri" pitchFamily="34" charset="0"/>
                <a:ea typeface="Calibri" pitchFamily="34" charset="-122"/>
                <a:cs typeface="Calibri" pitchFamily="34" charset="-120"/>
              </a:rPr>
              <a:t> es un objeto simple, sin lógica de negocio, que se usa exclusivamente para transportar datos entre capas. No es una entidad de EF Core: es una copia con la forma exacta de lo que el cliente necesita ver o enviar.</a:t>
            </a:r>
            <a:endParaRPr lang="en-US" sz="1250" dirty="0"/>
          </a:p>
        </p:txBody>
      </p:sp>
      <p:sp>
        <p:nvSpPr>
          <p:cNvPr id="6" name="Shape 4"/>
          <p:cNvSpPr/>
          <p:nvPr/>
        </p:nvSpPr>
        <p:spPr>
          <a:xfrm>
            <a:off x="548640" y="2417558"/>
            <a:ext cx="5394960" cy="2468880"/>
          </a:xfrm>
          <a:prstGeom prst="roundRect">
            <a:avLst>
              <a:gd name="adj" fmla="val 2963"/>
            </a:avLst>
          </a:prstGeom>
          <a:solidFill>
            <a:srgbClr val="132139"/>
          </a:solidFill>
          <a:ln/>
        </p:spPr>
        <p:txBody>
          <a:bodyPr/>
          <a:lstStyle/>
          <a:p>
            <a:endParaRPr lang="es-AR"/>
          </a:p>
        </p:txBody>
      </p:sp>
      <p:sp>
        <p:nvSpPr>
          <p:cNvPr id="7" name="Text 5"/>
          <p:cNvSpPr/>
          <p:nvPr/>
        </p:nvSpPr>
        <p:spPr>
          <a:xfrm>
            <a:off x="822960" y="2563862"/>
            <a:ext cx="4846320" cy="256032"/>
          </a:xfrm>
          <a:prstGeom prst="rect">
            <a:avLst/>
          </a:prstGeom>
          <a:noFill/>
          <a:ln/>
        </p:spPr>
        <p:txBody>
          <a:bodyPr wrap="square" lIns="0" tIns="0" rIns="0" bIns="0" rtlCol="0" anchor="ctr"/>
          <a:lstStyle/>
          <a:p>
            <a:pPr marL="0" indent="0" algn="l">
              <a:buNone/>
            </a:pPr>
            <a:r>
              <a:rPr lang="en-US" sz="1100" b="1" dirty="0">
                <a:solidFill>
                  <a:srgbClr val="8FA3C9"/>
                </a:solidFill>
                <a:latin typeface="Calibri" pitchFamily="34" charset="0"/>
                <a:ea typeface="Calibri" pitchFamily="34" charset="-122"/>
                <a:cs typeface="Calibri" pitchFamily="34" charset="-120"/>
              </a:rPr>
              <a:t>Entidad (EF Core) — uso interno</a:t>
            </a:r>
            <a:endParaRPr lang="en-US" sz="1100" dirty="0"/>
          </a:p>
        </p:txBody>
      </p:sp>
      <p:sp>
        <p:nvSpPr>
          <p:cNvPr id="8" name="Text 6"/>
          <p:cNvSpPr/>
          <p:nvPr/>
        </p:nvSpPr>
        <p:spPr>
          <a:xfrm>
            <a:off x="822960" y="2874758"/>
            <a:ext cx="4846320" cy="228600"/>
          </a:xfrm>
          <a:prstGeom prst="rect">
            <a:avLst/>
          </a:prstGeom>
          <a:noFill/>
          <a:ln/>
        </p:spPr>
        <p:txBody>
          <a:bodyPr wrap="square" lIns="0" tIns="0" rIns="0" bIns="0" rtlCol="0" anchor="ctr"/>
          <a:lstStyle/>
          <a:p>
            <a:pPr marL="0" indent="0" algn="l">
              <a:buNone/>
            </a:pPr>
            <a:r>
              <a:rPr lang="en-US" sz="970" dirty="0">
                <a:solidFill>
                  <a:srgbClr val="8FC7E8"/>
                </a:solidFill>
                <a:latin typeface="Courier New" pitchFamily="34" charset="0"/>
                <a:ea typeface="Courier New" pitchFamily="34" charset="-122"/>
                <a:cs typeface="Courier New" pitchFamily="34" charset="-120"/>
              </a:rPr>
              <a:t>public class Libro</a:t>
            </a:r>
            <a:endParaRPr lang="en-US" sz="970" dirty="0"/>
          </a:p>
        </p:txBody>
      </p:sp>
      <p:sp>
        <p:nvSpPr>
          <p:cNvPr id="9" name="Text 7"/>
          <p:cNvSpPr/>
          <p:nvPr/>
        </p:nvSpPr>
        <p:spPr>
          <a:xfrm>
            <a:off x="822960" y="3117074"/>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a:t>
            </a:r>
            <a:endParaRPr lang="en-US" sz="970" dirty="0"/>
          </a:p>
        </p:txBody>
      </p:sp>
      <p:sp>
        <p:nvSpPr>
          <p:cNvPr id="10" name="Text 8"/>
          <p:cNvSpPr/>
          <p:nvPr/>
        </p:nvSpPr>
        <p:spPr>
          <a:xfrm>
            <a:off x="822960" y="3359390"/>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public int Id { get; set; }</a:t>
            </a:r>
            <a:endParaRPr lang="en-US" sz="970" dirty="0"/>
          </a:p>
        </p:txBody>
      </p:sp>
      <p:sp>
        <p:nvSpPr>
          <p:cNvPr id="11" name="Text 9"/>
          <p:cNvSpPr/>
          <p:nvPr/>
        </p:nvSpPr>
        <p:spPr>
          <a:xfrm>
            <a:off x="822960" y="3601706"/>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public string Titulo { get; set; }</a:t>
            </a:r>
            <a:endParaRPr lang="en-US" sz="970" dirty="0"/>
          </a:p>
        </p:txBody>
      </p:sp>
      <p:sp>
        <p:nvSpPr>
          <p:cNvPr id="12" name="Text 10"/>
          <p:cNvSpPr/>
          <p:nvPr/>
        </p:nvSpPr>
        <p:spPr>
          <a:xfrm>
            <a:off x="822960" y="3844022"/>
            <a:ext cx="4846320" cy="228600"/>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public decimal CostoInterno { get; set; }</a:t>
            </a:r>
            <a:endParaRPr lang="en-US" sz="970" dirty="0"/>
          </a:p>
        </p:txBody>
      </p:sp>
      <p:sp>
        <p:nvSpPr>
          <p:cNvPr id="13" name="Text 11"/>
          <p:cNvSpPr/>
          <p:nvPr/>
        </p:nvSpPr>
        <p:spPr>
          <a:xfrm>
            <a:off x="822960" y="4086338"/>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public int AutorId { get; set; }</a:t>
            </a:r>
            <a:endParaRPr lang="en-US" sz="970" dirty="0"/>
          </a:p>
        </p:txBody>
      </p:sp>
      <p:sp>
        <p:nvSpPr>
          <p:cNvPr id="14" name="Text 12"/>
          <p:cNvSpPr/>
          <p:nvPr/>
        </p:nvSpPr>
        <p:spPr>
          <a:xfrm>
            <a:off x="822960" y="4328654"/>
            <a:ext cx="4846320" cy="228600"/>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public Autor Autor { get; set; }</a:t>
            </a:r>
            <a:endParaRPr lang="en-US" sz="970" dirty="0"/>
          </a:p>
        </p:txBody>
      </p:sp>
      <p:sp>
        <p:nvSpPr>
          <p:cNvPr id="15" name="Text 13"/>
          <p:cNvSpPr/>
          <p:nvPr/>
        </p:nvSpPr>
        <p:spPr>
          <a:xfrm>
            <a:off x="822960" y="4570970"/>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a:t>
            </a:r>
            <a:endParaRPr lang="en-US" sz="970" dirty="0"/>
          </a:p>
        </p:txBody>
      </p:sp>
      <p:sp>
        <p:nvSpPr>
          <p:cNvPr id="16" name="Shape 14"/>
          <p:cNvSpPr/>
          <p:nvPr/>
        </p:nvSpPr>
        <p:spPr>
          <a:xfrm>
            <a:off x="6263640" y="2417558"/>
            <a:ext cx="5394960" cy="2468880"/>
          </a:xfrm>
          <a:prstGeom prst="roundRect">
            <a:avLst>
              <a:gd name="adj" fmla="val 2963"/>
            </a:avLst>
          </a:prstGeom>
          <a:solidFill>
            <a:srgbClr val="132139"/>
          </a:solidFill>
          <a:ln/>
        </p:spPr>
        <p:txBody>
          <a:bodyPr/>
          <a:lstStyle/>
          <a:p>
            <a:endParaRPr lang="es-AR"/>
          </a:p>
        </p:txBody>
      </p:sp>
      <p:sp>
        <p:nvSpPr>
          <p:cNvPr id="17" name="Text 15"/>
          <p:cNvSpPr/>
          <p:nvPr/>
        </p:nvSpPr>
        <p:spPr>
          <a:xfrm>
            <a:off x="6537960" y="2563862"/>
            <a:ext cx="4846320" cy="256032"/>
          </a:xfrm>
          <a:prstGeom prst="rect">
            <a:avLst/>
          </a:prstGeom>
          <a:noFill/>
          <a:ln/>
        </p:spPr>
        <p:txBody>
          <a:bodyPr wrap="square" lIns="0" tIns="0" rIns="0" bIns="0" rtlCol="0" anchor="ctr"/>
          <a:lstStyle/>
          <a:p>
            <a:pPr marL="0" indent="0" algn="l">
              <a:buNone/>
            </a:pPr>
            <a:r>
              <a:rPr lang="en-US" sz="1100" b="1" dirty="0">
                <a:solidFill>
                  <a:srgbClr val="8FA3C9"/>
                </a:solidFill>
                <a:latin typeface="Calibri" pitchFamily="34" charset="0"/>
                <a:ea typeface="Calibri" pitchFamily="34" charset="-122"/>
                <a:cs typeface="Calibri" pitchFamily="34" charset="-120"/>
              </a:rPr>
              <a:t>DTO — contrato público de la API</a:t>
            </a:r>
            <a:endParaRPr lang="en-US" sz="1100" dirty="0"/>
          </a:p>
        </p:txBody>
      </p:sp>
      <p:sp>
        <p:nvSpPr>
          <p:cNvPr id="18" name="Text 16"/>
          <p:cNvSpPr/>
          <p:nvPr/>
        </p:nvSpPr>
        <p:spPr>
          <a:xfrm>
            <a:off x="6537960" y="2874758"/>
            <a:ext cx="4846320" cy="228600"/>
          </a:xfrm>
          <a:prstGeom prst="rect">
            <a:avLst/>
          </a:prstGeom>
          <a:noFill/>
          <a:ln/>
        </p:spPr>
        <p:txBody>
          <a:bodyPr wrap="square" lIns="0" tIns="0" rIns="0" bIns="0" rtlCol="0" anchor="ctr"/>
          <a:lstStyle/>
          <a:p>
            <a:pPr marL="0" indent="0" algn="l">
              <a:buNone/>
            </a:pPr>
            <a:r>
              <a:rPr lang="en-US" sz="970" dirty="0">
                <a:solidFill>
                  <a:srgbClr val="8FC7E8"/>
                </a:solidFill>
                <a:latin typeface="Courier New" pitchFamily="34" charset="0"/>
                <a:ea typeface="Courier New" pitchFamily="34" charset="-122"/>
                <a:cs typeface="Courier New" pitchFamily="34" charset="-120"/>
              </a:rPr>
              <a:t>public class LibroDto</a:t>
            </a:r>
            <a:endParaRPr lang="en-US" sz="970" dirty="0"/>
          </a:p>
        </p:txBody>
      </p:sp>
      <p:sp>
        <p:nvSpPr>
          <p:cNvPr id="19" name="Text 17"/>
          <p:cNvSpPr/>
          <p:nvPr/>
        </p:nvSpPr>
        <p:spPr>
          <a:xfrm>
            <a:off x="6537960" y="3117074"/>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a:t>
            </a:r>
            <a:endParaRPr lang="en-US" sz="970" dirty="0"/>
          </a:p>
        </p:txBody>
      </p:sp>
      <p:sp>
        <p:nvSpPr>
          <p:cNvPr id="20" name="Text 18"/>
          <p:cNvSpPr/>
          <p:nvPr/>
        </p:nvSpPr>
        <p:spPr>
          <a:xfrm>
            <a:off x="6537960" y="3359390"/>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public int Id { get; set; }</a:t>
            </a:r>
            <a:endParaRPr lang="en-US" sz="970" dirty="0"/>
          </a:p>
        </p:txBody>
      </p:sp>
      <p:sp>
        <p:nvSpPr>
          <p:cNvPr id="21" name="Text 19"/>
          <p:cNvSpPr/>
          <p:nvPr/>
        </p:nvSpPr>
        <p:spPr>
          <a:xfrm>
            <a:off x="6537960" y="3601706"/>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public string Titulo { get; set; }</a:t>
            </a:r>
            <a:endParaRPr lang="en-US" sz="970" dirty="0"/>
          </a:p>
        </p:txBody>
      </p:sp>
      <p:sp>
        <p:nvSpPr>
          <p:cNvPr id="22" name="Text 20"/>
          <p:cNvSpPr/>
          <p:nvPr/>
        </p:nvSpPr>
        <p:spPr>
          <a:xfrm>
            <a:off x="6537960" y="3844022"/>
            <a:ext cx="4846320" cy="228600"/>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public string NombreAutor { get; set; }</a:t>
            </a:r>
            <a:endParaRPr lang="en-US" sz="970" dirty="0"/>
          </a:p>
        </p:txBody>
      </p:sp>
      <p:sp>
        <p:nvSpPr>
          <p:cNvPr id="23" name="Text 21"/>
          <p:cNvSpPr/>
          <p:nvPr/>
        </p:nvSpPr>
        <p:spPr>
          <a:xfrm>
            <a:off x="6537960" y="4086338"/>
            <a:ext cx="4846320" cy="228600"/>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a:t>
            </a:r>
            <a:endParaRPr lang="en-US" sz="970" dirty="0"/>
          </a:p>
        </p:txBody>
      </p:sp>
      <p:sp>
        <p:nvSpPr>
          <p:cNvPr id="24" name="Text 22"/>
          <p:cNvSpPr/>
          <p:nvPr/>
        </p:nvSpPr>
        <p:spPr>
          <a:xfrm>
            <a:off x="6537960" y="4328654"/>
            <a:ext cx="4846320" cy="228600"/>
          </a:xfrm>
          <a:prstGeom prst="rect">
            <a:avLst/>
          </a:prstGeom>
          <a:noFill/>
          <a:ln/>
        </p:spPr>
        <p:txBody>
          <a:bodyPr wrap="square" lIns="0" tIns="0" rIns="0" bIns="0" rtlCol="0" anchor="ctr"/>
          <a:lstStyle/>
          <a:p>
            <a:pPr marL="0" indent="0" algn="l">
              <a:buNone/>
            </a:pPr>
            <a:endParaRPr lang="en-US" sz="970" dirty="0"/>
          </a:p>
        </p:txBody>
      </p:sp>
      <p:sp>
        <p:nvSpPr>
          <p:cNvPr id="25" name="Text 23"/>
          <p:cNvSpPr/>
          <p:nvPr/>
        </p:nvSpPr>
        <p:spPr>
          <a:xfrm>
            <a:off x="6537960" y="4570970"/>
            <a:ext cx="4846320" cy="228600"/>
          </a:xfrm>
          <a:prstGeom prst="rect">
            <a:avLst/>
          </a:prstGeom>
          <a:noFill/>
          <a:ln/>
        </p:spPr>
        <p:txBody>
          <a:bodyPr wrap="square" lIns="0" tIns="0" rIns="0" bIns="0" rtlCol="0" anchor="ctr"/>
          <a:lstStyle/>
          <a:p>
            <a:pPr marL="0" indent="0" algn="l">
              <a:buNone/>
            </a:pPr>
            <a:r>
              <a:rPr lang="en-US" sz="970" dirty="0">
                <a:solidFill>
                  <a:srgbClr val="8FA3C9"/>
                </a:solidFill>
                <a:latin typeface="Courier New" pitchFamily="34" charset="0"/>
                <a:ea typeface="Courier New" pitchFamily="34" charset="-122"/>
                <a:cs typeface="Courier New" pitchFamily="34" charset="-120"/>
              </a:rPr>
              <a:t>// Sin CostoInterno, sin ciclos</a:t>
            </a:r>
            <a:endParaRPr lang="en-US" sz="970" dirty="0"/>
          </a:p>
        </p:txBody>
      </p:sp>
      <p:sp>
        <p:nvSpPr>
          <p:cNvPr id="26" name="Shape 24"/>
          <p:cNvSpPr/>
          <p:nvPr/>
        </p:nvSpPr>
        <p:spPr>
          <a:xfrm>
            <a:off x="548640" y="5088915"/>
            <a:ext cx="2606040" cy="960120"/>
          </a:xfrm>
          <a:prstGeom prst="roundRect">
            <a:avLst>
              <a:gd name="adj" fmla="val 6667"/>
            </a:avLst>
          </a:prstGeom>
          <a:solidFill>
            <a:srgbClr val="E7F1F6"/>
          </a:solidFill>
          <a:ln/>
        </p:spPr>
        <p:txBody>
          <a:bodyPr/>
          <a:lstStyle/>
          <a:p>
            <a:endParaRPr lang="es-AR"/>
          </a:p>
        </p:txBody>
      </p:sp>
      <p:sp>
        <p:nvSpPr>
          <p:cNvPr id="27" name="Text 25"/>
          <p:cNvSpPr/>
          <p:nvPr/>
        </p:nvSpPr>
        <p:spPr>
          <a:xfrm>
            <a:off x="676656" y="5180355"/>
            <a:ext cx="2350008" cy="274320"/>
          </a:xfrm>
          <a:prstGeom prst="rect">
            <a:avLst/>
          </a:prstGeom>
          <a:noFill/>
          <a:ln/>
        </p:spPr>
        <p:txBody>
          <a:bodyPr wrap="square" lIns="0" tIns="0" rIns="0" bIns="0" rtlCol="0" anchor="ctr"/>
          <a:lstStyle/>
          <a:p>
            <a:pPr marL="0" indent="0" algn="l">
              <a:buNone/>
            </a:pPr>
            <a:r>
              <a:rPr lang="en-US" sz="1050" b="1" dirty="0">
                <a:solidFill>
                  <a:srgbClr val="065A82"/>
                </a:solidFill>
                <a:latin typeface="Cambria" pitchFamily="34" charset="0"/>
                <a:ea typeface="Cambria" pitchFamily="34" charset="-122"/>
                <a:cs typeface="Cambria" pitchFamily="34" charset="-120"/>
              </a:rPr>
              <a:t>Oculta datos sensibles</a:t>
            </a:r>
            <a:endParaRPr lang="en-US" sz="1050" dirty="0"/>
          </a:p>
        </p:txBody>
      </p:sp>
      <p:sp>
        <p:nvSpPr>
          <p:cNvPr id="28" name="Text 26"/>
          <p:cNvSpPr/>
          <p:nvPr/>
        </p:nvSpPr>
        <p:spPr>
          <a:xfrm>
            <a:off x="676656" y="5454675"/>
            <a:ext cx="2350008" cy="548640"/>
          </a:xfrm>
          <a:prstGeom prst="rect">
            <a:avLst/>
          </a:prstGeom>
          <a:noFill/>
          <a:ln/>
        </p:spPr>
        <p:txBody>
          <a:bodyPr wrap="square" lIns="0" tIns="0" rIns="0" bIns="0" rtlCol="0" anchor="ctr"/>
          <a:lstStyle/>
          <a:p>
            <a:pPr marL="0" indent="0" algn="l">
              <a:buNone/>
            </a:pPr>
            <a:r>
              <a:rPr lang="en-US" sz="830" dirty="0">
                <a:solidFill>
                  <a:srgbClr val="5C6B73"/>
                </a:solidFill>
                <a:latin typeface="Calibri" pitchFamily="34" charset="0"/>
                <a:ea typeface="Calibri" pitchFamily="34" charset="-122"/>
                <a:cs typeface="Calibri" pitchFamily="34" charset="-120"/>
              </a:rPr>
              <a:t>Costos internos, flags administrativos o cualquier columna que el cliente no debería ver.</a:t>
            </a:r>
            <a:endParaRPr lang="en-US" sz="830" dirty="0"/>
          </a:p>
        </p:txBody>
      </p:sp>
      <p:sp>
        <p:nvSpPr>
          <p:cNvPr id="29" name="Shape 27"/>
          <p:cNvSpPr/>
          <p:nvPr/>
        </p:nvSpPr>
        <p:spPr>
          <a:xfrm>
            <a:off x="3410712" y="5088915"/>
            <a:ext cx="2606040" cy="960120"/>
          </a:xfrm>
          <a:prstGeom prst="roundRect">
            <a:avLst>
              <a:gd name="adj" fmla="val 6667"/>
            </a:avLst>
          </a:prstGeom>
          <a:solidFill>
            <a:srgbClr val="E7F1F6"/>
          </a:solidFill>
          <a:ln/>
        </p:spPr>
        <p:txBody>
          <a:bodyPr/>
          <a:lstStyle/>
          <a:p>
            <a:endParaRPr lang="es-AR"/>
          </a:p>
        </p:txBody>
      </p:sp>
      <p:sp>
        <p:nvSpPr>
          <p:cNvPr id="30" name="Text 28"/>
          <p:cNvSpPr/>
          <p:nvPr/>
        </p:nvSpPr>
        <p:spPr>
          <a:xfrm>
            <a:off x="3538728" y="5180355"/>
            <a:ext cx="2350008" cy="274320"/>
          </a:xfrm>
          <a:prstGeom prst="rect">
            <a:avLst/>
          </a:prstGeom>
          <a:noFill/>
          <a:ln/>
        </p:spPr>
        <p:txBody>
          <a:bodyPr wrap="square" lIns="0" tIns="0" rIns="0" bIns="0" rtlCol="0" anchor="ctr"/>
          <a:lstStyle/>
          <a:p>
            <a:pPr marL="0" indent="0" algn="l">
              <a:buNone/>
            </a:pPr>
            <a:r>
              <a:rPr lang="en-US" sz="1050" b="1" dirty="0">
                <a:solidFill>
                  <a:srgbClr val="065A82"/>
                </a:solidFill>
                <a:latin typeface="Cambria" pitchFamily="34" charset="0"/>
                <a:ea typeface="Cambria" pitchFamily="34" charset="-122"/>
                <a:cs typeface="Cambria" pitchFamily="34" charset="-120"/>
              </a:rPr>
              <a:t>Evita referencias circulares</a:t>
            </a:r>
            <a:endParaRPr lang="en-US" sz="1050" dirty="0"/>
          </a:p>
        </p:txBody>
      </p:sp>
      <p:sp>
        <p:nvSpPr>
          <p:cNvPr id="31" name="Text 29"/>
          <p:cNvSpPr/>
          <p:nvPr/>
        </p:nvSpPr>
        <p:spPr>
          <a:xfrm>
            <a:off x="3538728" y="5454675"/>
            <a:ext cx="2350008" cy="548640"/>
          </a:xfrm>
          <a:prstGeom prst="rect">
            <a:avLst/>
          </a:prstGeom>
          <a:noFill/>
          <a:ln/>
        </p:spPr>
        <p:txBody>
          <a:bodyPr wrap="square" lIns="0" tIns="0" rIns="0" bIns="0" rtlCol="0" anchor="ctr"/>
          <a:lstStyle/>
          <a:p>
            <a:pPr marL="0" indent="0" algn="l">
              <a:buNone/>
            </a:pPr>
            <a:r>
              <a:rPr lang="en-US" sz="830" dirty="0">
                <a:solidFill>
                  <a:srgbClr val="5C6B73"/>
                </a:solidFill>
                <a:latin typeface="Calibri" pitchFamily="34" charset="0"/>
                <a:ea typeface="Calibri" pitchFamily="34" charset="-122"/>
                <a:cs typeface="Calibri" pitchFamily="34" charset="-120"/>
              </a:rPr>
              <a:t>Serializar Libro→Autor→Libros→Autor... rompe el serializador JSON.</a:t>
            </a:r>
            <a:endParaRPr lang="en-US" sz="830" dirty="0"/>
          </a:p>
        </p:txBody>
      </p:sp>
      <p:sp>
        <p:nvSpPr>
          <p:cNvPr id="32" name="Shape 30"/>
          <p:cNvSpPr/>
          <p:nvPr/>
        </p:nvSpPr>
        <p:spPr>
          <a:xfrm>
            <a:off x="6272784" y="5088915"/>
            <a:ext cx="2606040" cy="960120"/>
          </a:xfrm>
          <a:prstGeom prst="roundRect">
            <a:avLst>
              <a:gd name="adj" fmla="val 6667"/>
            </a:avLst>
          </a:prstGeom>
          <a:solidFill>
            <a:srgbClr val="E7F1F6"/>
          </a:solidFill>
          <a:ln/>
        </p:spPr>
        <p:txBody>
          <a:bodyPr/>
          <a:lstStyle/>
          <a:p>
            <a:endParaRPr lang="es-AR"/>
          </a:p>
        </p:txBody>
      </p:sp>
      <p:sp>
        <p:nvSpPr>
          <p:cNvPr id="33" name="Text 31"/>
          <p:cNvSpPr/>
          <p:nvPr/>
        </p:nvSpPr>
        <p:spPr>
          <a:xfrm>
            <a:off x="6400800" y="5180355"/>
            <a:ext cx="2350008" cy="274320"/>
          </a:xfrm>
          <a:prstGeom prst="rect">
            <a:avLst/>
          </a:prstGeom>
          <a:noFill/>
          <a:ln/>
        </p:spPr>
        <p:txBody>
          <a:bodyPr wrap="square" lIns="0" tIns="0" rIns="0" bIns="0" rtlCol="0" anchor="ctr"/>
          <a:lstStyle/>
          <a:p>
            <a:pPr marL="0" indent="0" algn="l">
              <a:buNone/>
            </a:pPr>
            <a:r>
              <a:rPr lang="en-US" sz="1050" b="1" dirty="0">
                <a:solidFill>
                  <a:srgbClr val="065A82"/>
                </a:solidFill>
                <a:latin typeface="Cambria" pitchFamily="34" charset="0"/>
                <a:ea typeface="Cambria" pitchFamily="34" charset="-122"/>
                <a:cs typeface="Cambria" pitchFamily="34" charset="-120"/>
              </a:rPr>
              <a:t>Desacopla el contrato de la API</a:t>
            </a:r>
            <a:endParaRPr lang="en-US" sz="1050" dirty="0"/>
          </a:p>
        </p:txBody>
      </p:sp>
      <p:sp>
        <p:nvSpPr>
          <p:cNvPr id="34" name="Text 32"/>
          <p:cNvSpPr/>
          <p:nvPr/>
        </p:nvSpPr>
        <p:spPr>
          <a:xfrm>
            <a:off x="6400800" y="5454675"/>
            <a:ext cx="2350008" cy="548640"/>
          </a:xfrm>
          <a:prstGeom prst="rect">
            <a:avLst/>
          </a:prstGeom>
          <a:noFill/>
          <a:ln/>
        </p:spPr>
        <p:txBody>
          <a:bodyPr wrap="square" lIns="0" tIns="0" rIns="0" bIns="0" rtlCol="0" anchor="ctr"/>
          <a:lstStyle/>
          <a:p>
            <a:pPr marL="0" indent="0" algn="l">
              <a:buNone/>
            </a:pPr>
            <a:r>
              <a:rPr lang="en-US" sz="830" dirty="0">
                <a:solidFill>
                  <a:srgbClr val="5C6B73"/>
                </a:solidFill>
                <a:latin typeface="Calibri" pitchFamily="34" charset="0"/>
                <a:ea typeface="Calibri" pitchFamily="34" charset="-122"/>
                <a:cs typeface="Calibri" pitchFamily="34" charset="-120"/>
              </a:rPr>
              <a:t>Cambiar el esquema interno no debería romper a los clientes que la consumen.</a:t>
            </a:r>
            <a:endParaRPr lang="en-US" sz="830" dirty="0"/>
          </a:p>
        </p:txBody>
      </p:sp>
      <p:sp>
        <p:nvSpPr>
          <p:cNvPr id="35" name="Shape 33"/>
          <p:cNvSpPr/>
          <p:nvPr/>
        </p:nvSpPr>
        <p:spPr>
          <a:xfrm>
            <a:off x="9134856" y="5088915"/>
            <a:ext cx="2606040" cy="960120"/>
          </a:xfrm>
          <a:prstGeom prst="roundRect">
            <a:avLst>
              <a:gd name="adj" fmla="val 6667"/>
            </a:avLst>
          </a:prstGeom>
          <a:solidFill>
            <a:srgbClr val="E7F1F6"/>
          </a:solidFill>
          <a:ln/>
        </p:spPr>
        <p:txBody>
          <a:bodyPr/>
          <a:lstStyle/>
          <a:p>
            <a:endParaRPr lang="es-AR"/>
          </a:p>
        </p:txBody>
      </p:sp>
      <p:sp>
        <p:nvSpPr>
          <p:cNvPr id="36" name="Text 34"/>
          <p:cNvSpPr/>
          <p:nvPr/>
        </p:nvSpPr>
        <p:spPr>
          <a:xfrm>
            <a:off x="9262872" y="5180355"/>
            <a:ext cx="2350008" cy="274320"/>
          </a:xfrm>
          <a:prstGeom prst="rect">
            <a:avLst/>
          </a:prstGeom>
          <a:noFill/>
          <a:ln/>
        </p:spPr>
        <p:txBody>
          <a:bodyPr wrap="square" lIns="0" tIns="0" rIns="0" bIns="0" rtlCol="0" anchor="ctr"/>
          <a:lstStyle/>
          <a:p>
            <a:pPr marL="0" indent="0" algn="l">
              <a:buNone/>
            </a:pPr>
            <a:r>
              <a:rPr lang="en-US" sz="1050" b="1" dirty="0">
                <a:solidFill>
                  <a:srgbClr val="065A82"/>
                </a:solidFill>
                <a:latin typeface="Cambria" pitchFamily="34" charset="0"/>
                <a:ea typeface="Cambria" pitchFamily="34" charset="-122"/>
                <a:cs typeface="Cambria" pitchFamily="34" charset="-120"/>
              </a:rPr>
              <a:t>Una forma por caso de uso</a:t>
            </a:r>
            <a:endParaRPr lang="en-US" sz="1050" dirty="0"/>
          </a:p>
        </p:txBody>
      </p:sp>
      <p:sp>
        <p:nvSpPr>
          <p:cNvPr id="37" name="Text 35"/>
          <p:cNvSpPr/>
          <p:nvPr/>
        </p:nvSpPr>
        <p:spPr>
          <a:xfrm>
            <a:off x="9262872" y="5454675"/>
            <a:ext cx="2350008" cy="548640"/>
          </a:xfrm>
          <a:prstGeom prst="rect">
            <a:avLst/>
          </a:prstGeom>
          <a:noFill/>
          <a:ln/>
        </p:spPr>
        <p:txBody>
          <a:bodyPr wrap="square" lIns="0" tIns="0" rIns="0" bIns="0" rtlCol="0" anchor="ctr"/>
          <a:lstStyle/>
          <a:p>
            <a:pPr marL="0" indent="0" algn="l">
              <a:buNone/>
            </a:pPr>
            <a:r>
              <a:rPr lang="en-US" sz="830" dirty="0">
                <a:solidFill>
                  <a:srgbClr val="5C6B73"/>
                </a:solidFill>
                <a:latin typeface="Calibri" pitchFamily="34" charset="0"/>
                <a:ea typeface="Calibri" pitchFamily="34" charset="-122"/>
                <a:cs typeface="Calibri" pitchFamily="34" charset="-120"/>
              </a:rPr>
              <a:t>Un DTO para crear (sin Id), otro para listar (resumido), otro para el detalle.</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AutoMapper: mapeando entidades a DTOs</a:t>
            </a:r>
            <a:endParaRPr lang="en-US" sz="3000" dirty="0"/>
          </a:p>
        </p:txBody>
      </p:sp>
      <p:sp>
        <p:nvSpPr>
          <p:cNvPr id="4" name="Shape 2"/>
          <p:cNvSpPr/>
          <p:nvPr/>
        </p:nvSpPr>
        <p:spPr>
          <a:xfrm>
            <a:off x="548640" y="1457436"/>
            <a:ext cx="11091672" cy="868680"/>
          </a:xfrm>
          <a:prstGeom prst="roundRect">
            <a:avLst>
              <a:gd name="adj" fmla="val 8421"/>
            </a:avLst>
          </a:prstGeom>
          <a:solidFill>
            <a:srgbClr val="E7F1F6"/>
          </a:solidFill>
          <a:ln/>
        </p:spPr>
        <p:txBody>
          <a:bodyPr/>
          <a:lstStyle/>
          <a:p>
            <a:endParaRPr lang="es-AR"/>
          </a:p>
        </p:txBody>
      </p:sp>
      <p:sp>
        <p:nvSpPr>
          <p:cNvPr id="5" name="Text 3"/>
          <p:cNvSpPr/>
          <p:nvPr/>
        </p:nvSpPr>
        <p:spPr>
          <a:xfrm>
            <a:off x="868680" y="1457436"/>
            <a:ext cx="10451592" cy="868680"/>
          </a:xfrm>
          <a:prstGeom prst="rect">
            <a:avLst/>
          </a:prstGeom>
          <a:noFill/>
          <a:ln/>
        </p:spPr>
        <p:txBody>
          <a:bodyPr wrap="square" lIns="0" tIns="0" rIns="0" bIns="0"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AutoMapper</a:t>
            </a:r>
            <a:r>
              <a:rPr lang="en-US" sz="1300" dirty="0">
                <a:solidFill>
                  <a:srgbClr val="21295C"/>
                </a:solidFill>
                <a:latin typeface="Calibri" pitchFamily="34" charset="0"/>
                <a:ea typeface="Calibri" pitchFamily="34" charset="-122"/>
                <a:cs typeface="Calibri" pitchFamily="34" charset="-120"/>
              </a:rPr>
              <a:t> es una librería de mapeo objeto-objeto para .NET. Se usa junto con EF Core para convertir automáticamente entidades del modelo en los DTOs que acabamos de ver, evitando escribir a mano el mismo código de asignación de propiedades una y otra vez.</a:t>
            </a:r>
            <a:endParaRPr lang="en-US" sz="1300" dirty="0"/>
          </a:p>
        </p:txBody>
      </p:sp>
      <p:sp>
        <p:nvSpPr>
          <p:cNvPr id="6" name="Shape 4"/>
          <p:cNvSpPr/>
          <p:nvPr/>
        </p:nvSpPr>
        <p:spPr>
          <a:xfrm>
            <a:off x="1156716" y="2665755"/>
            <a:ext cx="2743200" cy="822960"/>
          </a:xfrm>
          <a:prstGeom prst="roundRect">
            <a:avLst>
              <a:gd name="adj" fmla="val 11111"/>
            </a:avLst>
          </a:prstGeom>
          <a:solidFill>
            <a:srgbClr val="065A82"/>
          </a:solidFill>
          <a:ln/>
        </p:spPr>
        <p:txBody>
          <a:bodyPr/>
          <a:lstStyle/>
          <a:p>
            <a:endParaRPr lang="es-AR"/>
          </a:p>
        </p:txBody>
      </p:sp>
      <p:sp>
        <p:nvSpPr>
          <p:cNvPr id="7" name="Text 5"/>
          <p:cNvSpPr/>
          <p:nvPr/>
        </p:nvSpPr>
        <p:spPr>
          <a:xfrm>
            <a:off x="1156716" y="2665755"/>
            <a:ext cx="2743200" cy="822960"/>
          </a:xfrm>
          <a:prstGeom prst="rect">
            <a:avLst/>
          </a:prstGeom>
          <a:noFill/>
          <a:ln/>
        </p:spPr>
        <p:txBody>
          <a:bodyPr wrap="square" lIns="0" tIns="0" rIns="0" bIns="0" rtlCol="0" anchor="ctr"/>
          <a:lstStyle/>
          <a:p>
            <a:pPr marL="0" indent="0" algn="ctr">
              <a:buNone/>
            </a:pPr>
            <a:r>
              <a:rPr lang="en-US" sz="1200" dirty="0">
                <a:solidFill>
                  <a:srgbClr val="E8EEF2"/>
                </a:solidFill>
                <a:latin typeface="Courier New" pitchFamily="34" charset="0"/>
                <a:ea typeface="Courier New" pitchFamily="34" charset="-122"/>
                <a:cs typeface="Courier New" pitchFamily="34" charset="-120"/>
              </a:rPr>
              <a:t>class Libro (Entity)</a:t>
            </a:r>
            <a:endParaRPr lang="en-US" sz="1200" dirty="0"/>
          </a:p>
        </p:txBody>
      </p:sp>
      <p:sp>
        <p:nvSpPr>
          <p:cNvPr id="8" name="Text 6"/>
          <p:cNvSpPr/>
          <p:nvPr/>
        </p:nvSpPr>
        <p:spPr>
          <a:xfrm>
            <a:off x="3899916" y="2665755"/>
            <a:ext cx="822960" cy="822960"/>
          </a:xfrm>
          <a:prstGeom prst="rect">
            <a:avLst/>
          </a:prstGeom>
          <a:noFill/>
          <a:ln/>
        </p:spPr>
        <p:txBody>
          <a:bodyPr wrap="square" lIns="0" tIns="0" rIns="0" bIns="0" rtlCol="0" anchor="ctr"/>
          <a:lstStyle/>
          <a:p>
            <a:pPr marL="0" indent="0" algn="ctr">
              <a:buNone/>
            </a:pPr>
            <a:r>
              <a:rPr lang="en-US" sz="2200" dirty="0">
                <a:solidFill>
                  <a:srgbClr val="1C7293"/>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722876" y="2665755"/>
            <a:ext cx="2743200" cy="822960"/>
          </a:xfrm>
          <a:prstGeom prst="roundRect">
            <a:avLst>
              <a:gd name="adj" fmla="val 11111"/>
            </a:avLst>
          </a:prstGeom>
          <a:solidFill>
            <a:srgbClr val="1C7293"/>
          </a:solidFill>
          <a:ln/>
        </p:spPr>
        <p:txBody>
          <a:bodyPr/>
          <a:lstStyle/>
          <a:p>
            <a:endParaRPr lang="es-AR"/>
          </a:p>
        </p:txBody>
      </p:sp>
      <p:sp>
        <p:nvSpPr>
          <p:cNvPr id="10" name="Text 8"/>
          <p:cNvSpPr/>
          <p:nvPr/>
        </p:nvSpPr>
        <p:spPr>
          <a:xfrm>
            <a:off x="4722876" y="2665755"/>
            <a:ext cx="2743200" cy="822960"/>
          </a:xfrm>
          <a:prstGeom prst="rect">
            <a:avLst/>
          </a:prstGeom>
          <a:noFill/>
          <a:ln/>
        </p:spPr>
        <p:txBody>
          <a:bodyPr wrap="square" lIns="0" tIns="0" rIns="0" bIns="0" rtlCol="0" anchor="ctr"/>
          <a:lstStyle/>
          <a:p>
            <a:pPr marL="0" indent="0" algn="ctr">
              <a:buNone/>
            </a:pPr>
            <a:r>
              <a:rPr lang="en-US" sz="1200" dirty="0">
                <a:solidFill>
                  <a:srgbClr val="E8EEF2"/>
                </a:solidFill>
                <a:latin typeface="Courier New" pitchFamily="34" charset="0"/>
                <a:ea typeface="Courier New" pitchFamily="34" charset="-122"/>
                <a:cs typeface="Courier New" pitchFamily="34" charset="-120"/>
              </a:rPr>
              <a:t>AutoMapper</a:t>
            </a:r>
            <a:endParaRPr lang="en-US" sz="1200" dirty="0"/>
          </a:p>
        </p:txBody>
      </p:sp>
      <p:sp>
        <p:nvSpPr>
          <p:cNvPr id="11" name="Text 9"/>
          <p:cNvSpPr/>
          <p:nvPr/>
        </p:nvSpPr>
        <p:spPr>
          <a:xfrm>
            <a:off x="7466076" y="2665755"/>
            <a:ext cx="822960" cy="822960"/>
          </a:xfrm>
          <a:prstGeom prst="rect">
            <a:avLst/>
          </a:prstGeom>
          <a:noFill/>
          <a:ln/>
        </p:spPr>
        <p:txBody>
          <a:bodyPr wrap="square" lIns="0" tIns="0" rIns="0" bIns="0" rtlCol="0" anchor="ctr"/>
          <a:lstStyle/>
          <a:p>
            <a:pPr marL="0" indent="0" algn="ctr">
              <a:buNone/>
            </a:pPr>
            <a:r>
              <a:rPr lang="en-US" sz="2200" dirty="0">
                <a:solidFill>
                  <a:srgbClr val="1C7293"/>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8289036" y="2665755"/>
            <a:ext cx="2743200" cy="822960"/>
          </a:xfrm>
          <a:prstGeom prst="roundRect">
            <a:avLst>
              <a:gd name="adj" fmla="val 11111"/>
            </a:avLst>
          </a:prstGeom>
          <a:solidFill>
            <a:srgbClr val="065A82"/>
          </a:solidFill>
          <a:ln/>
        </p:spPr>
        <p:txBody>
          <a:bodyPr/>
          <a:lstStyle/>
          <a:p>
            <a:endParaRPr lang="es-AR"/>
          </a:p>
        </p:txBody>
      </p:sp>
      <p:sp>
        <p:nvSpPr>
          <p:cNvPr id="13" name="Text 11"/>
          <p:cNvSpPr/>
          <p:nvPr/>
        </p:nvSpPr>
        <p:spPr>
          <a:xfrm>
            <a:off x="8289036" y="2665755"/>
            <a:ext cx="2743200" cy="822960"/>
          </a:xfrm>
          <a:prstGeom prst="rect">
            <a:avLst/>
          </a:prstGeom>
          <a:noFill/>
          <a:ln/>
        </p:spPr>
        <p:txBody>
          <a:bodyPr wrap="square" lIns="0" tIns="0" rIns="0" bIns="0" rtlCol="0" anchor="ctr"/>
          <a:lstStyle/>
          <a:p>
            <a:pPr marL="0" indent="0" algn="ctr">
              <a:buNone/>
            </a:pPr>
            <a:r>
              <a:rPr lang="en-US" sz="1200" dirty="0">
                <a:solidFill>
                  <a:srgbClr val="E8EEF2"/>
                </a:solidFill>
                <a:latin typeface="Courier New" pitchFamily="34" charset="0"/>
                <a:ea typeface="Courier New" pitchFamily="34" charset="-122"/>
                <a:cs typeface="Courier New" pitchFamily="34" charset="-120"/>
              </a:rPr>
              <a:t>LibroDto</a:t>
            </a:r>
            <a:endParaRPr lang="en-US" sz="1200" dirty="0"/>
          </a:p>
        </p:txBody>
      </p:sp>
      <p:sp>
        <p:nvSpPr>
          <p:cNvPr id="14" name="Shape 12"/>
          <p:cNvSpPr/>
          <p:nvPr/>
        </p:nvSpPr>
        <p:spPr>
          <a:xfrm>
            <a:off x="548640" y="3977640"/>
            <a:ext cx="2606040" cy="1737360"/>
          </a:xfrm>
          <a:prstGeom prst="roundRect">
            <a:avLst>
              <a:gd name="adj" fmla="val 4211"/>
            </a:avLst>
          </a:prstGeom>
          <a:solidFill>
            <a:srgbClr val="065A82"/>
          </a:solidFill>
          <a:ln/>
        </p:spPr>
        <p:txBody>
          <a:bodyPr/>
          <a:lstStyle/>
          <a:p>
            <a:endParaRPr lang="es-AR"/>
          </a:p>
        </p:txBody>
      </p:sp>
      <p:sp>
        <p:nvSpPr>
          <p:cNvPr id="15" name="Text 13"/>
          <p:cNvSpPr/>
          <p:nvPr/>
        </p:nvSpPr>
        <p:spPr>
          <a:xfrm>
            <a:off x="713232" y="4160520"/>
            <a:ext cx="227685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Cambria" pitchFamily="34" charset="0"/>
                <a:ea typeface="Cambria" pitchFamily="34" charset="-122"/>
                <a:cs typeface="Cambria" pitchFamily="34" charset="-120"/>
              </a:rPr>
              <a:t>Menos código repetitivo</a:t>
            </a:r>
            <a:endParaRPr lang="en-US" sz="1250" dirty="0"/>
          </a:p>
        </p:txBody>
      </p:sp>
      <p:sp>
        <p:nvSpPr>
          <p:cNvPr id="16" name="Text 14"/>
          <p:cNvSpPr/>
          <p:nvPr/>
        </p:nvSpPr>
        <p:spPr>
          <a:xfrm>
            <a:off x="713232" y="4754880"/>
            <a:ext cx="2276856" cy="91440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En vez de asignar cada propiedad a mano, una sola línea mapea el objeto completo.</a:t>
            </a:r>
            <a:endParaRPr lang="en-US" sz="1000" dirty="0"/>
          </a:p>
        </p:txBody>
      </p:sp>
      <p:sp>
        <p:nvSpPr>
          <p:cNvPr id="17" name="Shape 15"/>
          <p:cNvSpPr/>
          <p:nvPr/>
        </p:nvSpPr>
        <p:spPr>
          <a:xfrm>
            <a:off x="3410712" y="3977640"/>
            <a:ext cx="2606040" cy="1737360"/>
          </a:xfrm>
          <a:prstGeom prst="roundRect">
            <a:avLst>
              <a:gd name="adj" fmla="val 4211"/>
            </a:avLst>
          </a:prstGeom>
          <a:solidFill>
            <a:srgbClr val="1C7293"/>
          </a:solidFill>
          <a:ln/>
        </p:spPr>
        <p:txBody>
          <a:bodyPr/>
          <a:lstStyle/>
          <a:p>
            <a:endParaRPr lang="es-AR"/>
          </a:p>
        </p:txBody>
      </p:sp>
      <p:sp>
        <p:nvSpPr>
          <p:cNvPr id="18" name="Text 16"/>
          <p:cNvSpPr/>
          <p:nvPr/>
        </p:nvSpPr>
        <p:spPr>
          <a:xfrm>
            <a:off x="3575304" y="4160520"/>
            <a:ext cx="227685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Cambria" pitchFamily="34" charset="0"/>
                <a:ea typeface="Cambria" pitchFamily="34" charset="-122"/>
                <a:cs typeface="Cambria" pitchFamily="34" charset="-120"/>
              </a:rPr>
              <a:t>Entidades y DTOs desacoplados</a:t>
            </a:r>
            <a:endParaRPr lang="en-US" sz="1250" dirty="0"/>
          </a:p>
        </p:txBody>
      </p:sp>
      <p:sp>
        <p:nvSpPr>
          <p:cNvPr id="19" name="Text 17"/>
          <p:cNvSpPr/>
          <p:nvPr/>
        </p:nvSpPr>
        <p:spPr>
          <a:xfrm>
            <a:off x="3575304" y="4754880"/>
            <a:ext cx="2276856" cy="91440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El esquema interno puede cambiar sin romper el contrato público de la API.</a:t>
            </a:r>
            <a:endParaRPr lang="en-US" sz="1000" dirty="0"/>
          </a:p>
        </p:txBody>
      </p:sp>
      <p:sp>
        <p:nvSpPr>
          <p:cNvPr id="20" name="Shape 18"/>
          <p:cNvSpPr/>
          <p:nvPr/>
        </p:nvSpPr>
        <p:spPr>
          <a:xfrm>
            <a:off x="6272784" y="3977640"/>
            <a:ext cx="2606040" cy="1737360"/>
          </a:xfrm>
          <a:prstGeom prst="roundRect">
            <a:avLst>
              <a:gd name="adj" fmla="val 4211"/>
            </a:avLst>
          </a:prstGeom>
          <a:solidFill>
            <a:srgbClr val="065A82"/>
          </a:solidFill>
          <a:ln/>
        </p:spPr>
        <p:txBody>
          <a:bodyPr/>
          <a:lstStyle/>
          <a:p>
            <a:endParaRPr lang="es-AR"/>
          </a:p>
        </p:txBody>
      </p:sp>
      <p:sp>
        <p:nvSpPr>
          <p:cNvPr id="21" name="Text 19"/>
          <p:cNvSpPr/>
          <p:nvPr/>
        </p:nvSpPr>
        <p:spPr>
          <a:xfrm>
            <a:off x="6437376" y="4160520"/>
            <a:ext cx="227685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Cambria" pitchFamily="34" charset="0"/>
                <a:ea typeface="Cambria" pitchFamily="34" charset="-122"/>
                <a:cs typeface="Cambria" pitchFamily="34" charset="-120"/>
              </a:rPr>
              <a:t>Convención + configuración</a:t>
            </a:r>
            <a:endParaRPr lang="en-US" sz="1250" dirty="0"/>
          </a:p>
        </p:txBody>
      </p:sp>
      <p:sp>
        <p:nvSpPr>
          <p:cNvPr id="22" name="Text 20"/>
          <p:cNvSpPr/>
          <p:nvPr/>
        </p:nvSpPr>
        <p:spPr>
          <a:xfrm>
            <a:off x="6437376" y="4754880"/>
            <a:ext cx="2276856" cy="91440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Mapea automáticamente propiedades con el mismo nombre, y permite reglas a medida para el resto.</a:t>
            </a:r>
            <a:endParaRPr lang="en-US" sz="1000" dirty="0"/>
          </a:p>
        </p:txBody>
      </p:sp>
      <p:sp>
        <p:nvSpPr>
          <p:cNvPr id="23" name="Shape 21"/>
          <p:cNvSpPr/>
          <p:nvPr/>
        </p:nvSpPr>
        <p:spPr>
          <a:xfrm>
            <a:off x="9134856" y="3977640"/>
            <a:ext cx="2606040" cy="1737360"/>
          </a:xfrm>
          <a:prstGeom prst="roundRect">
            <a:avLst>
              <a:gd name="adj" fmla="val 4211"/>
            </a:avLst>
          </a:prstGeom>
          <a:solidFill>
            <a:srgbClr val="1C7293"/>
          </a:solidFill>
          <a:ln/>
        </p:spPr>
        <p:txBody>
          <a:bodyPr/>
          <a:lstStyle/>
          <a:p>
            <a:endParaRPr lang="es-AR"/>
          </a:p>
        </p:txBody>
      </p:sp>
      <p:sp>
        <p:nvSpPr>
          <p:cNvPr id="24" name="Text 22"/>
          <p:cNvSpPr/>
          <p:nvPr/>
        </p:nvSpPr>
        <p:spPr>
          <a:xfrm>
            <a:off x="9299448" y="4160520"/>
            <a:ext cx="227685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Cambria" pitchFamily="34" charset="0"/>
                <a:ea typeface="Cambria" pitchFamily="34" charset="-122"/>
                <a:cs typeface="Cambria" pitchFamily="34" charset="-120"/>
              </a:rPr>
              <a:t>Se integra con LINQ</a:t>
            </a:r>
            <a:endParaRPr lang="en-US" sz="1250" dirty="0"/>
          </a:p>
        </p:txBody>
      </p:sp>
      <p:sp>
        <p:nvSpPr>
          <p:cNvPr id="25" name="Text 23"/>
          <p:cNvSpPr/>
          <p:nvPr/>
        </p:nvSpPr>
        <p:spPr>
          <a:xfrm>
            <a:off x="9299448" y="4754880"/>
            <a:ext cx="2276856" cy="914400"/>
          </a:xfrm>
          <a:prstGeom prst="rect">
            <a:avLst/>
          </a:prstGeom>
          <a:noFill/>
          <a:ln/>
        </p:spPr>
        <p:txBody>
          <a:bodyPr wrap="square" lIns="0" tIns="0" rIns="0" bIns="0" rtlCol="0" anchor="ctr"/>
          <a:lstStyle/>
          <a:p>
            <a:pPr marL="0" indent="0" algn="l">
              <a:buNone/>
            </a:pPr>
            <a:r>
              <a:rPr lang="en-US" sz="1000" dirty="0">
                <a:solidFill>
                  <a:srgbClr val="EAF3F8"/>
                </a:solidFill>
                <a:latin typeface="Calibri" pitchFamily="34" charset="0"/>
                <a:ea typeface="Calibri" pitchFamily="34" charset="-122"/>
                <a:cs typeface="Calibri" pitchFamily="34" charset="-120"/>
              </a:rPr>
              <a:t>ProjectTo&lt;T&gt;() traduce el mapeo a la consulta SQL, trayendo solo las columnas necesarias.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AutoMapper en la práctica</a:t>
            </a:r>
            <a:endParaRPr lang="en-US" sz="3000" dirty="0"/>
          </a:p>
        </p:txBody>
      </p:sp>
      <p:sp>
        <p:nvSpPr>
          <p:cNvPr id="4" name="Shape 2"/>
          <p:cNvSpPr/>
          <p:nvPr/>
        </p:nvSpPr>
        <p:spPr>
          <a:xfrm>
            <a:off x="548640" y="1828800"/>
            <a:ext cx="5486400" cy="4023360"/>
          </a:xfrm>
          <a:prstGeom prst="roundRect">
            <a:avLst>
              <a:gd name="adj" fmla="val 1818"/>
            </a:avLst>
          </a:prstGeom>
          <a:solidFill>
            <a:srgbClr val="132139"/>
          </a:solidFill>
          <a:ln/>
        </p:spPr>
        <p:txBody>
          <a:bodyPr/>
          <a:lstStyle/>
          <a:p>
            <a:endParaRPr lang="es-AR"/>
          </a:p>
        </p:txBody>
      </p:sp>
      <p:sp>
        <p:nvSpPr>
          <p:cNvPr id="5" name="Text 3"/>
          <p:cNvSpPr/>
          <p:nvPr/>
        </p:nvSpPr>
        <p:spPr>
          <a:xfrm>
            <a:off x="822960" y="2011680"/>
            <a:ext cx="4937760" cy="292608"/>
          </a:xfrm>
          <a:prstGeom prst="rect">
            <a:avLst/>
          </a:prstGeom>
          <a:noFill/>
          <a:ln/>
        </p:spPr>
        <p:txBody>
          <a:bodyPr wrap="square" lIns="0" tIns="0" rIns="0" bIns="0" rtlCol="0" anchor="ctr"/>
          <a:lstStyle/>
          <a:p>
            <a:pPr marL="0" indent="0" algn="l">
              <a:buNone/>
            </a:pPr>
            <a:r>
              <a:rPr lang="en-US" sz="1200" b="1" dirty="0">
                <a:solidFill>
                  <a:srgbClr val="8FA3C9"/>
                </a:solidFill>
                <a:latin typeface="Calibri" pitchFamily="34" charset="0"/>
                <a:ea typeface="Calibri" pitchFamily="34" charset="-122"/>
                <a:cs typeface="Calibri" pitchFamily="34" charset="-120"/>
              </a:rPr>
              <a:t>Definir el mapeo (Profile)</a:t>
            </a:r>
            <a:endParaRPr lang="en-US" sz="1200" dirty="0"/>
          </a:p>
        </p:txBody>
      </p:sp>
      <p:sp>
        <p:nvSpPr>
          <p:cNvPr id="6" name="Text 4"/>
          <p:cNvSpPr/>
          <p:nvPr/>
        </p:nvSpPr>
        <p:spPr>
          <a:xfrm>
            <a:off x="822960" y="2359152"/>
            <a:ext cx="4937760" cy="192024"/>
          </a:xfrm>
          <a:prstGeom prst="rect">
            <a:avLst/>
          </a:prstGeom>
          <a:noFill/>
          <a:ln/>
        </p:spPr>
        <p:txBody>
          <a:bodyPr wrap="square" lIns="0" tIns="0" rIns="0" bIns="0" rtlCol="0" anchor="ctr"/>
          <a:lstStyle/>
          <a:p>
            <a:pPr marL="0" indent="0" algn="l">
              <a:buNone/>
            </a:pPr>
            <a:r>
              <a:rPr lang="en-US" sz="970" dirty="0">
                <a:solidFill>
                  <a:srgbClr val="8FC7E8"/>
                </a:solidFill>
                <a:latin typeface="Courier New" pitchFamily="34" charset="0"/>
                <a:ea typeface="Courier New" pitchFamily="34" charset="-122"/>
                <a:cs typeface="Courier New" pitchFamily="34" charset="-120"/>
              </a:rPr>
              <a:t>public class MappingProfile</a:t>
            </a:r>
            <a:endParaRPr lang="en-US" sz="970" dirty="0"/>
          </a:p>
        </p:txBody>
      </p:sp>
      <p:sp>
        <p:nvSpPr>
          <p:cNvPr id="7" name="Text 5"/>
          <p:cNvSpPr/>
          <p:nvPr/>
        </p:nvSpPr>
        <p:spPr>
          <a:xfrm>
            <a:off x="822960" y="2562149"/>
            <a:ext cx="4937760" cy="192024"/>
          </a:xfrm>
          <a:prstGeom prst="rect">
            <a:avLst/>
          </a:prstGeom>
          <a:noFill/>
          <a:ln/>
        </p:spPr>
        <p:txBody>
          <a:bodyPr wrap="square" lIns="0" tIns="0" rIns="0" bIns="0" rtlCol="0" anchor="ctr"/>
          <a:lstStyle/>
          <a:p>
            <a:pPr marL="0" indent="0" algn="l">
              <a:buNone/>
            </a:pPr>
            <a:r>
              <a:rPr lang="en-US" sz="970" dirty="0">
                <a:solidFill>
                  <a:srgbClr val="8FC7E8"/>
                </a:solidFill>
                <a:latin typeface="Courier New" pitchFamily="34" charset="0"/>
                <a:ea typeface="Courier New" pitchFamily="34" charset="-122"/>
                <a:cs typeface="Courier New" pitchFamily="34" charset="-120"/>
              </a:rPr>
              <a:t>  : Profile</a:t>
            </a:r>
            <a:endParaRPr lang="en-US" sz="970" dirty="0"/>
          </a:p>
        </p:txBody>
      </p:sp>
      <p:sp>
        <p:nvSpPr>
          <p:cNvPr id="8" name="Text 6"/>
          <p:cNvSpPr/>
          <p:nvPr/>
        </p:nvSpPr>
        <p:spPr>
          <a:xfrm>
            <a:off x="822960" y="2765146"/>
            <a:ext cx="4937760" cy="192024"/>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a:t>
            </a:r>
            <a:endParaRPr lang="en-US" sz="970" dirty="0"/>
          </a:p>
        </p:txBody>
      </p:sp>
      <p:sp>
        <p:nvSpPr>
          <p:cNvPr id="9" name="Text 7"/>
          <p:cNvSpPr/>
          <p:nvPr/>
        </p:nvSpPr>
        <p:spPr>
          <a:xfrm>
            <a:off x="822960" y="2968142"/>
            <a:ext cx="4937760" cy="192024"/>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public MappingProfile()</a:t>
            </a:r>
            <a:endParaRPr lang="en-US" sz="970" dirty="0"/>
          </a:p>
        </p:txBody>
      </p:sp>
      <p:sp>
        <p:nvSpPr>
          <p:cNvPr id="10" name="Text 8"/>
          <p:cNvSpPr/>
          <p:nvPr/>
        </p:nvSpPr>
        <p:spPr>
          <a:xfrm>
            <a:off x="822960" y="3171139"/>
            <a:ext cx="4937760" cy="192024"/>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a:t>
            </a:r>
            <a:endParaRPr lang="en-US" sz="970" dirty="0"/>
          </a:p>
        </p:txBody>
      </p:sp>
      <p:sp>
        <p:nvSpPr>
          <p:cNvPr id="11" name="Text 9"/>
          <p:cNvSpPr/>
          <p:nvPr/>
        </p:nvSpPr>
        <p:spPr>
          <a:xfrm>
            <a:off x="822960" y="3374136"/>
            <a:ext cx="4937760" cy="192024"/>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CreateMap&lt;Libro, LibroDto&gt;();</a:t>
            </a:r>
            <a:endParaRPr lang="en-US" sz="970" dirty="0"/>
          </a:p>
        </p:txBody>
      </p:sp>
      <p:sp>
        <p:nvSpPr>
          <p:cNvPr id="12" name="Text 10"/>
          <p:cNvSpPr/>
          <p:nvPr/>
        </p:nvSpPr>
        <p:spPr>
          <a:xfrm>
            <a:off x="822960" y="3577133"/>
            <a:ext cx="4937760" cy="192024"/>
          </a:xfrm>
          <a:prstGeom prst="rect">
            <a:avLst/>
          </a:prstGeom>
          <a:noFill/>
          <a:ln/>
        </p:spPr>
        <p:txBody>
          <a:bodyPr wrap="square" lIns="0" tIns="0" rIns="0" bIns="0" rtlCol="0" anchor="ctr"/>
          <a:lstStyle/>
          <a:p>
            <a:pPr marL="0" indent="0" algn="l">
              <a:buNone/>
            </a:pPr>
            <a:endParaRPr lang="en-US" sz="970" dirty="0"/>
          </a:p>
        </p:txBody>
      </p:sp>
      <p:sp>
        <p:nvSpPr>
          <p:cNvPr id="13" name="Text 11"/>
          <p:cNvSpPr/>
          <p:nvPr/>
        </p:nvSpPr>
        <p:spPr>
          <a:xfrm>
            <a:off x="822960" y="3780130"/>
            <a:ext cx="4937760" cy="192024"/>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CreateMap&lt;Autor, AutorDto&gt;()</a:t>
            </a:r>
            <a:endParaRPr lang="en-US" sz="970" dirty="0"/>
          </a:p>
        </p:txBody>
      </p:sp>
      <p:sp>
        <p:nvSpPr>
          <p:cNvPr id="14" name="Text 12"/>
          <p:cNvSpPr/>
          <p:nvPr/>
        </p:nvSpPr>
        <p:spPr>
          <a:xfrm>
            <a:off x="822960" y="3983126"/>
            <a:ext cx="4937760" cy="192024"/>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.ForMember(d =&gt; d.CantidadLibros,</a:t>
            </a:r>
            <a:endParaRPr lang="en-US" sz="970" dirty="0"/>
          </a:p>
        </p:txBody>
      </p:sp>
      <p:sp>
        <p:nvSpPr>
          <p:cNvPr id="15" name="Text 13"/>
          <p:cNvSpPr/>
          <p:nvPr/>
        </p:nvSpPr>
        <p:spPr>
          <a:xfrm>
            <a:off x="822960" y="4186123"/>
            <a:ext cx="4937760" cy="192024"/>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opt =&gt; opt.MapFrom(</a:t>
            </a:r>
            <a:endParaRPr lang="en-US" sz="970" dirty="0"/>
          </a:p>
        </p:txBody>
      </p:sp>
      <p:sp>
        <p:nvSpPr>
          <p:cNvPr id="16" name="Text 14"/>
          <p:cNvSpPr/>
          <p:nvPr/>
        </p:nvSpPr>
        <p:spPr>
          <a:xfrm>
            <a:off x="822960" y="4389120"/>
            <a:ext cx="4937760" cy="192024"/>
          </a:xfrm>
          <a:prstGeom prst="rect">
            <a:avLst/>
          </a:prstGeom>
          <a:noFill/>
          <a:ln/>
        </p:spPr>
        <p:txBody>
          <a:bodyPr wrap="square" lIns="0" tIns="0" rIns="0" bIns="0" rtlCol="0" anchor="ctr"/>
          <a:lstStyle/>
          <a:p>
            <a:pPr marL="0" indent="0" algn="l">
              <a:buNone/>
            </a:pPr>
            <a:r>
              <a:rPr lang="en-US" sz="970" dirty="0">
                <a:solidFill>
                  <a:srgbClr val="8FD694"/>
                </a:solidFill>
                <a:latin typeface="Courier New" pitchFamily="34" charset="0"/>
                <a:ea typeface="Courier New" pitchFamily="34" charset="-122"/>
                <a:cs typeface="Courier New" pitchFamily="34" charset="-120"/>
              </a:rPr>
              <a:t>          src =&gt; src.Libros.Count));</a:t>
            </a:r>
            <a:endParaRPr lang="en-US" sz="970" dirty="0"/>
          </a:p>
        </p:txBody>
      </p:sp>
      <p:sp>
        <p:nvSpPr>
          <p:cNvPr id="17" name="Text 15"/>
          <p:cNvSpPr/>
          <p:nvPr/>
        </p:nvSpPr>
        <p:spPr>
          <a:xfrm>
            <a:off x="822960" y="4592117"/>
            <a:ext cx="4937760" cy="192024"/>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  }</a:t>
            </a:r>
            <a:endParaRPr lang="en-US" sz="970" dirty="0"/>
          </a:p>
        </p:txBody>
      </p:sp>
      <p:sp>
        <p:nvSpPr>
          <p:cNvPr id="18" name="Text 16"/>
          <p:cNvSpPr/>
          <p:nvPr/>
        </p:nvSpPr>
        <p:spPr>
          <a:xfrm>
            <a:off x="822960" y="4795114"/>
            <a:ext cx="4937760" cy="192024"/>
          </a:xfrm>
          <a:prstGeom prst="rect">
            <a:avLst/>
          </a:prstGeom>
          <a:noFill/>
          <a:ln/>
        </p:spPr>
        <p:txBody>
          <a:bodyPr wrap="square" lIns="0" tIns="0" rIns="0" bIns="0" rtlCol="0" anchor="ctr"/>
          <a:lstStyle/>
          <a:p>
            <a:pPr marL="0" indent="0" algn="l">
              <a:buNone/>
            </a:pPr>
            <a:r>
              <a:rPr lang="en-US" sz="970" dirty="0">
                <a:solidFill>
                  <a:srgbClr val="E8EEF2"/>
                </a:solidFill>
                <a:latin typeface="Courier New" pitchFamily="34" charset="0"/>
                <a:ea typeface="Courier New" pitchFamily="34" charset="-122"/>
                <a:cs typeface="Courier New" pitchFamily="34" charset="-120"/>
              </a:rPr>
              <a:t>}</a:t>
            </a:r>
            <a:endParaRPr lang="en-US" sz="970" dirty="0"/>
          </a:p>
        </p:txBody>
      </p:sp>
      <p:sp>
        <p:nvSpPr>
          <p:cNvPr id="19" name="Text 17"/>
          <p:cNvSpPr/>
          <p:nvPr/>
        </p:nvSpPr>
        <p:spPr>
          <a:xfrm>
            <a:off x="822960" y="4998110"/>
            <a:ext cx="4937760" cy="192024"/>
          </a:xfrm>
          <a:prstGeom prst="rect">
            <a:avLst/>
          </a:prstGeom>
          <a:noFill/>
          <a:ln/>
        </p:spPr>
        <p:txBody>
          <a:bodyPr wrap="square" lIns="0" tIns="0" rIns="0" bIns="0" rtlCol="0" anchor="ctr"/>
          <a:lstStyle/>
          <a:p>
            <a:pPr marL="0" indent="0" algn="l">
              <a:buNone/>
            </a:pPr>
            <a:endParaRPr lang="en-US" sz="970" dirty="0"/>
          </a:p>
        </p:txBody>
      </p:sp>
      <p:sp>
        <p:nvSpPr>
          <p:cNvPr id="20" name="Text 18"/>
          <p:cNvSpPr/>
          <p:nvPr/>
        </p:nvSpPr>
        <p:spPr>
          <a:xfrm>
            <a:off x="822960" y="5201107"/>
            <a:ext cx="4937760" cy="192024"/>
          </a:xfrm>
          <a:prstGeom prst="rect">
            <a:avLst/>
          </a:prstGeom>
          <a:noFill/>
          <a:ln/>
        </p:spPr>
        <p:txBody>
          <a:bodyPr wrap="square" lIns="0" tIns="0" rIns="0" bIns="0" rtlCol="0" anchor="ctr"/>
          <a:lstStyle/>
          <a:p>
            <a:pPr marL="0" indent="0" algn="l">
              <a:buNone/>
            </a:pPr>
            <a:r>
              <a:rPr lang="en-US" sz="970" dirty="0">
                <a:solidFill>
                  <a:srgbClr val="8FA3C9"/>
                </a:solidFill>
                <a:latin typeface="Courier New" pitchFamily="34" charset="0"/>
                <a:ea typeface="Courier New" pitchFamily="34" charset="-122"/>
                <a:cs typeface="Courier New" pitchFamily="34" charset="-120"/>
              </a:rPr>
              <a:t>// Program.cs</a:t>
            </a:r>
            <a:endParaRPr lang="en-US" sz="970" dirty="0"/>
          </a:p>
        </p:txBody>
      </p:sp>
      <p:sp>
        <p:nvSpPr>
          <p:cNvPr id="21" name="Text 19"/>
          <p:cNvSpPr/>
          <p:nvPr/>
        </p:nvSpPr>
        <p:spPr>
          <a:xfrm>
            <a:off x="822960" y="5404104"/>
            <a:ext cx="4937760" cy="192024"/>
          </a:xfrm>
          <a:prstGeom prst="rect">
            <a:avLst/>
          </a:prstGeom>
          <a:noFill/>
          <a:ln/>
        </p:spPr>
        <p:txBody>
          <a:bodyPr wrap="square" lIns="0" tIns="0" rIns="0" bIns="0" rtlCol="0" anchor="ctr"/>
          <a:lstStyle/>
          <a:p>
            <a:pPr marL="0" indent="0" algn="l">
              <a:buNone/>
            </a:pPr>
            <a:r>
              <a:rPr lang="en-US" sz="970" dirty="0">
                <a:solidFill>
                  <a:srgbClr val="C9A9E8"/>
                </a:solidFill>
                <a:latin typeface="Courier New" pitchFamily="34" charset="0"/>
                <a:ea typeface="Courier New" pitchFamily="34" charset="-122"/>
                <a:cs typeface="Courier New" pitchFamily="34" charset="-120"/>
              </a:rPr>
              <a:t>builder.Services.AddAutoMapper(</a:t>
            </a:r>
            <a:endParaRPr lang="en-US" sz="970" dirty="0"/>
          </a:p>
        </p:txBody>
      </p:sp>
      <p:sp>
        <p:nvSpPr>
          <p:cNvPr id="22" name="Text 20"/>
          <p:cNvSpPr/>
          <p:nvPr/>
        </p:nvSpPr>
        <p:spPr>
          <a:xfrm>
            <a:off x="822960" y="5607101"/>
            <a:ext cx="4937760" cy="192024"/>
          </a:xfrm>
          <a:prstGeom prst="rect">
            <a:avLst/>
          </a:prstGeom>
          <a:noFill/>
          <a:ln/>
        </p:spPr>
        <p:txBody>
          <a:bodyPr wrap="square" lIns="0" tIns="0" rIns="0" bIns="0" rtlCol="0" anchor="ctr"/>
          <a:lstStyle/>
          <a:p>
            <a:pPr marL="0" indent="0" algn="l">
              <a:buNone/>
            </a:pPr>
            <a:r>
              <a:rPr lang="en-US" sz="970" dirty="0">
                <a:solidFill>
                  <a:srgbClr val="C9A9E8"/>
                </a:solidFill>
                <a:latin typeface="Courier New" pitchFamily="34" charset="0"/>
                <a:ea typeface="Courier New" pitchFamily="34" charset="-122"/>
                <a:cs typeface="Courier New" pitchFamily="34" charset="-120"/>
              </a:rPr>
              <a:t>  typeof(MappingProfile));</a:t>
            </a:r>
            <a:endParaRPr lang="en-US" sz="970" dirty="0"/>
          </a:p>
        </p:txBody>
      </p:sp>
      <p:sp>
        <p:nvSpPr>
          <p:cNvPr id="23" name="Shape 21"/>
          <p:cNvSpPr/>
          <p:nvPr/>
        </p:nvSpPr>
        <p:spPr>
          <a:xfrm>
            <a:off x="6309360" y="1828800"/>
            <a:ext cx="5349240" cy="4023360"/>
          </a:xfrm>
          <a:prstGeom prst="roundRect">
            <a:avLst>
              <a:gd name="adj" fmla="val 1818"/>
            </a:avLst>
          </a:prstGeom>
          <a:solidFill>
            <a:srgbClr val="132139"/>
          </a:solidFill>
          <a:ln/>
        </p:spPr>
        <p:txBody>
          <a:bodyPr/>
          <a:lstStyle/>
          <a:p>
            <a:endParaRPr lang="es-AR"/>
          </a:p>
        </p:txBody>
      </p:sp>
      <p:sp>
        <p:nvSpPr>
          <p:cNvPr id="24" name="Text 22"/>
          <p:cNvSpPr/>
          <p:nvPr/>
        </p:nvSpPr>
        <p:spPr>
          <a:xfrm>
            <a:off x="6583680" y="2011680"/>
            <a:ext cx="4800600" cy="292608"/>
          </a:xfrm>
          <a:prstGeom prst="rect">
            <a:avLst/>
          </a:prstGeom>
          <a:noFill/>
          <a:ln/>
        </p:spPr>
        <p:txBody>
          <a:bodyPr wrap="square" lIns="0" tIns="0" rIns="0" bIns="0" rtlCol="0" anchor="ctr"/>
          <a:lstStyle/>
          <a:p>
            <a:pPr marL="0" indent="0" algn="l">
              <a:buNone/>
            </a:pPr>
            <a:r>
              <a:rPr lang="en-US" sz="1200" b="1" dirty="0">
                <a:solidFill>
                  <a:srgbClr val="8FA3C9"/>
                </a:solidFill>
                <a:latin typeface="Calibri" pitchFamily="34" charset="0"/>
                <a:ea typeface="Calibri" pitchFamily="34" charset="-122"/>
                <a:cs typeface="Calibri" pitchFamily="34" charset="-120"/>
              </a:rPr>
              <a:t>Usarlo con inyección de dependencias</a:t>
            </a:r>
            <a:endParaRPr lang="en-US" sz="1200" dirty="0"/>
          </a:p>
        </p:txBody>
      </p:sp>
      <p:sp>
        <p:nvSpPr>
          <p:cNvPr id="25" name="Text 23"/>
          <p:cNvSpPr/>
          <p:nvPr/>
        </p:nvSpPr>
        <p:spPr>
          <a:xfrm>
            <a:off x="6583680" y="2359152"/>
            <a:ext cx="4800600" cy="210312"/>
          </a:xfrm>
          <a:prstGeom prst="rect">
            <a:avLst/>
          </a:prstGeom>
          <a:noFill/>
          <a:ln/>
        </p:spPr>
        <p:txBody>
          <a:bodyPr wrap="square" lIns="0" tIns="0" rIns="0" bIns="0" rtlCol="0" anchor="ctr"/>
          <a:lstStyle/>
          <a:p>
            <a:pPr marL="0" indent="0" algn="l">
              <a:buNone/>
            </a:pPr>
            <a:r>
              <a:rPr lang="en-US" sz="1000" dirty="0">
                <a:solidFill>
                  <a:srgbClr val="8FC7E8"/>
                </a:solidFill>
                <a:latin typeface="Courier New" pitchFamily="34" charset="0"/>
                <a:ea typeface="Courier New" pitchFamily="34" charset="-122"/>
                <a:cs typeface="Courier New" pitchFamily="34" charset="-120"/>
              </a:rPr>
              <a:t>public class LibrosController</a:t>
            </a:r>
            <a:endParaRPr lang="en-US" sz="1000" dirty="0"/>
          </a:p>
        </p:txBody>
      </p:sp>
      <p:sp>
        <p:nvSpPr>
          <p:cNvPr id="26" name="Text 24"/>
          <p:cNvSpPr/>
          <p:nvPr/>
        </p:nvSpPr>
        <p:spPr>
          <a:xfrm>
            <a:off x="6583680" y="2583180"/>
            <a:ext cx="4800600" cy="210312"/>
          </a:xfrm>
          <a:prstGeom prst="rect">
            <a:avLst/>
          </a:prstGeom>
          <a:noFill/>
          <a:ln/>
        </p:spPr>
        <p:txBody>
          <a:bodyPr wrap="square" lIns="0" tIns="0" rIns="0" bIns="0" rtlCol="0" anchor="ctr"/>
          <a:lstStyle/>
          <a:p>
            <a:pPr marL="0" indent="0" algn="l">
              <a:buNone/>
            </a:pPr>
            <a:r>
              <a:rPr lang="en-US" sz="1000" dirty="0">
                <a:solidFill>
                  <a:srgbClr val="E8EEF2"/>
                </a:solidFill>
                <a:latin typeface="Courier New" pitchFamily="34" charset="0"/>
                <a:ea typeface="Courier New" pitchFamily="34" charset="-122"/>
                <a:cs typeface="Courier New" pitchFamily="34" charset="-120"/>
              </a:rPr>
              <a:t>{</a:t>
            </a:r>
            <a:endParaRPr lang="en-US" sz="1000" dirty="0"/>
          </a:p>
        </p:txBody>
      </p:sp>
      <p:sp>
        <p:nvSpPr>
          <p:cNvPr id="27" name="Text 25"/>
          <p:cNvSpPr/>
          <p:nvPr/>
        </p:nvSpPr>
        <p:spPr>
          <a:xfrm>
            <a:off x="6583680" y="2807208"/>
            <a:ext cx="4800600" cy="210312"/>
          </a:xfrm>
          <a:prstGeom prst="rect">
            <a:avLst/>
          </a:prstGeom>
          <a:noFill/>
          <a:ln/>
        </p:spPr>
        <p:txBody>
          <a:bodyPr wrap="square" lIns="0" tIns="0" rIns="0" bIns="0" rtlCol="0" anchor="ctr"/>
          <a:lstStyle/>
          <a:p>
            <a:pPr marL="0" indent="0" algn="l">
              <a:buNone/>
            </a:pPr>
            <a:r>
              <a:rPr lang="en-US" sz="1000" dirty="0">
                <a:solidFill>
                  <a:srgbClr val="E8EEF2"/>
                </a:solidFill>
                <a:latin typeface="Courier New" pitchFamily="34" charset="0"/>
                <a:ea typeface="Courier New" pitchFamily="34" charset="-122"/>
                <a:cs typeface="Courier New" pitchFamily="34" charset="-120"/>
              </a:rPr>
              <a:t>  private readonly AppDbContext _ctx;</a:t>
            </a:r>
            <a:endParaRPr lang="en-US" sz="1000" dirty="0"/>
          </a:p>
        </p:txBody>
      </p:sp>
      <p:sp>
        <p:nvSpPr>
          <p:cNvPr id="28" name="Text 26"/>
          <p:cNvSpPr/>
          <p:nvPr/>
        </p:nvSpPr>
        <p:spPr>
          <a:xfrm>
            <a:off x="6583680" y="3031236"/>
            <a:ext cx="4800600" cy="210312"/>
          </a:xfrm>
          <a:prstGeom prst="rect">
            <a:avLst/>
          </a:prstGeom>
          <a:noFill/>
          <a:ln/>
        </p:spPr>
        <p:txBody>
          <a:bodyPr wrap="square" lIns="0" tIns="0" rIns="0" bIns="0" rtlCol="0" anchor="ctr"/>
          <a:lstStyle/>
          <a:p>
            <a:pPr marL="0" indent="0" algn="l">
              <a:buNone/>
            </a:pPr>
            <a:r>
              <a:rPr lang="en-US" sz="1000" dirty="0">
                <a:solidFill>
                  <a:srgbClr val="E8EEF2"/>
                </a:solidFill>
                <a:latin typeface="Courier New" pitchFamily="34" charset="0"/>
                <a:ea typeface="Courier New" pitchFamily="34" charset="-122"/>
                <a:cs typeface="Courier New" pitchFamily="34" charset="-120"/>
              </a:rPr>
              <a:t>  private readonly IMapper _mapper;</a:t>
            </a:r>
            <a:endParaRPr lang="en-US" sz="1000" dirty="0"/>
          </a:p>
        </p:txBody>
      </p:sp>
      <p:sp>
        <p:nvSpPr>
          <p:cNvPr id="29" name="Text 27"/>
          <p:cNvSpPr/>
          <p:nvPr/>
        </p:nvSpPr>
        <p:spPr>
          <a:xfrm>
            <a:off x="6583680" y="3255264"/>
            <a:ext cx="4800600" cy="210312"/>
          </a:xfrm>
          <a:prstGeom prst="rect">
            <a:avLst/>
          </a:prstGeom>
          <a:noFill/>
          <a:ln/>
        </p:spPr>
        <p:txBody>
          <a:bodyPr wrap="square" lIns="0" tIns="0" rIns="0" bIns="0" rtlCol="0" anchor="ctr"/>
          <a:lstStyle/>
          <a:p>
            <a:pPr marL="0" indent="0" algn="l">
              <a:buNone/>
            </a:pPr>
            <a:endParaRPr lang="en-US" sz="1000" dirty="0"/>
          </a:p>
        </p:txBody>
      </p:sp>
      <p:sp>
        <p:nvSpPr>
          <p:cNvPr id="30" name="Text 28"/>
          <p:cNvSpPr/>
          <p:nvPr/>
        </p:nvSpPr>
        <p:spPr>
          <a:xfrm>
            <a:off x="6583680" y="3479292"/>
            <a:ext cx="4800600" cy="210312"/>
          </a:xfrm>
          <a:prstGeom prst="rect">
            <a:avLst/>
          </a:prstGeom>
          <a:noFill/>
          <a:ln/>
        </p:spPr>
        <p:txBody>
          <a:bodyPr wrap="square" lIns="0" tIns="0" rIns="0" bIns="0" rtlCol="0" anchor="ctr"/>
          <a:lstStyle/>
          <a:p>
            <a:pPr marL="0" indent="0" algn="l">
              <a:buNone/>
            </a:pPr>
            <a:r>
              <a:rPr lang="en-US" sz="1000" dirty="0">
                <a:solidFill>
                  <a:srgbClr val="8FD694"/>
                </a:solidFill>
                <a:latin typeface="Courier New" pitchFamily="34" charset="0"/>
                <a:ea typeface="Courier New" pitchFamily="34" charset="-122"/>
                <a:cs typeface="Courier New" pitchFamily="34" charset="-120"/>
              </a:rPr>
              <a:t>  public async Task&lt;List&lt;LibroDto&gt;&gt;</a:t>
            </a:r>
            <a:endParaRPr lang="en-US" sz="1000" dirty="0"/>
          </a:p>
        </p:txBody>
      </p:sp>
      <p:sp>
        <p:nvSpPr>
          <p:cNvPr id="31" name="Text 29"/>
          <p:cNvSpPr/>
          <p:nvPr/>
        </p:nvSpPr>
        <p:spPr>
          <a:xfrm>
            <a:off x="6583680" y="3703320"/>
            <a:ext cx="4800600" cy="210312"/>
          </a:xfrm>
          <a:prstGeom prst="rect">
            <a:avLst/>
          </a:prstGeom>
          <a:noFill/>
          <a:ln/>
        </p:spPr>
        <p:txBody>
          <a:bodyPr wrap="square" lIns="0" tIns="0" rIns="0" bIns="0" rtlCol="0" anchor="ctr"/>
          <a:lstStyle/>
          <a:p>
            <a:pPr marL="0" indent="0" algn="l">
              <a:buNone/>
            </a:pPr>
            <a:r>
              <a:rPr lang="en-US" sz="1000" dirty="0">
                <a:solidFill>
                  <a:srgbClr val="8FD694"/>
                </a:solidFill>
                <a:latin typeface="Courier New" pitchFamily="34" charset="0"/>
                <a:ea typeface="Courier New" pitchFamily="34" charset="-122"/>
                <a:cs typeface="Courier New" pitchFamily="34" charset="-120"/>
              </a:rPr>
              <a:t>    GetLibros()</a:t>
            </a:r>
            <a:endParaRPr lang="en-US" sz="1000" dirty="0"/>
          </a:p>
        </p:txBody>
      </p:sp>
      <p:sp>
        <p:nvSpPr>
          <p:cNvPr id="32" name="Text 30"/>
          <p:cNvSpPr/>
          <p:nvPr/>
        </p:nvSpPr>
        <p:spPr>
          <a:xfrm>
            <a:off x="6583680" y="3927348"/>
            <a:ext cx="4800600" cy="210312"/>
          </a:xfrm>
          <a:prstGeom prst="rect">
            <a:avLst/>
          </a:prstGeom>
          <a:noFill/>
          <a:ln/>
        </p:spPr>
        <p:txBody>
          <a:bodyPr wrap="square" lIns="0" tIns="0" rIns="0" bIns="0" rtlCol="0" anchor="ctr"/>
          <a:lstStyle/>
          <a:p>
            <a:pPr marL="0" indent="0" algn="l">
              <a:buNone/>
            </a:pPr>
            <a:r>
              <a:rPr lang="en-US" sz="1000" dirty="0">
                <a:solidFill>
                  <a:srgbClr val="E8EEF2"/>
                </a:solidFill>
                <a:latin typeface="Courier New" pitchFamily="34" charset="0"/>
                <a:ea typeface="Courier New" pitchFamily="34" charset="-122"/>
                <a:cs typeface="Courier New" pitchFamily="34" charset="-120"/>
              </a:rPr>
              <a:t>  {</a:t>
            </a:r>
            <a:endParaRPr lang="en-US" sz="1000" dirty="0"/>
          </a:p>
        </p:txBody>
      </p:sp>
      <p:sp>
        <p:nvSpPr>
          <p:cNvPr id="33" name="Text 31"/>
          <p:cNvSpPr/>
          <p:nvPr/>
        </p:nvSpPr>
        <p:spPr>
          <a:xfrm>
            <a:off x="6583680" y="4151376"/>
            <a:ext cx="4800600" cy="210312"/>
          </a:xfrm>
          <a:prstGeom prst="rect">
            <a:avLst/>
          </a:prstGeom>
          <a:noFill/>
          <a:ln/>
        </p:spPr>
        <p:txBody>
          <a:bodyPr wrap="square" lIns="0" tIns="0" rIns="0" bIns="0" rtlCol="0" anchor="ctr"/>
          <a:lstStyle/>
          <a:p>
            <a:pPr marL="0" indent="0" algn="l">
              <a:buNone/>
            </a:pPr>
            <a:r>
              <a:rPr lang="en-US" sz="1000" dirty="0">
                <a:solidFill>
                  <a:srgbClr val="8FD694"/>
                </a:solidFill>
                <a:latin typeface="Courier New" pitchFamily="34" charset="0"/>
                <a:ea typeface="Courier New" pitchFamily="34" charset="-122"/>
                <a:cs typeface="Courier New" pitchFamily="34" charset="-120"/>
              </a:rPr>
              <a:t>    return await _ctx.Libros</a:t>
            </a:r>
            <a:endParaRPr lang="en-US" sz="1000" dirty="0"/>
          </a:p>
        </p:txBody>
      </p:sp>
      <p:sp>
        <p:nvSpPr>
          <p:cNvPr id="34" name="Text 32"/>
          <p:cNvSpPr/>
          <p:nvPr/>
        </p:nvSpPr>
        <p:spPr>
          <a:xfrm>
            <a:off x="6583680" y="4375404"/>
            <a:ext cx="4800600" cy="210312"/>
          </a:xfrm>
          <a:prstGeom prst="rect">
            <a:avLst/>
          </a:prstGeom>
          <a:noFill/>
          <a:ln/>
        </p:spPr>
        <p:txBody>
          <a:bodyPr wrap="square" lIns="0" tIns="0" rIns="0" bIns="0" rtlCol="0" anchor="ctr"/>
          <a:lstStyle/>
          <a:p>
            <a:pPr marL="0" indent="0" algn="l">
              <a:buNone/>
            </a:pPr>
            <a:r>
              <a:rPr lang="en-US" sz="1000" dirty="0">
                <a:solidFill>
                  <a:srgbClr val="8FD694"/>
                </a:solidFill>
                <a:latin typeface="Courier New" pitchFamily="34" charset="0"/>
                <a:ea typeface="Courier New" pitchFamily="34" charset="-122"/>
                <a:cs typeface="Courier New" pitchFamily="34" charset="-120"/>
              </a:rPr>
              <a:t>      .ProjectTo&lt;LibroDto&gt;(</a:t>
            </a:r>
            <a:endParaRPr lang="en-US" sz="1000" dirty="0"/>
          </a:p>
        </p:txBody>
      </p:sp>
      <p:sp>
        <p:nvSpPr>
          <p:cNvPr id="35" name="Text 33"/>
          <p:cNvSpPr/>
          <p:nvPr/>
        </p:nvSpPr>
        <p:spPr>
          <a:xfrm>
            <a:off x="6583680" y="4599432"/>
            <a:ext cx="4800600" cy="210312"/>
          </a:xfrm>
          <a:prstGeom prst="rect">
            <a:avLst/>
          </a:prstGeom>
          <a:noFill/>
          <a:ln/>
        </p:spPr>
        <p:txBody>
          <a:bodyPr wrap="square" lIns="0" tIns="0" rIns="0" bIns="0" rtlCol="0" anchor="ctr"/>
          <a:lstStyle/>
          <a:p>
            <a:pPr marL="0" indent="0" algn="l">
              <a:buNone/>
            </a:pPr>
            <a:r>
              <a:rPr lang="en-US" sz="1000" dirty="0">
                <a:solidFill>
                  <a:srgbClr val="8FD694"/>
                </a:solidFill>
                <a:latin typeface="Courier New" pitchFamily="34" charset="0"/>
                <a:ea typeface="Courier New" pitchFamily="34" charset="-122"/>
                <a:cs typeface="Courier New" pitchFamily="34" charset="-120"/>
              </a:rPr>
              <a:t>        _mapper.ConfigurationProvider)</a:t>
            </a:r>
            <a:endParaRPr lang="en-US" sz="1000" dirty="0"/>
          </a:p>
        </p:txBody>
      </p:sp>
      <p:sp>
        <p:nvSpPr>
          <p:cNvPr id="36" name="Text 34"/>
          <p:cNvSpPr/>
          <p:nvPr/>
        </p:nvSpPr>
        <p:spPr>
          <a:xfrm>
            <a:off x="6583680" y="4823460"/>
            <a:ext cx="4800600" cy="210312"/>
          </a:xfrm>
          <a:prstGeom prst="rect">
            <a:avLst/>
          </a:prstGeom>
          <a:noFill/>
          <a:ln/>
        </p:spPr>
        <p:txBody>
          <a:bodyPr wrap="square" lIns="0" tIns="0" rIns="0" bIns="0" rtlCol="0" anchor="ctr"/>
          <a:lstStyle/>
          <a:p>
            <a:pPr marL="0" indent="0" algn="l">
              <a:buNone/>
            </a:pPr>
            <a:r>
              <a:rPr lang="en-US" sz="1000" dirty="0">
                <a:solidFill>
                  <a:srgbClr val="8FD694"/>
                </a:solidFill>
                <a:latin typeface="Courier New" pitchFamily="34" charset="0"/>
                <a:ea typeface="Courier New" pitchFamily="34" charset="-122"/>
                <a:cs typeface="Courier New" pitchFamily="34" charset="-120"/>
              </a:rPr>
              <a:t>      .ToListAsync();</a:t>
            </a:r>
            <a:endParaRPr lang="en-US" sz="1000" dirty="0"/>
          </a:p>
        </p:txBody>
      </p:sp>
      <p:sp>
        <p:nvSpPr>
          <p:cNvPr id="37" name="Text 35"/>
          <p:cNvSpPr/>
          <p:nvPr/>
        </p:nvSpPr>
        <p:spPr>
          <a:xfrm>
            <a:off x="6583680" y="5047488"/>
            <a:ext cx="4800600" cy="210312"/>
          </a:xfrm>
          <a:prstGeom prst="rect">
            <a:avLst/>
          </a:prstGeom>
          <a:noFill/>
          <a:ln/>
        </p:spPr>
        <p:txBody>
          <a:bodyPr wrap="square" lIns="0" tIns="0" rIns="0" bIns="0" rtlCol="0" anchor="ctr"/>
          <a:lstStyle/>
          <a:p>
            <a:pPr marL="0" indent="0" algn="l">
              <a:buNone/>
            </a:pPr>
            <a:r>
              <a:rPr lang="en-US" sz="1000" dirty="0">
                <a:solidFill>
                  <a:srgbClr val="E8EEF2"/>
                </a:solidFill>
                <a:latin typeface="Courier New" pitchFamily="34" charset="0"/>
                <a:ea typeface="Courier New" pitchFamily="34" charset="-122"/>
                <a:cs typeface="Courier New" pitchFamily="34" charset="-120"/>
              </a:rPr>
              <a:t>  }</a:t>
            </a:r>
            <a:endParaRPr lang="en-US" sz="1000" dirty="0"/>
          </a:p>
        </p:txBody>
      </p:sp>
      <p:sp>
        <p:nvSpPr>
          <p:cNvPr id="38" name="Text 36"/>
          <p:cNvSpPr/>
          <p:nvPr/>
        </p:nvSpPr>
        <p:spPr>
          <a:xfrm>
            <a:off x="6583680" y="5271516"/>
            <a:ext cx="4800600" cy="210312"/>
          </a:xfrm>
          <a:prstGeom prst="rect">
            <a:avLst/>
          </a:prstGeom>
          <a:noFill/>
          <a:ln/>
        </p:spPr>
        <p:txBody>
          <a:bodyPr wrap="square" lIns="0" tIns="0" rIns="0" bIns="0" rtlCol="0" anchor="ctr"/>
          <a:lstStyle/>
          <a:p>
            <a:pPr marL="0" indent="0" algn="l">
              <a:buNone/>
            </a:pPr>
            <a:r>
              <a:rPr lang="en-US" sz="1000" dirty="0">
                <a:solidFill>
                  <a:srgbClr val="E8EEF2"/>
                </a:solidFill>
                <a:latin typeface="Courier New" pitchFamily="34" charset="0"/>
                <a:ea typeface="Courier New" pitchFamily="34" charset="-122"/>
                <a:cs typeface="Courier New" pitchFamily="34" charset="-120"/>
              </a:rPr>
              <a:t>}</a:t>
            </a:r>
            <a:endParaRPr lang="en-US" sz="1000" dirty="0"/>
          </a:p>
        </p:txBody>
      </p:sp>
      <p:sp>
        <p:nvSpPr>
          <p:cNvPr id="39" name="Text 37"/>
          <p:cNvSpPr/>
          <p:nvPr/>
        </p:nvSpPr>
        <p:spPr>
          <a:xfrm>
            <a:off x="6583680" y="5349240"/>
            <a:ext cx="4800600" cy="457200"/>
          </a:xfrm>
          <a:prstGeom prst="rect">
            <a:avLst/>
          </a:prstGeom>
          <a:noFill/>
          <a:ln/>
        </p:spPr>
        <p:txBody>
          <a:bodyPr wrap="square" lIns="0" tIns="0" rIns="0" bIns="0" rtlCol="0" anchor="ctr"/>
          <a:lstStyle/>
          <a:p>
            <a:pPr marL="0" indent="0" algn="l">
              <a:buNone/>
            </a:pPr>
            <a:r>
              <a:rPr lang="en-US" sz="950" i="1" dirty="0">
                <a:solidFill>
                  <a:srgbClr val="CADCFC"/>
                </a:solidFill>
                <a:latin typeface="Calibri" pitchFamily="34" charset="0"/>
                <a:ea typeface="Calibri" pitchFamily="34" charset="-122"/>
                <a:cs typeface="Calibri" pitchFamily="34" charset="-120"/>
              </a:rPr>
              <a:t>ProjectTo, a diferencia de Map, arma el SELECT solo con las columnas que el DTO necesita.</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Buenas prácticas con EF Core</a:t>
            </a:r>
            <a:endParaRPr lang="en-US" sz="3000" dirty="0"/>
          </a:p>
        </p:txBody>
      </p:sp>
      <p:sp>
        <p:nvSpPr>
          <p:cNvPr id="3" name="Shape 1"/>
          <p:cNvSpPr/>
          <p:nvPr/>
        </p:nvSpPr>
        <p:spPr>
          <a:xfrm>
            <a:off x="548640" y="1737360"/>
            <a:ext cx="3611880" cy="1463040"/>
          </a:xfrm>
          <a:prstGeom prst="roundRect">
            <a:avLst>
              <a:gd name="adj" fmla="val 5000"/>
            </a:avLst>
          </a:prstGeom>
          <a:solidFill>
            <a:srgbClr val="E7F1F6"/>
          </a:solidFill>
          <a:ln/>
        </p:spPr>
        <p:txBody>
          <a:bodyPr/>
          <a:lstStyle/>
          <a:p>
            <a:endParaRPr lang="es-AR"/>
          </a:p>
        </p:txBody>
      </p:sp>
      <p:sp>
        <p:nvSpPr>
          <p:cNvPr id="4" name="Shape 2"/>
          <p:cNvSpPr/>
          <p:nvPr/>
        </p:nvSpPr>
        <p:spPr>
          <a:xfrm>
            <a:off x="731520" y="1920240"/>
            <a:ext cx="347472" cy="347472"/>
          </a:xfrm>
          <a:prstGeom prst="ellipse">
            <a:avLst/>
          </a:prstGeom>
          <a:solidFill>
            <a:srgbClr val="1C7293"/>
          </a:solidFill>
          <a:ln/>
        </p:spPr>
        <p:txBody>
          <a:bodyPr/>
          <a:lstStyle/>
          <a:p>
            <a:endParaRPr lang="es-AR"/>
          </a:p>
        </p:txBody>
      </p:sp>
      <p:sp>
        <p:nvSpPr>
          <p:cNvPr id="5" name="Text 3"/>
          <p:cNvSpPr/>
          <p:nvPr/>
        </p:nvSpPr>
        <p:spPr>
          <a:xfrm>
            <a:off x="731520" y="192024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731520" y="2340864"/>
            <a:ext cx="3246120" cy="365760"/>
          </a:xfrm>
          <a:prstGeom prst="rect">
            <a:avLst/>
          </a:prstGeom>
          <a:noFill/>
          <a:ln/>
        </p:spPr>
        <p:txBody>
          <a:bodyPr wrap="square" lIns="0" tIns="0" rIns="0" bIns="0" rtlCol="0" anchor="ctr"/>
          <a:lstStyle/>
          <a:p>
            <a:pPr marL="0" indent="0" algn="l">
              <a:buNone/>
            </a:pPr>
            <a:r>
              <a:rPr lang="en-US" sz="1250" b="1" dirty="0">
                <a:solidFill>
                  <a:srgbClr val="21295C"/>
                </a:solidFill>
                <a:latin typeface="Cambria" pitchFamily="34" charset="0"/>
                <a:ea typeface="Cambria" pitchFamily="34" charset="-122"/>
                <a:cs typeface="Cambria" pitchFamily="34" charset="-120"/>
              </a:rPr>
              <a:t>No expongas entidades en tu API</a:t>
            </a:r>
            <a:endParaRPr lang="en-US" sz="1250" dirty="0"/>
          </a:p>
        </p:txBody>
      </p:sp>
      <p:sp>
        <p:nvSpPr>
          <p:cNvPr id="7" name="Text 5"/>
          <p:cNvSpPr/>
          <p:nvPr/>
        </p:nvSpPr>
        <p:spPr>
          <a:xfrm>
            <a:off x="731520" y="2670048"/>
            <a:ext cx="3246120" cy="502920"/>
          </a:xfrm>
          <a:prstGeom prst="rect">
            <a:avLst/>
          </a:prstGeom>
          <a:noFill/>
          <a:ln/>
        </p:spPr>
        <p:txBody>
          <a:bodyPr wrap="square" lIns="0" tIns="0" rIns="0" bIns="0" rtlCol="0" anchor="ctr"/>
          <a:lstStyle/>
          <a:p>
            <a:pPr marL="0" indent="0" algn="l">
              <a:buNone/>
            </a:pPr>
            <a:r>
              <a:rPr lang="en-US" sz="970" dirty="0">
                <a:solidFill>
                  <a:srgbClr val="5C6B73"/>
                </a:solidFill>
                <a:latin typeface="Calibri" pitchFamily="34" charset="0"/>
                <a:ea typeface="Calibri" pitchFamily="34" charset="-122"/>
                <a:cs typeface="Calibri" pitchFamily="34" charset="-120"/>
              </a:rPr>
              <a:t>Usá DTOs o records para lo que entra y sale; evita acoplar tu API al esquema interno.</a:t>
            </a:r>
            <a:endParaRPr lang="en-US" sz="970" dirty="0"/>
          </a:p>
        </p:txBody>
      </p:sp>
      <p:sp>
        <p:nvSpPr>
          <p:cNvPr id="8" name="Shape 6"/>
          <p:cNvSpPr/>
          <p:nvPr/>
        </p:nvSpPr>
        <p:spPr>
          <a:xfrm>
            <a:off x="4389120" y="1737360"/>
            <a:ext cx="3611880" cy="1463040"/>
          </a:xfrm>
          <a:prstGeom prst="roundRect">
            <a:avLst>
              <a:gd name="adj" fmla="val 5000"/>
            </a:avLst>
          </a:prstGeom>
          <a:solidFill>
            <a:srgbClr val="E7F1F6"/>
          </a:solidFill>
          <a:ln/>
        </p:spPr>
        <p:txBody>
          <a:bodyPr/>
          <a:lstStyle/>
          <a:p>
            <a:endParaRPr lang="es-AR"/>
          </a:p>
        </p:txBody>
      </p:sp>
      <p:sp>
        <p:nvSpPr>
          <p:cNvPr id="9" name="Shape 7"/>
          <p:cNvSpPr/>
          <p:nvPr/>
        </p:nvSpPr>
        <p:spPr>
          <a:xfrm>
            <a:off x="4572000" y="1920240"/>
            <a:ext cx="347472" cy="347472"/>
          </a:xfrm>
          <a:prstGeom prst="ellipse">
            <a:avLst/>
          </a:prstGeom>
          <a:solidFill>
            <a:srgbClr val="1C7293"/>
          </a:solidFill>
          <a:ln/>
        </p:spPr>
        <p:txBody>
          <a:bodyPr/>
          <a:lstStyle/>
          <a:p>
            <a:endParaRPr lang="es-AR"/>
          </a:p>
        </p:txBody>
      </p:sp>
      <p:sp>
        <p:nvSpPr>
          <p:cNvPr id="10" name="Text 8"/>
          <p:cNvSpPr/>
          <p:nvPr/>
        </p:nvSpPr>
        <p:spPr>
          <a:xfrm>
            <a:off x="4572000" y="192024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4572000" y="2340864"/>
            <a:ext cx="3246120" cy="365760"/>
          </a:xfrm>
          <a:prstGeom prst="rect">
            <a:avLst/>
          </a:prstGeom>
          <a:noFill/>
          <a:ln/>
        </p:spPr>
        <p:txBody>
          <a:bodyPr wrap="square" lIns="0" tIns="0" rIns="0" bIns="0" rtlCol="0" anchor="ctr"/>
          <a:lstStyle/>
          <a:p>
            <a:pPr marL="0" indent="0" algn="l">
              <a:buNone/>
            </a:pPr>
            <a:r>
              <a:rPr lang="en-US" sz="1250" b="1" dirty="0">
                <a:solidFill>
                  <a:srgbClr val="21295C"/>
                </a:solidFill>
                <a:latin typeface="Cambria" pitchFamily="34" charset="0"/>
                <a:ea typeface="Cambria" pitchFamily="34" charset="-122"/>
                <a:cs typeface="Cambria" pitchFamily="34" charset="-120"/>
              </a:rPr>
              <a:t>AsNoTracking() en solo lectura</a:t>
            </a:r>
            <a:endParaRPr lang="en-US" sz="1250" dirty="0"/>
          </a:p>
        </p:txBody>
      </p:sp>
      <p:sp>
        <p:nvSpPr>
          <p:cNvPr id="12" name="Text 10"/>
          <p:cNvSpPr/>
          <p:nvPr/>
        </p:nvSpPr>
        <p:spPr>
          <a:xfrm>
            <a:off x="4572000" y="2670048"/>
            <a:ext cx="3246120" cy="502920"/>
          </a:xfrm>
          <a:prstGeom prst="rect">
            <a:avLst/>
          </a:prstGeom>
          <a:noFill/>
          <a:ln/>
        </p:spPr>
        <p:txBody>
          <a:bodyPr wrap="square" lIns="0" tIns="0" rIns="0" bIns="0" rtlCol="0" anchor="ctr"/>
          <a:lstStyle/>
          <a:p>
            <a:pPr marL="0" indent="0" algn="l">
              <a:buNone/>
            </a:pPr>
            <a:r>
              <a:rPr lang="en-US" sz="970" dirty="0">
                <a:solidFill>
                  <a:srgbClr val="5C6B73"/>
                </a:solidFill>
                <a:latin typeface="Calibri" pitchFamily="34" charset="0"/>
                <a:ea typeface="Calibri" pitchFamily="34" charset="-122"/>
                <a:cs typeface="Calibri" pitchFamily="34" charset="-120"/>
              </a:rPr>
              <a:t>Si no vas a modificar los datos, evitás el overhead del change tracker.</a:t>
            </a:r>
            <a:endParaRPr lang="en-US" sz="970" dirty="0"/>
          </a:p>
        </p:txBody>
      </p:sp>
      <p:sp>
        <p:nvSpPr>
          <p:cNvPr id="13" name="Shape 11"/>
          <p:cNvSpPr/>
          <p:nvPr/>
        </p:nvSpPr>
        <p:spPr>
          <a:xfrm>
            <a:off x="8229600" y="1737360"/>
            <a:ext cx="3611880" cy="1463040"/>
          </a:xfrm>
          <a:prstGeom prst="roundRect">
            <a:avLst>
              <a:gd name="adj" fmla="val 5000"/>
            </a:avLst>
          </a:prstGeom>
          <a:solidFill>
            <a:srgbClr val="E7F1F6"/>
          </a:solidFill>
          <a:ln/>
        </p:spPr>
        <p:txBody>
          <a:bodyPr/>
          <a:lstStyle/>
          <a:p>
            <a:endParaRPr lang="es-AR"/>
          </a:p>
        </p:txBody>
      </p:sp>
      <p:sp>
        <p:nvSpPr>
          <p:cNvPr id="14" name="Shape 12"/>
          <p:cNvSpPr/>
          <p:nvPr/>
        </p:nvSpPr>
        <p:spPr>
          <a:xfrm>
            <a:off x="8412480" y="1920240"/>
            <a:ext cx="347472" cy="347472"/>
          </a:xfrm>
          <a:prstGeom prst="ellipse">
            <a:avLst/>
          </a:prstGeom>
          <a:solidFill>
            <a:srgbClr val="1C7293"/>
          </a:solidFill>
          <a:ln/>
        </p:spPr>
        <p:txBody>
          <a:bodyPr/>
          <a:lstStyle/>
          <a:p>
            <a:endParaRPr lang="es-AR"/>
          </a:p>
        </p:txBody>
      </p:sp>
      <p:sp>
        <p:nvSpPr>
          <p:cNvPr id="15" name="Text 13"/>
          <p:cNvSpPr/>
          <p:nvPr/>
        </p:nvSpPr>
        <p:spPr>
          <a:xfrm>
            <a:off x="8412480" y="192024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8412480" y="2340864"/>
            <a:ext cx="3246120" cy="365760"/>
          </a:xfrm>
          <a:prstGeom prst="rect">
            <a:avLst/>
          </a:prstGeom>
          <a:noFill/>
          <a:ln/>
        </p:spPr>
        <p:txBody>
          <a:bodyPr wrap="square" lIns="0" tIns="0" rIns="0" bIns="0" rtlCol="0" anchor="ctr"/>
          <a:lstStyle/>
          <a:p>
            <a:pPr marL="0" indent="0" algn="l">
              <a:buNone/>
            </a:pPr>
            <a:r>
              <a:rPr lang="en-US" sz="1250" b="1" dirty="0">
                <a:solidFill>
                  <a:srgbClr val="21295C"/>
                </a:solidFill>
                <a:latin typeface="Cambria" pitchFamily="34" charset="0"/>
                <a:ea typeface="Cambria" pitchFamily="34" charset="-122"/>
                <a:cs typeface="Cambria" pitchFamily="34" charset="-120"/>
              </a:rPr>
              <a:t>Include / ThenInclude</a:t>
            </a:r>
            <a:endParaRPr lang="en-US" sz="1250" dirty="0"/>
          </a:p>
        </p:txBody>
      </p:sp>
      <p:sp>
        <p:nvSpPr>
          <p:cNvPr id="17" name="Text 15"/>
          <p:cNvSpPr/>
          <p:nvPr/>
        </p:nvSpPr>
        <p:spPr>
          <a:xfrm>
            <a:off x="8412480" y="2670048"/>
            <a:ext cx="3246120" cy="502920"/>
          </a:xfrm>
          <a:prstGeom prst="rect">
            <a:avLst/>
          </a:prstGeom>
          <a:noFill/>
          <a:ln/>
        </p:spPr>
        <p:txBody>
          <a:bodyPr wrap="square" lIns="0" tIns="0" rIns="0" bIns="0" rtlCol="0" anchor="ctr"/>
          <a:lstStyle/>
          <a:p>
            <a:pPr marL="0" indent="0" algn="l">
              <a:buNone/>
            </a:pPr>
            <a:r>
              <a:rPr lang="en-US" sz="970" dirty="0">
                <a:solidFill>
                  <a:srgbClr val="5C6B73"/>
                </a:solidFill>
                <a:latin typeface="Calibri" pitchFamily="34" charset="0"/>
                <a:ea typeface="Calibri" pitchFamily="34" charset="-122"/>
                <a:cs typeface="Calibri" pitchFamily="34" charset="-120"/>
              </a:rPr>
              <a:t>Cargá relaciones explícitamente para evitar el problema N+1.</a:t>
            </a:r>
            <a:endParaRPr lang="en-US" sz="970" dirty="0"/>
          </a:p>
        </p:txBody>
      </p:sp>
      <p:sp>
        <p:nvSpPr>
          <p:cNvPr id="18" name="Shape 16"/>
          <p:cNvSpPr/>
          <p:nvPr/>
        </p:nvSpPr>
        <p:spPr>
          <a:xfrm>
            <a:off x="548640" y="3383280"/>
            <a:ext cx="3611880" cy="1463040"/>
          </a:xfrm>
          <a:prstGeom prst="roundRect">
            <a:avLst>
              <a:gd name="adj" fmla="val 5000"/>
            </a:avLst>
          </a:prstGeom>
          <a:solidFill>
            <a:srgbClr val="E7F1F6"/>
          </a:solidFill>
          <a:ln/>
        </p:spPr>
        <p:txBody>
          <a:bodyPr/>
          <a:lstStyle/>
          <a:p>
            <a:endParaRPr lang="es-AR"/>
          </a:p>
        </p:txBody>
      </p:sp>
      <p:sp>
        <p:nvSpPr>
          <p:cNvPr id="19" name="Shape 17"/>
          <p:cNvSpPr/>
          <p:nvPr/>
        </p:nvSpPr>
        <p:spPr>
          <a:xfrm>
            <a:off x="731520" y="3566160"/>
            <a:ext cx="347472" cy="347472"/>
          </a:xfrm>
          <a:prstGeom prst="ellipse">
            <a:avLst/>
          </a:prstGeom>
          <a:solidFill>
            <a:srgbClr val="1C7293"/>
          </a:solidFill>
          <a:ln/>
        </p:spPr>
        <p:txBody>
          <a:bodyPr/>
          <a:lstStyle/>
          <a:p>
            <a:endParaRPr lang="es-AR"/>
          </a:p>
        </p:txBody>
      </p:sp>
      <p:sp>
        <p:nvSpPr>
          <p:cNvPr id="20" name="Text 18"/>
          <p:cNvSpPr/>
          <p:nvPr/>
        </p:nvSpPr>
        <p:spPr>
          <a:xfrm>
            <a:off x="731520" y="356616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9"/>
          <p:cNvSpPr/>
          <p:nvPr/>
        </p:nvSpPr>
        <p:spPr>
          <a:xfrm>
            <a:off x="731520" y="3986784"/>
            <a:ext cx="3246120" cy="365760"/>
          </a:xfrm>
          <a:prstGeom prst="rect">
            <a:avLst/>
          </a:prstGeom>
          <a:noFill/>
          <a:ln/>
        </p:spPr>
        <p:txBody>
          <a:bodyPr wrap="square" lIns="0" tIns="0" rIns="0" bIns="0" rtlCol="0" anchor="ctr"/>
          <a:lstStyle/>
          <a:p>
            <a:pPr marL="0" indent="0" algn="l">
              <a:buNone/>
            </a:pPr>
            <a:r>
              <a:rPr lang="en-US" sz="1250" b="1" dirty="0">
                <a:solidFill>
                  <a:srgbClr val="21295C"/>
                </a:solidFill>
                <a:latin typeface="Cambria" pitchFamily="34" charset="0"/>
                <a:ea typeface="Cambria" pitchFamily="34" charset="-122"/>
                <a:cs typeface="Cambria" pitchFamily="34" charset="-120"/>
              </a:rPr>
              <a:t>Migraciones chicas y revisadas</a:t>
            </a:r>
            <a:endParaRPr lang="en-US" sz="1250" dirty="0"/>
          </a:p>
        </p:txBody>
      </p:sp>
      <p:sp>
        <p:nvSpPr>
          <p:cNvPr id="22" name="Text 20"/>
          <p:cNvSpPr/>
          <p:nvPr/>
        </p:nvSpPr>
        <p:spPr>
          <a:xfrm>
            <a:off x="731520" y="4315968"/>
            <a:ext cx="3246120" cy="502920"/>
          </a:xfrm>
          <a:prstGeom prst="rect">
            <a:avLst/>
          </a:prstGeom>
          <a:noFill/>
          <a:ln/>
        </p:spPr>
        <p:txBody>
          <a:bodyPr wrap="square" lIns="0" tIns="0" rIns="0" bIns="0" rtlCol="0" anchor="ctr"/>
          <a:lstStyle/>
          <a:p>
            <a:pPr marL="0" indent="0" algn="l">
              <a:buNone/>
            </a:pPr>
            <a:r>
              <a:rPr lang="en-US" sz="970" dirty="0">
                <a:solidFill>
                  <a:srgbClr val="5C6B73"/>
                </a:solidFill>
                <a:latin typeface="Calibri" pitchFamily="34" charset="0"/>
                <a:ea typeface="Calibri" pitchFamily="34" charset="-122"/>
                <a:cs typeface="Calibri" pitchFamily="34" charset="-120"/>
              </a:rPr>
              <a:t>Una migración por cambio lógico; siempre revisá el código Up()/Down() generado.</a:t>
            </a:r>
            <a:endParaRPr lang="en-US" sz="970" dirty="0"/>
          </a:p>
        </p:txBody>
      </p:sp>
      <p:sp>
        <p:nvSpPr>
          <p:cNvPr id="23" name="Shape 21"/>
          <p:cNvSpPr/>
          <p:nvPr/>
        </p:nvSpPr>
        <p:spPr>
          <a:xfrm>
            <a:off x="4389120" y="3383280"/>
            <a:ext cx="3611880" cy="1463040"/>
          </a:xfrm>
          <a:prstGeom prst="roundRect">
            <a:avLst>
              <a:gd name="adj" fmla="val 5000"/>
            </a:avLst>
          </a:prstGeom>
          <a:solidFill>
            <a:srgbClr val="E7F1F6"/>
          </a:solidFill>
          <a:ln/>
        </p:spPr>
        <p:txBody>
          <a:bodyPr/>
          <a:lstStyle/>
          <a:p>
            <a:endParaRPr lang="es-AR"/>
          </a:p>
        </p:txBody>
      </p:sp>
      <p:sp>
        <p:nvSpPr>
          <p:cNvPr id="24" name="Shape 22"/>
          <p:cNvSpPr/>
          <p:nvPr/>
        </p:nvSpPr>
        <p:spPr>
          <a:xfrm>
            <a:off x="4572000" y="3566160"/>
            <a:ext cx="347472" cy="347472"/>
          </a:xfrm>
          <a:prstGeom prst="ellipse">
            <a:avLst/>
          </a:prstGeom>
          <a:solidFill>
            <a:srgbClr val="1C7293"/>
          </a:solidFill>
          <a:ln/>
        </p:spPr>
        <p:txBody>
          <a:bodyPr/>
          <a:lstStyle/>
          <a:p>
            <a:endParaRPr lang="es-AR"/>
          </a:p>
        </p:txBody>
      </p:sp>
      <p:sp>
        <p:nvSpPr>
          <p:cNvPr id="25" name="Text 23"/>
          <p:cNvSpPr/>
          <p:nvPr/>
        </p:nvSpPr>
        <p:spPr>
          <a:xfrm>
            <a:off x="4572000" y="356616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4572000" y="3986784"/>
            <a:ext cx="3246120" cy="365760"/>
          </a:xfrm>
          <a:prstGeom prst="rect">
            <a:avLst/>
          </a:prstGeom>
          <a:noFill/>
          <a:ln/>
        </p:spPr>
        <p:txBody>
          <a:bodyPr wrap="square" lIns="0" tIns="0" rIns="0" bIns="0" rtlCol="0" anchor="ctr"/>
          <a:lstStyle/>
          <a:p>
            <a:pPr marL="0" indent="0" algn="l">
              <a:buNone/>
            </a:pPr>
            <a:r>
              <a:rPr lang="en-US" sz="1250" b="1" dirty="0">
                <a:solidFill>
                  <a:srgbClr val="21295C"/>
                </a:solidFill>
                <a:latin typeface="Cambria" pitchFamily="34" charset="0"/>
                <a:ea typeface="Cambria" pitchFamily="34" charset="-122"/>
                <a:cs typeface="Cambria" pitchFamily="34" charset="-120"/>
              </a:rPr>
              <a:t>Evitá EnsureCreated() en producción</a:t>
            </a:r>
            <a:endParaRPr lang="en-US" sz="1250" dirty="0"/>
          </a:p>
        </p:txBody>
      </p:sp>
      <p:sp>
        <p:nvSpPr>
          <p:cNvPr id="27" name="Text 25"/>
          <p:cNvSpPr/>
          <p:nvPr/>
        </p:nvSpPr>
        <p:spPr>
          <a:xfrm>
            <a:off x="4572000" y="4315968"/>
            <a:ext cx="3246120" cy="502920"/>
          </a:xfrm>
          <a:prstGeom prst="rect">
            <a:avLst/>
          </a:prstGeom>
          <a:noFill/>
          <a:ln/>
        </p:spPr>
        <p:txBody>
          <a:bodyPr wrap="square" lIns="0" tIns="0" rIns="0" bIns="0" rtlCol="0" anchor="ctr"/>
          <a:lstStyle/>
          <a:p>
            <a:pPr marL="0" indent="0" algn="l">
              <a:buNone/>
            </a:pPr>
            <a:r>
              <a:rPr lang="en-US" sz="970" dirty="0">
                <a:solidFill>
                  <a:srgbClr val="5C6B73"/>
                </a:solidFill>
                <a:latin typeface="Calibri" pitchFamily="34" charset="0"/>
                <a:ea typeface="Calibri" pitchFamily="34" charset="-122"/>
                <a:cs typeface="Calibri" pitchFamily="34" charset="-120"/>
              </a:rPr>
              <a:t>Es útil para pruebas rápidas, pero no versiona el esquema — usá Migrate().</a:t>
            </a:r>
            <a:endParaRPr lang="en-US" sz="970" dirty="0"/>
          </a:p>
        </p:txBody>
      </p:sp>
      <p:sp>
        <p:nvSpPr>
          <p:cNvPr id="28" name="Shape 26"/>
          <p:cNvSpPr/>
          <p:nvPr/>
        </p:nvSpPr>
        <p:spPr>
          <a:xfrm>
            <a:off x="8229600" y="3383280"/>
            <a:ext cx="3611880" cy="1463040"/>
          </a:xfrm>
          <a:prstGeom prst="roundRect">
            <a:avLst>
              <a:gd name="adj" fmla="val 5000"/>
            </a:avLst>
          </a:prstGeom>
          <a:solidFill>
            <a:srgbClr val="E7F1F6"/>
          </a:solidFill>
          <a:ln/>
        </p:spPr>
        <p:txBody>
          <a:bodyPr/>
          <a:lstStyle/>
          <a:p>
            <a:endParaRPr lang="es-AR"/>
          </a:p>
        </p:txBody>
      </p:sp>
      <p:sp>
        <p:nvSpPr>
          <p:cNvPr id="29" name="Shape 27"/>
          <p:cNvSpPr/>
          <p:nvPr/>
        </p:nvSpPr>
        <p:spPr>
          <a:xfrm>
            <a:off x="8412480" y="3566160"/>
            <a:ext cx="347472" cy="347472"/>
          </a:xfrm>
          <a:prstGeom prst="ellipse">
            <a:avLst/>
          </a:prstGeom>
          <a:solidFill>
            <a:srgbClr val="1C7293"/>
          </a:solidFill>
          <a:ln/>
        </p:spPr>
        <p:txBody>
          <a:bodyPr/>
          <a:lstStyle/>
          <a:p>
            <a:endParaRPr lang="es-AR"/>
          </a:p>
        </p:txBody>
      </p:sp>
      <p:sp>
        <p:nvSpPr>
          <p:cNvPr id="30" name="Text 28"/>
          <p:cNvSpPr/>
          <p:nvPr/>
        </p:nvSpPr>
        <p:spPr>
          <a:xfrm>
            <a:off x="8412480" y="356616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1" name="Text 29"/>
          <p:cNvSpPr/>
          <p:nvPr/>
        </p:nvSpPr>
        <p:spPr>
          <a:xfrm>
            <a:off x="8412480" y="3986784"/>
            <a:ext cx="3246120" cy="365760"/>
          </a:xfrm>
          <a:prstGeom prst="rect">
            <a:avLst/>
          </a:prstGeom>
          <a:noFill/>
          <a:ln/>
        </p:spPr>
        <p:txBody>
          <a:bodyPr wrap="square" lIns="0" tIns="0" rIns="0" bIns="0" rtlCol="0" anchor="ctr"/>
          <a:lstStyle/>
          <a:p>
            <a:pPr marL="0" indent="0" algn="l">
              <a:buNone/>
            </a:pPr>
            <a:r>
              <a:rPr lang="en-US" sz="1250" b="1" dirty="0">
                <a:solidFill>
                  <a:srgbClr val="21295C"/>
                </a:solidFill>
                <a:latin typeface="Cambria" pitchFamily="34" charset="0"/>
                <a:ea typeface="Cambria" pitchFamily="34" charset="-122"/>
                <a:cs typeface="Cambria" pitchFamily="34" charset="-120"/>
              </a:rPr>
              <a:t>Transacciones explícitas</a:t>
            </a:r>
            <a:endParaRPr lang="en-US" sz="1250" dirty="0"/>
          </a:p>
        </p:txBody>
      </p:sp>
      <p:sp>
        <p:nvSpPr>
          <p:cNvPr id="32" name="Text 30"/>
          <p:cNvSpPr/>
          <p:nvPr/>
        </p:nvSpPr>
        <p:spPr>
          <a:xfrm>
            <a:off x="8412480" y="4315968"/>
            <a:ext cx="3246120" cy="502920"/>
          </a:xfrm>
          <a:prstGeom prst="rect">
            <a:avLst/>
          </a:prstGeom>
          <a:noFill/>
          <a:ln/>
        </p:spPr>
        <p:txBody>
          <a:bodyPr wrap="square" lIns="0" tIns="0" rIns="0" bIns="0" rtlCol="0" anchor="ctr"/>
          <a:lstStyle/>
          <a:p>
            <a:pPr marL="0" indent="0" algn="l">
              <a:buNone/>
            </a:pPr>
            <a:r>
              <a:rPr lang="en-US" sz="970" dirty="0">
                <a:solidFill>
                  <a:srgbClr val="5C6B73"/>
                </a:solidFill>
                <a:latin typeface="Calibri" pitchFamily="34" charset="0"/>
                <a:ea typeface="Calibri" pitchFamily="34" charset="-122"/>
                <a:cs typeface="Calibri" pitchFamily="34" charset="-120"/>
              </a:rPr>
              <a:t>Cuando varias operaciones deben confirmarse juntas, usá una transacción manual.</a:t>
            </a:r>
            <a:endParaRPr lang="en-US" sz="970" dirty="0"/>
          </a:p>
        </p:txBody>
      </p:sp>
      <p:sp>
        <p:nvSpPr>
          <p:cNvPr id="34" name="CuadroTexto 33">
            <a:extLst>
              <a:ext uri="{FF2B5EF4-FFF2-40B4-BE49-F238E27FC236}">
                <a16:creationId xmlns:a16="http://schemas.microsoft.com/office/drawing/2014/main" id="{8F107580-A65A-293E-F569-7AA32AADDE15}"/>
              </a:ext>
            </a:extLst>
          </p:cNvPr>
          <p:cNvSpPr txBox="1"/>
          <p:nvPr/>
        </p:nvSpPr>
        <p:spPr>
          <a:xfrm>
            <a:off x="8229600" y="4869327"/>
            <a:ext cx="3528699" cy="1269578"/>
          </a:xfrm>
          <a:prstGeom prst="rect">
            <a:avLst/>
          </a:prstGeom>
          <a:noFill/>
        </p:spPr>
        <p:txBody>
          <a:bodyPr wrap="square">
            <a:spAutoFit/>
          </a:bodyPr>
          <a:lstStyle/>
          <a:p>
            <a:pPr marL="342900" marR="0" lvl="0" indent="-342900">
              <a:spcAft>
                <a:spcPts val="900"/>
              </a:spcAft>
              <a:buFont typeface="Arial" panose="020B0604020202020204" pitchFamily="34" charset="0"/>
              <a:buChar char="•"/>
            </a:pPr>
            <a:r>
              <a:rPr lang="es-AR" sz="1050" b="0" u="none" strike="noStrike" dirty="0" err="1">
                <a:effectLst/>
                <a:latin typeface="Courier New" panose="02070309020205020404" pitchFamily="49" charset="0"/>
              </a:rPr>
              <a:t>using</a:t>
            </a:r>
            <a:r>
              <a:rPr lang="es-AR" sz="1050" b="0" u="none" strike="noStrike" dirty="0">
                <a:effectLst/>
                <a:latin typeface="Courier New" panose="02070309020205020404" pitchFamily="49" charset="0"/>
              </a:rPr>
              <a:t> </a:t>
            </a:r>
            <a:r>
              <a:rPr lang="es-AR" sz="1050" b="0" u="none" strike="noStrike" dirty="0" err="1">
                <a:effectLst/>
                <a:latin typeface="Courier New" panose="02070309020205020404" pitchFamily="49" charset="0"/>
              </a:rPr>
              <a:t>var</a:t>
            </a:r>
            <a:r>
              <a:rPr lang="es-AR" sz="1050" b="0" u="none" strike="noStrike" dirty="0">
                <a:effectLst/>
                <a:latin typeface="Courier New" panose="02070309020205020404" pitchFamily="49" charset="0"/>
              </a:rPr>
              <a:t> </a:t>
            </a:r>
            <a:r>
              <a:rPr lang="es-AR" sz="1050" b="0" u="none" strike="noStrike" dirty="0" err="1">
                <a:effectLst/>
                <a:latin typeface="Courier New" panose="02070309020205020404" pitchFamily="49" charset="0"/>
              </a:rPr>
              <a:t>transaction</a:t>
            </a:r>
            <a:r>
              <a:rPr lang="es-AR" sz="1050" b="0" u="none" strike="noStrike" dirty="0">
                <a:effectLst/>
                <a:latin typeface="Courier New" panose="02070309020205020404" pitchFamily="49" charset="0"/>
              </a:rPr>
              <a:t> = </a:t>
            </a:r>
            <a:r>
              <a:rPr lang="es-AR" sz="1050" b="0" u="none" strike="noStrike" dirty="0" err="1">
                <a:effectLst/>
                <a:latin typeface="Courier New" panose="02070309020205020404" pitchFamily="49" charset="0"/>
              </a:rPr>
              <a:t>context.Database.BeginTransaction</a:t>
            </a:r>
            <a:r>
              <a:rPr lang="es-AR" sz="1050" b="0" u="none" strike="noStrike" dirty="0">
                <a:effectLst/>
                <a:latin typeface="Courier New" panose="02070309020205020404" pitchFamily="49" charset="0"/>
              </a:rPr>
              <a:t>();</a:t>
            </a:r>
            <a:endParaRPr lang="es-AR" sz="1200" b="0" u="none" strike="noStrike" dirty="0">
              <a:effectLst/>
              <a:latin typeface="Google Sans"/>
            </a:endParaRPr>
          </a:p>
          <a:p>
            <a:pPr marL="342900" marR="0" lvl="0" indent="-342900">
              <a:spcAft>
                <a:spcPts val="900"/>
              </a:spcAft>
              <a:buFont typeface="Arial" panose="020B0604020202020204" pitchFamily="34" charset="0"/>
              <a:buChar char="•"/>
            </a:pPr>
            <a:r>
              <a:rPr lang="es-AR" sz="1050" b="0" u="none" strike="noStrike" dirty="0" err="1">
                <a:effectLst/>
                <a:latin typeface="Courier New" panose="02070309020205020404" pitchFamily="49" charset="0"/>
              </a:rPr>
              <a:t>context.SaveChanges</a:t>
            </a:r>
            <a:r>
              <a:rPr lang="es-AR" sz="1050" b="0" u="none" strike="noStrike" dirty="0">
                <a:effectLst/>
                <a:latin typeface="Courier New" panose="02070309020205020404" pitchFamily="49" charset="0"/>
              </a:rPr>
              <a:t>()</a:t>
            </a:r>
            <a:r>
              <a:rPr lang="es-AR" sz="1200" dirty="0">
                <a:latin typeface="Google Sans"/>
              </a:rPr>
              <a:t>;</a:t>
            </a:r>
            <a:endParaRPr lang="es-AR" sz="1200" b="0" u="none" strike="noStrike" dirty="0">
              <a:effectLst/>
              <a:latin typeface="Google Sans"/>
            </a:endParaRPr>
          </a:p>
          <a:p>
            <a:pPr marL="342900" marR="0" lvl="0" indent="-342900">
              <a:spcAft>
                <a:spcPts val="900"/>
              </a:spcAft>
              <a:buFont typeface="Arial" panose="020B0604020202020204" pitchFamily="34" charset="0"/>
              <a:buChar char="•"/>
            </a:pPr>
            <a:r>
              <a:rPr lang="es-AR" sz="1050" b="0" u="none" strike="noStrike" dirty="0" err="1">
                <a:effectLst/>
                <a:latin typeface="Courier New" panose="02070309020205020404" pitchFamily="49" charset="0"/>
              </a:rPr>
              <a:t>transaction.Commit</a:t>
            </a:r>
            <a:r>
              <a:rPr lang="es-AR" sz="1050" b="0" u="none" strike="noStrike" dirty="0">
                <a:effectLst/>
                <a:latin typeface="Courier New" panose="02070309020205020404" pitchFamily="49" charset="0"/>
              </a:rPr>
              <a:t>();</a:t>
            </a:r>
            <a:endParaRPr lang="es-AR" sz="1200" b="0" u="none" strike="noStrike" dirty="0">
              <a:effectLst/>
              <a:latin typeface="Google Sans"/>
            </a:endParaRPr>
          </a:p>
          <a:p>
            <a:pPr marL="342900" marR="0" lvl="0" indent="-342900">
              <a:spcAft>
                <a:spcPts val="900"/>
              </a:spcAft>
              <a:buFont typeface="Arial" panose="020B0604020202020204" pitchFamily="34" charset="0"/>
              <a:buChar char="•"/>
            </a:pPr>
            <a:r>
              <a:rPr lang="es-AR" sz="1050" b="0" u="none" strike="noStrike" dirty="0" err="1">
                <a:effectLst/>
                <a:latin typeface="Courier New" panose="02070309020205020404" pitchFamily="49" charset="0"/>
              </a:rPr>
              <a:t>transaction.Rollback</a:t>
            </a:r>
            <a:r>
              <a:rPr lang="es-AR" sz="1050" b="0" u="none" strike="noStrike" dirty="0">
                <a:effectLst/>
                <a:latin typeface="Courier New" panose="02070309020205020404" pitchFamily="49" charset="0"/>
              </a:rPr>
              <a:t>();</a:t>
            </a:r>
            <a:endParaRPr lang="es-AR" sz="1200" b="0" u="none" strike="noStrike" dirty="0">
              <a:effectLst/>
              <a:latin typeface="Google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065A82">
              <a:alpha val="45000"/>
            </a:srgbClr>
          </a:solidFill>
          <a:ln/>
        </p:spPr>
        <p:txBody>
          <a:bodyPr/>
          <a:lstStyle/>
          <a:p>
            <a:endParaRPr lang="es-AR"/>
          </a:p>
        </p:txBody>
      </p:sp>
      <p:sp>
        <p:nvSpPr>
          <p:cNvPr id="4" name="Text 2"/>
          <p:cNvSpPr/>
          <p:nvPr/>
        </p:nvSpPr>
        <p:spPr>
          <a:xfrm>
            <a:off x="777240" y="960120"/>
            <a:ext cx="7315200" cy="8229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En </a:t>
            </a:r>
            <a:r>
              <a:rPr lang="en-US" sz="3400" b="1" dirty="0" err="1">
                <a:solidFill>
                  <a:srgbClr val="FFFFFF"/>
                </a:solidFill>
                <a:latin typeface="Cambria" pitchFamily="34" charset="0"/>
                <a:ea typeface="Cambria" pitchFamily="34" charset="-122"/>
                <a:cs typeface="Cambria" pitchFamily="34" charset="-120"/>
              </a:rPr>
              <a:t>resumen</a:t>
            </a:r>
            <a:endParaRPr lang="en-US" sz="3400" dirty="0"/>
          </a:p>
        </p:txBody>
      </p:sp>
      <p:sp>
        <p:nvSpPr>
          <p:cNvPr id="5" name="Shape 3"/>
          <p:cNvSpPr/>
          <p:nvPr/>
        </p:nvSpPr>
        <p:spPr>
          <a:xfrm>
            <a:off x="822960" y="2103120"/>
            <a:ext cx="292608" cy="292608"/>
          </a:xfrm>
          <a:prstGeom prst="ellipse">
            <a:avLst/>
          </a:prstGeom>
          <a:solidFill>
            <a:srgbClr val="1C7293"/>
          </a:solidFill>
          <a:ln/>
        </p:spPr>
        <p:txBody>
          <a:bodyPr/>
          <a:lstStyle/>
          <a:p>
            <a:endParaRPr lang="es-AR"/>
          </a:p>
        </p:txBody>
      </p:sp>
      <p:sp>
        <p:nvSpPr>
          <p:cNvPr id="6" name="Text 4"/>
          <p:cNvSpPr/>
          <p:nvPr/>
        </p:nvSpPr>
        <p:spPr>
          <a:xfrm>
            <a:off x="822960" y="21031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920240"/>
            <a:ext cx="9692640" cy="640080"/>
          </a:xfrm>
          <a:prstGeom prst="rect">
            <a:avLst/>
          </a:prstGeom>
          <a:noFill/>
          <a:ln/>
        </p:spPr>
        <p:txBody>
          <a:bodyPr wrap="square" lIns="0" tIns="0" rIns="0" bIns="0" rtlCol="0" anchor="ctr"/>
          <a:lstStyle/>
          <a:p>
            <a:pPr marL="0" indent="0" algn="l">
              <a:buNone/>
            </a:pPr>
            <a:r>
              <a:rPr lang="en-US" sz="1300" dirty="0">
                <a:solidFill>
                  <a:srgbClr val="E7F1F6"/>
                </a:solidFill>
                <a:latin typeface="Calibri" pitchFamily="34" charset="0"/>
                <a:ea typeface="Calibri" pitchFamily="34" charset="-122"/>
                <a:cs typeface="Calibri" pitchFamily="34" charset="-120"/>
              </a:rPr>
              <a:t>El DbContext es el centro de todo: agrupa los DbSet&lt;T&gt; y confirma cambios con SaveChanges().</a:t>
            </a:r>
            <a:endParaRPr lang="en-US" sz="1300" dirty="0"/>
          </a:p>
        </p:txBody>
      </p:sp>
      <p:sp>
        <p:nvSpPr>
          <p:cNvPr id="8" name="Shape 6"/>
          <p:cNvSpPr/>
          <p:nvPr/>
        </p:nvSpPr>
        <p:spPr>
          <a:xfrm>
            <a:off x="822960" y="2880360"/>
            <a:ext cx="292608" cy="292608"/>
          </a:xfrm>
          <a:prstGeom prst="ellipse">
            <a:avLst/>
          </a:prstGeom>
          <a:solidFill>
            <a:srgbClr val="1C7293"/>
          </a:solidFill>
          <a:ln/>
        </p:spPr>
        <p:txBody>
          <a:bodyPr/>
          <a:lstStyle/>
          <a:p>
            <a:endParaRPr lang="es-AR"/>
          </a:p>
        </p:txBody>
      </p:sp>
      <p:sp>
        <p:nvSpPr>
          <p:cNvPr id="9" name="Text 7"/>
          <p:cNvSpPr/>
          <p:nvPr/>
        </p:nvSpPr>
        <p:spPr>
          <a:xfrm>
            <a:off x="822960" y="28803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280160" y="2697480"/>
            <a:ext cx="9692640" cy="640080"/>
          </a:xfrm>
          <a:prstGeom prst="rect">
            <a:avLst/>
          </a:prstGeom>
          <a:noFill/>
          <a:ln/>
        </p:spPr>
        <p:txBody>
          <a:bodyPr wrap="square" lIns="0" tIns="0" rIns="0" bIns="0" rtlCol="0" anchor="ctr"/>
          <a:lstStyle/>
          <a:p>
            <a:pPr marL="0" indent="0" algn="l">
              <a:buNone/>
            </a:pPr>
            <a:r>
              <a:rPr lang="en-US" sz="1300" dirty="0">
                <a:solidFill>
                  <a:srgbClr val="E7F1F6"/>
                </a:solidFill>
                <a:latin typeface="Calibri" pitchFamily="34" charset="0"/>
                <a:ea typeface="Calibri" pitchFamily="34" charset="-122"/>
                <a:cs typeface="Calibri" pitchFamily="34" charset="-120"/>
              </a:rPr>
              <a:t>Las convenciones resuelven la mayoría de los casos — configurá explícitamente solo cuando haga falta.</a:t>
            </a:r>
            <a:endParaRPr lang="en-US" sz="1300" dirty="0"/>
          </a:p>
        </p:txBody>
      </p:sp>
      <p:sp>
        <p:nvSpPr>
          <p:cNvPr id="11" name="Shape 9"/>
          <p:cNvSpPr/>
          <p:nvPr/>
        </p:nvSpPr>
        <p:spPr>
          <a:xfrm>
            <a:off x="822960" y="3657600"/>
            <a:ext cx="292608" cy="292608"/>
          </a:xfrm>
          <a:prstGeom prst="ellipse">
            <a:avLst/>
          </a:prstGeom>
          <a:solidFill>
            <a:srgbClr val="1C7293"/>
          </a:solidFill>
          <a:ln/>
        </p:spPr>
        <p:txBody>
          <a:bodyPr/>
          <a:lstStyle/>
          <a:p>
            <a:endParaRPr lang="es-AR"/>
          </a:p>
        </p:txBody>
      </p:sp>
      <p:sp>
        <p:nvSpPr>
          <p:cNvPr id="12" name="Text 10"/>
          <p:cNvSpPr/>
          <p:nvPr/>
        </p:nvSpPr>
        <p:spPr>
          <a:xfrm>
            <a:off x="822960" y="36576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280160" y="3474720"/>
            <a:ext cx="9692640" cy="640080"/>
          </a:xfrm>
          <a:prstGeom prst="rect">
            <a:avLst/>
          </a:prstGeom>
          <a:noFill/>
          <a:ln/>
        </p:spPr>
        <p:txBody>
          <a:bodyPr wrap="square" lIns="0" tIns="0" rIns="0" bIns="0" rtlCol="0" anchor="ctr"/>
          <a:lstStyle/>
          <a:p>
            <a:pPr marL="0" indent="0" algn="l">
              <a:buNone/>
            </a:pPr>
            <a:r>
              <a:rPr lang="en-US" sz="1300" dirty="0">
                <a:solidFill>
                  <a:srgbClr val="E7F1F6"/>
                </a:solidFill>
                <a:latin typeface="Calibri" pitchFamily="34" charset="0"/>
                <a:ea typeface="Calibri" pitchFamily="34" charset="-122"/>
                <a:cs typeface="Calibri" pitchFamily="34" charset="-120"/>
              </a:rPr>
              <a:t>Data Annotations es rápido para reglas simples; Fluent API da control total y mantiene las entidades limpias.</a:t>
            </a:r>
            <a:endParaRPr lang="en-US" sz="1300" dirty="0"/>
          </a:p>
        </p:txBody>
      </p:sp>
      <p:sp>
        <p:nvSpPr>
          <p:cNvPr id="14" name="Shape 12"/>
          <p:cNvSpPr/>
          <p:nvPr/>
        </p:nvSpPr>
        <p:spPr>
          <a:xfrm>
            <a:off x="822960" y="4434840"/>
            <a:ext cx="292608" cy="292608"/>
          </a:xfrm>
          <a:prstGeom prst="ellipse">
            <a:avLst/>
          </a:prstGeom>
          <a:solidFill>
            <a:srgbClr val="1C7293"/>
          </a:solidFill>
          <a:ln/>
        </p:spPr>
        <p:txBody>
          <a:bodyPr/>
          <a:lstStyle/>
          <a:p>
            <a:endParaRPr lang="es-AR"/>
          </a:p>
        </p:txBody>
      </p:sp>
      <p:sp>
        <p:nvSpPr>
          <p:cNvPr id="15" name="Text 13"/>
          <p:cNvSpPr/>
          <p:nvPr/>
        </p:nvSpPr>
        <p:spPr>
          <a:xfrm>
            <a:off x="822960" y="443484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1280160" y="4251960"/>
            <a:ext cx="9692640" cy="640080"/>
          </a:xfrm>
          <a:prstGeom prst="rect">
            <a:avLst/>
          </a:prstGeom>
          <a:noFill/>
          <a:ln/>
        </p:spPr>
        <p:txBody>
          <a:bodyPr wrap="square" lIns="0" tIns="0" rIns="0" bIns="0" rtlCol="0" anchor="ctr"/>
          <a:lstStyle/>
          <a:p>
            <a:pPr marL="0" indent="0" algn="l">
              <a:buNone/>
            </a:pPr>
            <a:r>
              <a:rPr lang="en-US" sz="1300" dirty="0">
                <a:solidFill>
                  <a:srgbClr val="E7F1F6"/>
                </a:solidFill>
                <a:latin typeface="Calibri" pitchFamily="34" charset="0"/>
                <a:ea typeface="Calibri" pitchFamily="34" charset="-122"/>
                <a:cs typeface="Calibri" pitchFamily="34" charset="-120"/>
              </a:rPr>
              <a:t>Code First versiona el esquema junto al código con migraciones; Database First parte de una base existente con scaffolding.</a:t>
            </a:r>
            <a:endParaRPr lang="en-US" sz="1300" dirty="0"/>
          </a:p>
        </p:txBody>
      </p:sp>
      <p:sp>
        <p:nvSpPr>
          <p:cNvPr id="17" name="Shape 15"/>
          <p:cNvSpPr/>
          <p:nvPr/>
        </p:nvSpPr>
        <p:spPr>
          <a:xfrm>
            <a:off x="822960" y="5212080"/>
            <a:ext cx="292608" cy="292608"/>
          </a:xfrm>
          <a:prstGeom prst="ellipse">
            <a:avLst/>
          </a:prstGeom>
          <a:solidFill>
            <a:srgbClr val="1C7293"/>
          </a:solidFill>
          <a:ln/>
        </p:spPr>
        <p:txBody>
          <a:bodyPr/>
          <a:lstStyle/>
          <a:p>
            <a:endParaRPr lang="es-AR"/>
          </a:p>
        </p:txBody>
      </p:sp>
      <p:sp>
        <p:nvSpPr>
          <p:cNvPr id="18" name="Text 16"/>
          <p:cNvSpPr/>
          <p:nvPr/>
        </p:nvSpPr>
        <p:spPr>
          <a:xfrm>
            <a:off x="822960" y="52120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1280160" y="5029200"/>
            <a:ext cx="9692640" cy="640080"/>
          </a:xfrm>
          <a:prstGeom prst="rect">
            <a:avLst/>
          </a:prstGeom>
          <a:noFill/>
          <a:ln/>
        </p:spPr>
        <p:txBody>
          <a:bodyPr wrap="square" lIns="0" tIns="0" rIns="0" bIns="0" rtlCol="0" anchor="ctr"/>
          <a:lstStyle/>
          <a:p>
            <a:pPr marL="0" indent="0" algn="l">
              <a:buNone/>
            </a:pPr>
            <a:r>
              <a:rPr lang="en-US" sz="1300" dirty="0">
                <a:solidFill>
                  <a:srgbClr val="E7F1F6"/>
                </a:solidFill>
                <a:latin typeface="Calibri" pitchFamily="34" charset="0"/>
                <a:ea typeface="Calibri" pitchFamily="34" charset="-122"/>
                <a:cs typeface="Calibri" pitchFamily="34" charset="-120"/>
              </a:rPr>
              <a:t>La elección entre ambos depende de quién controla el esquema: el equipo de desarrollo o un DBA / sistema legacy.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11579</TotalTime>
  <Words>2800</Words>
  <Application>Microsoft Office PowerPoint</Application>
  <PresentationFormat>Panorámica</PresentationFormat>
  <Paragraphs>332</Paragraphs>
  <Slides>17</Slides>
  <Notes>17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Arial</vt:lpstr>
      <vt:lpstr>Calibri</vt:lpstr>
      <vt:lpstr>Cambria</vt:lpstr>
      <vt:lpstr>Courier New</vt:lpstr>
      <vt:lpstr>Google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Maximiliano Medina</cp:lastModifiedBy>
  <cp:revision>8</cp:revision>
  <dcterms:created xsi:type="dcterms:W3CDTF">2026-08-17T21:49:22Z</dcterms:created>
  <dcterms:modified xsi:type="dcterms:W3CDTF">2026-09-01T22:20:45Z</dcterms:modified>
</cp:coreProperties>
</file>