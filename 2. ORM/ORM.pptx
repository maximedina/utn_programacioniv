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098" autoAdjust="0"/>
  </p:normalViewPr>
  <p:slideViewPr>
    <p:cSldViewPr snapToGrid="0">
      <p:cViewPr varScale="1">
        <p:scale>
          <a:sx n="70" d="100"/>
          <a:sy n="70" d="100"/>
        </p:scale>
        <p:origin x="11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C4E44C0-A24A-4A0C-9C49-203D2679B25E}" type="slidenum"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Object-Relational Mapping, u ORM. La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pregunta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que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nos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guiar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toda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la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clase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es simple: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nuestro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código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está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escrito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objetos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pero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la base de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datos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guarda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todo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tablas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¿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Cómo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se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comunican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esos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dos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mundos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? Eso es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exactamente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lo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que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vamos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desarmar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hoy.</a:t>
            </a:r>
            <a:endParaRPr lang="es-AR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875ECF-661E-4A2A-AD22-5F00961CF7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Antes de hablar de la solución, entendamos el problema. Cuando programamos orientado a objetos, pensamos en herencia, referencias entre objetos, colecciones anidadas. Una base relacional no entiende nada de eso: solo tablas planas, filas, columnas y claves foráneas. A este choque de paradigmas se lo conoce como 'impedance mismatch'. Cada vez que guardamos o leemos un objeto, alguien tiene que traducir entre estos dos mundos.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3E0697-0597-4451-B395-51E7628B18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 ORM es la herramienta que automatiza esa traducción. En la práctica se traduce en cuatro equivalencias: una clase se corresponde con una tabla, un atributo con una columna, una instancia con una fila, y una referencia entre objetos con una clave foránea. Si se quedan con estas cuatro líneas, ya tienen el ochenta por ciento del concepto.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049988-08DE-4ADB-B76C-EEC479268E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la izquierda tenemos una clase Usuario, con sus atributos típicos. A la derecha, la tabla usuarios en la base de datos, con esas mismas columnas. El ORM está en el medio: cuando creo una instancia de Usuario, sabe convertirla en un INSERT; cuando consulto usuarios, sabe convertir las filas devueltas en objetos Usuario que puedo usar normalmente en mi programa.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EF739F-BEAB-4A7E-B39D-76BAAAE6F3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Primero, productividad: menos SQL repetitivo. Segundo, portabilidad entre motores de base de datos con cambios mínimos. Tercero, seguridad: consultas parametrizadas que reducen el riesgo de inyección SQL. También suman mantenibilidad, porque el modelo convive con la lógica del dominio, y manejo de migraciones, que vamos a ver más adelante.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FFC1BC-1CDC-4FB9-B4A1-18EDA1D801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Ningún ORM es gratis. Tiene una curva de aprendizaje real. Puede meter overhead de rendimiento comparado con SQL optimizado a mano. Las consultas complejas son incómodas de expresar. Y es una 'abstracción con fugas': tarde o temprano van a necesitar entender el SQL real para debuggear. El problema más común de todos, que vamos a ver en detalle, es el N+1.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A43EA6-8ECD-4545-97CE-E483642BD8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Active Record es el enfoque donde el propio objeto sabe cómo persistirse: usuario.save(). Lo usan Rails, Django o Laravel. Es simple, pero mezcla lógica de negocio con persistencia. Data Mapper separa completamente esas responsabilidades: una capa aparte se encarga de guardar el objeto. SQLAlchemy y Hibernate son los ejemplos clásicos. Da objetos más puros, a cambio de una capa extra de complejidad.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ACA0C4-5E25-4985-80FE-4681BD6A90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Prácticamente todos los ecosistemas tienen su propio ORM: SQLAlchemy y Django ORM en Python, Hibernate y JPA en Java/Kotlin, Entity Framework Core en .NET, Prisma/TypeORM/Sequelize en JavaScript y TypeScript, Active Record en Ruby on Rails, Eloquent o Doctrine en PHP. La idea de fondo es siempre la misma; lo que cambia es la sintaxis.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B3AA40-D3F8-4F31-88CC-2DF7A95B53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Más allá del ORM que elijan, hay una decisión previa: ¿de dónde parte el modelo? Con Code First, escriben las clases en su lenguaje y el ORM genera el esquema de base de datos por ustedes, versionando los cambios con migraciones — ideal para proyectos nuevos. Con Database First, parten de una base ya existente y el ORM hace 'scaffolding': inspecciona las tablas y genera las clases automáticamente — típico en bases legacy, compartidas entre equipos, o administradas por un DBA. Ninguno es mejor en abstracto, depende de dónde arranca el proyecto.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F12E77-8900-4A56-91BC-CB487605C7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Entity Framework, o EF Core, es el ORM oficial de Microsoft para .NET, y vale la pena verlo en detalle porque combina varios conceptos que ya vimos. Sigue el patrón Data Mapper: el DbContext representa la sesión activa con la base, y cada DbSet&lt;T&gt; expone una tabla como una colección de objetos que se puede consultar con LINQ, es decir, con sintaxis nativa de C#, sin escribir SQL. Soporta tanto Code First como Database First, tiene su propio sistema de migraciones con los comandos dotnet ef, y funciona con distintos proveedores: SQL Server, PostgreSQL, SQLite, MySQL, entre otros. En el ejemplo de la derecha ven un DbContext con un DbSet de Usuario, y una consulta LINQ que filtra por edad y ordena por nombre — eso se traduce automáticamente en el SQL equivalente.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48877D-04E7-44A5-BB68-782FC5FB78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la izquierda, SQL puro con un JOIN entre usuarios y pedidos. A la derecha, la misma consulta con el ORM en Python, encadenando métodos. Es importante remarcar: el ORM no reemplaza el SQL, lo genera. Por debajo, esa cadena de métodos se traduce en algo muy similar a lo que tenemos a la izquierda.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BB1C3A-564A-4D89-AF69-0E9C996FD2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Probablemente el error de rendimiento más común al trabajar con un ORM. Pido todos los autores con una consulta, y dentro de un for accedo a los libros de cada autor: cada acceso dispara una consulta nueva. Con 50 autores, son 51 consultas en vez de una. La solución es el eager loading: pedirle al ORM que traiga todo en una sola consulta con JOIN. Casi todos los ORMs lo ofrecen, con distintos nombres.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721391-F289-420A-9EF9-DEF55E3D89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 ORM no solo lee y escribe datos, también ayuda a evolucionar el esquema de forma controlada. Cambiamos el modelo en el código, la herramienta genera un archivo de migración que describe ese cambio, y ese mismo script se aplica en cada entorno para que todos terminen con el mismo esquema. Alembic, Django Migrations, Flyway o Prisma Migrate hacen exactamente esto.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468E9B-093C-4277-B473-5C013AA404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¿Siempre conviene usar un ORM? No. Es una gran opción para CRUD estándar, prototipado rápido, equipos con niveles de SQL heterogéneos, y portabilidad entre motores. Conviene usarlo con cautela en reportes analíticos pesados, consultas de rendimiento crítico, migraciones de datos muy específicas, o procesamiento batch sobre millones de filas.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5870A6-6A28-40DC-A3B8-6C540B66F9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Cinco ideas para llevarse: un ORM traduce entre objetos y tablas; ahorra tiempo pero no reemplaza entender SQL; Active Record es simple, Data Mapper separa mejor responsabilidades; cuidado con el problema N+1; y las migraciones son tan parte del trabajo con un ORM como las consultas mismas. Con esto cerramos la teoría, abramos la ronda de preguntas.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2DC5FF-84BB-48B1-9C11-8DA0A1484C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s-A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9418320" y="-1463040"/>
            <a:ext cx="4571640" cy="4571640"/>
          </a:xfrm>
          <a:prstGeom prst="ellipse">
            <a:avLst/>
          </a:prstGeom>
          <a:solidFill>
            <a:srgbClr val="065A82">
              <a:alpha val="4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0607040" y="2926080"/>
            <a:ext cx="2925720" cy="2925720"/>
          </a:xfrm>
          <a:prstGeom prst="ellipse">
            <a:avLst/>
          </a:prstGeom>
          <a:solidFill>
            <a:srgbClr val="1C7293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777240" y="2331720"/>
            <a:ext cx="98751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ORM</a:t>
            </a:r>
            <a:endParaRPr lang="es-AR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822960" y="342900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Object-Relational Mapping</a:t>
            </a:r>
            <a:endParaRPr lang="es-A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5"/>
          <p:cNvSpPr/>
          <p:nvPr/>
        </p:nvSpPr>
        <p:spPr>
          <a:xfrm>
            <a:off x="822960" y="4572000"/>
            <a:ext cx="2377080" cy="105120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822960" y="468180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class Usuario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3246120" y="470916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6FB6D9"/>
                </a:solidFill>
                <a:effectLst/>
                <a:uFillTx/>
                <a:latin typeface="Calibri"/>
                <a:ea typeface="Calibri"/>
              </a:rPr>
              <a:t>↔</a:t>
            </a:r>
            <a:endParaRPr lang="es-A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8"/>
          <p:cNvSpPr/>
          <p:nvPr/>
        </p:nvSpPr>
        <p:spPr>
          <a:xfrm>
            <a:off x="4114800" y="4572000"/>
            <a:ext cx="2377080" cy="105120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4114800" y="468180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TABLE usuarios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548640" y="41148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El problema de fondo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548640" y="1024200"/>
            <a:ext cx="11091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"Impedance mismatch": dos formas distintas de organizar datos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2"/>
          <p:cNvSpPr/>
          <p:nvPr/>
        </p:nvSpPr>
        <p:spPr>
          <a:xfrm>
            <a:off x="548640" y="1920240"/>
            <a:ext cx="5120280" cy="3931560"/>
          </a:xfrm>
          <a:prstGeom prst="roundRect">
            <a:avLst>
              <a:gd name="adj" fmla="val 1860"/>
            </a:avLst>
          </a:prstGeom>
          <a:solidFill>
            <a:srgbClr val="2129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548640" y="214884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Mundo de los objetos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868680" y="2788920"/>
            <a:ext cx="127800" cy="127800"/>
          </a:xfrm>
          <a:prstGeom prst="ellipse">
            <a:avLst/>
          </a:prstGeom>
          <a:solidFill>
            <a:srgbClr val="6FB6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1143000" y="2633400"/>
            <a:ext cx="4434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7F1F6"/>
                </a:solidFill>
                <a:effectLst/>
                <a:uFillTx/>
                <a:latin typeface="Calibri"/>
                <a:ea typeface="Calibri"/>
              </a:rPr>
              <a:t>Herencia entre clases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6"/>
          <p:cNvSpPr/>
          <p:nvPr/>
        </p:nvSpPr>
        <p:spPr>
          <a:xfrm>
            <a:off x="868680" y="3364920"/>
            <a:ext cx="127800" cy="127800"/>
          </a:xfrm>
          <a:prstGeom prst="ellipse">
            <a:avLst/>
          </a:prstGeom>
          <a:solidFill>
            <a:srgbClr val="6FB6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1143000" y="3209400"/>
            <a:ext cx="4434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7F1F6"/>
                </a:solidFill>
                <a:effectLst/>
                <a:uFillTx/>
                <a:latin typeface="Calibri"/>
                <a:ea typeface="Calibri"/>
              </a:rPr>
              <a:t>Referencias y punteros entre objetos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868680" y="3940920"/>
            <a:ext cx="127800" cy="127800"/>
          </a:xfrm>
          <a:prstGeom prst="ellipse">
            <a:avLst/>
          </a:prstGeom>
          <a:solidFill>
            <a:srgbClr val="6FB6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1143000" y="3785760"/>
            <a:ext cx="4434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7F1F6"/>
                </a:solidFill>
                <a:effectLst/>
                <a:uFillTx/>
                <a:latin typeface="Calibri"/>
                <a:ea typeface="Calibri"/>
              </a:rPr>
              <a:t>Colecciones anidadas (listas, sets)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0"/>
          <p:cNvSpPr/>
          <p:nvPr/>
        </p:nvSpPr>
        <p:spPr>
          <a:xfrm>
            <a:off x="868680" y="4517280"/>
            <a:ext cx="127800" cy="127800"/>
          </a:xfrm>
          <a:prstGeom prst="ellipse">
            <a:avLst/>
          </a:prstGeom>
          <a:solidFill>
            <a:srgbClr val="6FB6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1143000" y="4361760"/>
            <a:ext cx="4434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7F1F6"/>
                </a:solidFill>
                <a:effectLst/>
                <a:uFillTx/>
                <a:latin typeface="Calibri"/>
                <a:ea typeface="Calibri"/>
              </a:rPr>
              <a:t>Identidad de objeto (misma instancia)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2"/>
          <p:cNvSpPr/>
          <p:nvPr/>
        </p:nvSpPr>
        <p:spPr>
          <a:xfrm>
            <a:off x="868680" y="5093280"/>
            <a:ext cx="127800" cy="127800"/>
          </a:xfrm>
          <a:prstGeom prst="ellipse">
            <a:avLst/>
          </a:prstGeom>
          <a:solidFill>
            <a:srgbClr val="6FB6D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1143000" y="4937760"/>
            <a:ext cx="4434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7F1F6"/>
                </a:solidFill>
                <a:effectLst/>
                <a:uFillTx/>
                <a:latin typeface="Calibri"/>
                <a:ea typeface="Calibri"/>
              </a:rPr>
              <a:t>Encapsulamiento de comportamiento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6492240" y="1920240"/>
            <a:ext cx="5120280" cy="3931560"/>
          </a:xfrm>
          <a:prstGeom prst="roundRect">
            <a:avLst>
              <a:gd name="adj" fmla="val 1860"/>
            </a:avLst>
          </a:prstGeom>
          <a:solidFill>
            <a:srgbClr val="E7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6492240" y="214884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Mundo relacional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6"/>
          <p:cNvSpPr/>
          <p:nvPr/>
        </p:nvSpPr>
        <p:spPr>
          <a:xfrm>
            <a:off x="6812280" y="2788920"/>
            <a:ext cx="127800" cy="1278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7086600" y="2633400"/>
            <a:ext cx="4434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Tablas planas de filas y columnas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8"/>
          <p:cNvSpPr/>
          <p:nvPr/>
        </p:nvSpPr>
        <p:spPr>
          <a:xfrm>
            <a:off x="6812280" y="3364920"/>
            <a:ext cx="127800" cy="1278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9"/>
          <p:cNvSpPr/>
          <p:nvPr/>
        </p:nvSpPr>
        <p:spPr>
          <a:xfrm>
            <a:off x="7086600" y="3209400"/>
            <a:ext cx="4434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Claves primarias y foráneas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0"/>
          <p:cNvSpPr/>
          <p:nvPr/>
        </p:nvSpPr>
        <p:spPr>
          <a:xfrm>
            <a:off x="6812280" y="3940920"/>
            <a:ext cx="127800" cy="1278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7086600" y="3785760"/>
            <a:ext cx="4434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Relaciones expresadas con JOINs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2"/>
          <p:cNvSpPr/>
          <p:nvPr/>
        </p:nvSpPr>
        <p:spPr>
          <a:xfrm>
            <a:off x="6812280" y="4517280"/>
            <a:ext cx="127800" cy="1278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3"/>
          <p:cNvSpPr/>
          <p:nvPr/>
        </p:nvSpPr>
        <p:spPr>
          <a:xfrm>
            <a:off x="7086600" y="4361760"/>
            <a:ext cx="4434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Sin herencia nativa de estructuras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4"/>
          <p:cNvSpPr/>
          <p:nvPr/>
        </p:nvSpPr>
        <p:spPr>
          <a:xfrm>
            <a:off x="6812280" y="5093280"/>
            <a:ext cx="127800" cy="12780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5"/>
          <p:cNvSpPr/>
          <p:nvPr/>
        </p:nvSpPr>
        <p:spPr>
          <a:xfrm>
            <a:off x="7086600" y="4937760"/>
            <a:ext cx="4434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Datos separados del comportamiento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6"/>
          <p:cNvSpPr/>
          <p:nvPr/>
        </p:nvSpPr>
        <p:spPr>
          <a:xfrm>
            <a:off x="5688000" y="347472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⇄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548640" y="41148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¿Qué es un ORM?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"/>
          <p:cNvSpPr/>
          <p:nvPr/>
        </p:nvSpPr>
        <p:spPr>
          <a:xfrm>
            <a:off x="548640" y="1737360"/>
            <a:ext cx="11091240" cy="1051200"/>
          </a:xfrm>
          <a:prstGeom prst="roundRect">
            <a:avLst>
              <a:gd name="adj" fmla="val 6957"/>
            </a:avLst>
          </a:prstGeom>
          <a:solidFill>
            <a:srgbClr val="E7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868680" y="1737360"/>
            <a:ext cx="1045116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Object-Relational Mapping</a:t>
            </a:r>
            <a:r>
              <a:rPr lang="en-US" sz="150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50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una</a:t>
            </a:r>
            <a:r>
              <a:rPr lang="en-US" sz="150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50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técnica</a:t>
            </a:r>
            <a:r>
              <a:rPr lang="en-US" sz="150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(y </a:t>
            </a:r>
            <a:r>
              <a:rPr lang="en-US" sz="150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librería</a:t>
            </a:r>
            <a:r>
              <a:rPr lang="en-US" sz="150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) </a:t>
            </a:r>
            <a:r>
              <a:rPr lang="en-US" sz="150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que</a:t>
            </a:r>
            <a:r>
              <a:rPr lang="en-US" sz="150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50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convierte</a:t>
            </a:r>
            <a:r>
              <a:rPr lang="en-US" sz="150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50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automáticamente</a:t>
            </a:r>
            <a:r>
              <a:rPr lang="en-US" sz="150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50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datos</a:t>
            </a:r>
            <a:r>
              <a:rPr lang="en-US" sz="150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entre un </a:t>
            </a:r>
            <a:r>
              <a:rPr lang="en-US" sz="150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sistema</a:t>
            </a:r>
            <a:r>
              <a:rPr lang="en-US" sz="150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de </a:t>
            </a:r>
            <a:r>
              <a:rPr lang="en-US" sz="150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orientado</a:t>
            </a:r>
            <a:r>
              <a:rPr lang="en-US" sz="150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a </a:t>
            </a:r>
            <a:r>
              <a:rPr lang="en-US" sz="150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objetos</a:t>
            </a:r>
            <a:r>
              <a:rPr lang="en-US" sz="150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y </a:t>
            </a:r>
            <a:r>
              <a:rPr lang="en-US" sz="150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una</a:t>
            </a:r>
            <a:r>
              <a:rPr lang="en-US" sz="150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base de </a:t>
            </a:r>
            <a:r>
              <a:rPr lang="en-US" sz="150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datos</a:t>
            </a:r>
            <a:r>
              <a:rPr lang="en-US" sz="150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50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relacional</a:t>
            </a:r>
            <a:r>
              <a:rPr lang="en-US" sz="150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150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permitiendo</a:t>
            </a:r>
            <a:r>
              <a:rPr lang="en-US" sz="150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50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trabajar</a:t>
            </a:r>
            <a:r>
              <a:rPr lang="en-US" sz="150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con </a:t>
            </a:r>
            <a:r>
              <a:rPr lang="en-US" sz="150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objetos</a:t>
            </a:r>
            <a:r>
              <a:rPr lang="en-US" sz="150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50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en</a:t>
            </a:r>
            <a:r>
              <a:rPr lang="en-US" sz="150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50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lugar</a:t>
            </a:r>
            <a:r>
              <a:rPr lang="en-US" sz="150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de </a:t>
            </a:r>
            <a:r>
              <a:rPr lang="en-US" sz="150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escribir</a:t>
            </a:r>
            <a:r>
              <a:rPr lang="en-US" sz="150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SQL a mano.</a:t>
            </a:r>
            <a:endParaRPr lang="es-A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3"/>
          <p:cNvSpPr/>
          <p:nvPr/>
        </p:nvSpPr>
        <p:spPr>
          <a:xfrm>
            <a:off x="548640" y="3063240"/>
            <a:ext cx="2605680" cy="2331360"/>
          </a:xfrm>
          <a:prstGeom prst="roundRect">
            <a:avLst>
              <a:gd name="adj" fmla="val 3137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713160" y="3291840"/>
            <a:ext cx="2276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Clase → Tabla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713160" y="3977640"/>
            <a:ext cx="22766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Cada clase del modelo se corresponde con una tabla de la base de datos.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6"/>
          <p:cNvSpPr/>
          <p:nvPr/>
        </p:nvSpPr>
        <p:spPr>
          <a:xfrm>
            <a:off x="3410640" y="3063240"/>
            <a:ext cx="2605680" cy="233136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3575160" y="3291840"/>
            <a:ext cx="2276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Atributo → Columna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3575160" y="3977640"/>
            <a:ext cx="22766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Cada propiedad del objeto se corresponde con una columna.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9"/>
          <p:cNvSpPr/>
          <p:nvPr/>
        </p:nvSpPr>
        <p:spPr>
          <a:xfrm>
            <a:off x="6272640" y="3063240"/>
            <a:ext cx="2605680" cy="2331360"/>
          </a:xfrm>
          <a:prstGeom prst="roundRect">
            <a:avLst>
              <a:gd name="adj" fmla="val 3137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6437520" y="3291840"/>
            <a:ext cx="2276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Instancia → Fila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6437520" y="3977640"/>
            <a:ext cx="22766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Cada objeto en memoria representa una fila concreta de datos.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2"/>
          <p:cNvSpPr/>
          <p:nvPr/>
        </p:nvSpPr>
        <p:spPr>
          <a:xfrm>
            <a:off x="9135000" y="3063240"/>
            <a:ext cx="2605680" cy="233136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9299520" y="3291840"/>
            <a:ext cx="2276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Referencia → Clave foránea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4"/>
          <p:cNvSpPr/>
          <p:nvPr/>
        </p:nvSpPr>
        <p:spPr>
          <a:xfrm>
            <a:off x="9299520" y="3977640"/>
            <a:ext cx="22766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Las relaciones entre objetos se traducen en foreign keys y JOINs.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548640" y="41148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Cómo funciona el mapeo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548640" y="1024200"/>
            <a:ext cx="11091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De una clase de tu lenguaje a una tabla de la base de datos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"/>
          <p:cNvSpPr/>
          <p:nvPr/>
        </p:nvSpPr>
        <p:spPr>
          <a:xfrm>
            <a:off x="640080" y="1783080"/>
            <a:ext cx="4205880" cy="4114440"/>
          </a:xfrm>
          <a:prstGeom prst="roundRect">
            <a:avLst>
              <a:gd name="adj" fmla="val 1778"/>
            </a:avLst>
          </a:prstGeom>
          <a:solidFill>
            <a:srgbClr val="1321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914400" y="21031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8FC7E8"/>
                </a:solidFill>
                <a:effectLst/>
                <a:uFillTx/>
                <a:latin typeface="Courier New"/>
                <a:ea typeface="Courier New"/>
              </a:rPr>
              <a:t>class Usuario: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914400" y="24872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    id: int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5"/>
          <p:cNvSpPr/>
          <p:nvPr/>
        </p:nvSpPr>
        <p:spPr>
          <a:xfrm>
            <a:off x="914400" y="28713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    nombre: str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914400" y="32551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    email: str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914400" y="363924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    creado_en: datetime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8"/>
          <p:cNvSpPr/>
          <p:nvPr/>
        </p:nvSpPr>
        <p:spPr>
          <a:xfrm>
            <a:off x="914400" y="40233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2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 9"/>
          <p:cNvSpPr/>
          <p:nvPr/>
        </p:nvSpPr>
        <p:spPr>
          <a:xfrm>
            <a:off x="914400" y="44074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u = Usuario(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0"/>
          <p:cNvSpPr/>
          <p:nvPr/>
        </p:nvSpPr>
        <p:spPr>
          <a:xfrm>
            <a:off x="914400" y="479160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    nombre="Ana")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1"/>
          <p:cNvSpPr/>
          <p:nvPr/>
        </p:nvSpPr>
        <p:spPr>
          <a:xfrm>
            <a:off x="5120640" y="3337560"/>
            <a:ext cx="1919880" cy="100548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2"/>
          <p:cNvSpPr/>
          <p:nvPr/>
        </p:nvSpPr>
        <p:spPr>
          <a:xfrm>
            <a:off x="5120640" y="3337560"/>
            <a:ext cx="191988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ORM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3"/>
          <p:cNvSpPr/>
          <p:nvPr/>
        </p:nvSpPr>
        <p:spPr>
          <a:xfrm>
            <a:off x="5120640" y="288036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mapea →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4"/>
          <p:cNvSpPr/>
          <p:nvPr/>
        </p:nvSpPr>
        <p:spPr>
          <a:xfrm>
            <a:off x="7406640" y="1783080"/>
            <a:ext cx="4160160" cy="4114440"/>
          </a:xfrm>
          <a:prstGeom prst="roundRect">
            <a:avLst>
              <a:gd name="adj" fmla="val 1778"/>
            </a:avLst>
          </a:prstGeom>
          <a:solidFill>
            <a:srgbClr val="E7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5"/>
          <p:cNvSpPr/>
          <p:nvPr/>
        </p:nvSpPr>
        <p:spPr>
          <a:xfrm>
            <a:off x="7635240" y="198432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1295C"/>
                </a:solidFill>
                <a:effectLst/>
                <a:uFillTx/>
                <a:latin typeface="Courier New"/>
                <a:ea typeface="Courier New"/>
              </a:rPr>
              <a:t>TABLE usuarios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6"/>
          <p:cNvSpPr/>
          <p:nvPr/>
        </p:nvSpPr>
        <p:spPr>
          <a:xfrm>
            <a:off x="7635240" y="2468880"/>
            <a:ext cx="3702960" cy="3837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7"/>
          <p:cNvSpPr/>
          <p:nvPr/>
        </p:nvSpPr>
        <p:spPr>
          <a:xfrm>
            <a:off x="7635240" y="2468880"/>
            <a:ext cx="92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id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8"/>
          <p:cNvSpPr/>
          <p:nvPr/>
        </p:nvSpPr>
        <p:spPr>
          <a:xfrm>
            <a:off x="8561160" y="2468880"/>
            <a:ext cx="92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nombre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9"/>
          <p:cNvSpPr/>
          <p:nvPr/>
        </p:nvSpPr>
        <p:spPr>
          <a:xfrm>
            <a:off x="9487080" y="2468880"/>
            <a:ext cx="92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email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0"/>
          <p:cNvSpPr/>
          <p:nvPr/>
        </p:nvSpPr>
        <p:spPr>
          <a:xfrm>
            <a:off x="10412640" y="2468880"/>
            <a:ext cx="92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creado_en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1"/>
          <p:cNvSpPr/>
          <p:nvPr/>
        </p:nvSpPr>
        <p:spPr>
          <a:xfrm>
            <a:off x="7635240" y="2853000"/>
            <a:ext cx="3702960" cy="383760"/>
          </a:xfrm>
          <a:prstGeom prst="rect">
            <a:avLst/>
          </a:prstGeom>
          <a:solidFill>
            <a:srgbClr val="FFFFFF"/>
          </a:solidFill>
          <a:ln w="6480">
            <a:solidFill>
              <a:srgbClr val="D7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2"/>
          <p:cNvSpPr/>
          <p:nvPr/>
        </p:nvSpPr>
        <p:spPr>
          <a:xfrm>
            <a:off x="7635240" y="2853000"/>
            <a:ext cx="92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1295C"/>
                </a:solidFill>
                <a:effectLst/>
                <a:uFillTx/>
                <a:latin typeface="Courier New"/>
                <a:ea typeface="Courier New"/>
              </a:rPr>
              <a:t>1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3"/>
          <p:cNvSpPr/>
          <p:nvPr/>
        </p:nvSpPr>
        <p:spPr>
          <a:xfrm>
            <a:off x="8561160" y="2853000"/>
            <a:ext cx="92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1295C"/>
                </a:solidFill>
                <a:effectLst/>
                <a:uFillTx/>
                <a:latin typeface="Courier New"/>
                <a:ea typeface="Courier New"/>
              </a:rPr>
              <a:t>Ana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4"/>
          <p:cNvSpPr/>
          <p:nvPr/>
        </p:nvSpPr>
        <p:spPr>
          <a:xfrm>
            <a:off x="9487080" y="2853000"/>
            <a:ext cx="92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1295C"/>
                </a:solidFill>
                <a:effectLst/>
                <a:uFillTx/>
                <a:latin typeface="Courier New"/>
                <a:ea typeface="Courier New"/>
              </a:rPr>
              <a:t>ana@mail.com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5"/>
          <p:cNvSpPr/>
          <p:nvPr/>
        </p:nvSpPr>
        <p:spPr>
          <a:xfrm>
            <a:off x="10412640" y="2853000"/>
            <a:ext cx="92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1295C"/>
                </a:solidFill>
                <a:effectLst/>
                <a:uFillTx/>
                <a:latin typeface="Courier New"/>
                <a:ea typeface="Courier New"/>
              </a:rPr>
              <a:t>2026-08-01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6"/>
          <p:cNvSpPr/>
          <p:nvPr/>
        </p:nvSpPr>
        <p:spPr>
          <a:xfrm>
            <a:off x="7635240" y="3237120"/>
            <a:ext cx="3702960" cy="383760"/>
          </a:xfrm>
          <a:prstGeom prst="rect">
            <a:avLst/>
          </a:prstGeom>
          <a:solidFill>
            <a:srgbClr val="F0F6F9"/>
          </a:solidFill>
          <a:ln w="6480">
            <a:solidFill>
              <a:srgbClr val="D7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7"/>
          <p:cNvSpPr/>
          <p:nvPr/>
        </p:nvSpPr>
        <p:spPr>
          <a:xfrm>
            <a:off x="7635240" y="3237120"/>
            <a:ext cx="92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1295C"/>
                </a:solidFill>
                <a:effectLst/>
                <a:uFillTx/>
                <a:latin typeface="Courier New"/>
                <a:ea typeface="Courier New"/>
              </a:rPr>
              <a:t>2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8"/>
          <p:cNvSpPr/>
          <p:nvPr/>
        </p:nvSpPr>
        <p:spPr>
          <a:xfrm>
            <a:off x="8561160" y="3237120"/>
            <a:ext cx="92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1295C"/>
                </a:solidFill>
                <a:effectLst/>
                <a:uFillTx/>
                <a:latin typeface="Courier New"/>
                <a:ea typeface="Courier New"/>
              </a:rPr>
              <a:t>Leo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9"/>
          <p:cNvSpPr/>
          <p:nvPr/>
        </p:nvSpPr>
        <p:spPr>
          <a:xfrm>
            <a:off x="9487080" y="3237120"/>
            <a:ext cx="92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1295C"/>
                </a:solidFill>
                <a:effectLst/>
                <a:uFillTx/>
                <a:latin typeface="Courier New"/>
                <a:ea typeface="Courier New"/>
              </a:rPr>
              <a:t>leo@mail.com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0"/>
          <p:cNvSpPr/>
          <p:nvPr/>
        </p:nvSpPr>
        <p:spPr>
          <a:xfrm>
            <a:off x="10412640" y="3237120"/>
            <a:ext cx="92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1295C"/>
                </a:solidFill>
                <a:effectLst/>
                <a:uFillTx/>
                <a:latin typeface="Courier New"/>
                <a:ea typeface="Courier New"/>
              </a:rPr>
              <a:t>2026-08-03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31"/>
          <p:cNvSpPr/>
          <p:nvPr/>
        </p:nvSpPr>
        <p:spPr>
          <a:xfrm>
            <a:off x="7635240" y="3620880"/>
            <a:ext cx="3702960" cy="383760"/>
          </a:xfrm>
          <a:prstGeom prst="rect">
            <a:avLst/>
          </a:prstGeom>
          <a:solidFill>
            <a:srgbClr val="FFFFFF"/>
          </a:solidFill>
          <a:ln w="6480">
            <a:solidFill>
              <a:srgbClr val="D7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2"/>
          <p:cNvSpPr/>
          <p:nvPr/>
        </p:nvSpPr>
        <p:spPr>
          <a:xfrm>
            <a:off x="7635240" y="3620880"/>
            <a:ext cx="92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1295C"/>
                </a:solidFill>
                <a:effectLst/>
                <a:uFillTx/>
                <a:latin typeface="Courier New"/>
                <a:ea typeface="Courier New"/>
              </a:rPr>
              <a:t>3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3"/>
          <p:cNvSpPr/>
          <p:nvPr/>
        </p:nvSpPr>
        <p:spPr>
          <a:xfrm>
            <a:off x="8561160" y="3620880"/>
            <a:ext cx="92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1295C"/>
                </a:solidFill>
                <a:effectLst/>
                <a:uFillTx/>
                <a:latin typeface="Courier New"/>
                <a:ea typeface="Courier New"/>
              </a:rPr>
              <a:t>Sol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4"/>
          <p:cNvSpPr/>
          <p:nvPr/>
        </p:nvSpPr>
        <p:spPr>
          <a:xfrm>
            <a:off x="9487080" y="3620880"/>
            <a:ext cx="92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1295C"/>
                </a:solidFill>
                <a:effectLst/>
                <a:uFillTx/>
                <a:latin typeface="Courier New"/>
                <a:ea typeface="Courier New"/>
              </a:rPr>
              <a:t>sol@mail.com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5"/>
          <p:cNvSpPr/>
          <p:nvPr/>
        </p:nvSpPr>
        <p:spPr>
          <a:xfrm>
            <a:off x="10412640" y="3620880"/>
            <a:ext cx="925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1295C"/>
                </a:solidFill>
                <a:effectLst/>
                <a:uFillTx/>
                <a:latin typeface="Courier New"/>
                <a:ea typeface="Courier New"/>
              </a:rPr>
              <a:t>2026-08-10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6"/>
          <p:cNvSpPr/>
          <p:nvPr/>
        </p:nvSpPr>
        <p:spPr>
          <a:xfrm>
            <a:off x="7635240" y="4142160"/>
            <a:ext cx="3702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↳ cada instancia de Usuario es una fila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548640" y="41148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Ventajas de usar un ORM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"/>
          <p:cNvSpPr/>
          <p:nvPr/>
        </p:nvSpPr>
        <p:spPr>
          <a:xfrm>
            <a:off x="548640" y="1783080"/>
            <a:ext cx="3611520" cy="1554120"/>
          </a:xfrm>
          <a:prstGeom prst="roundRect">
            <a:avLst>
              <a:gd name="adj" fmla="val 4706"/>
            </a:avLst>
          </a:prstGeom>
          <a:solidFill>
            <a:srgbClr val="E7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749880" y="1984320"/>
            <a:ext cx="383760" cy="383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749880" y="1984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749880" y="2441520"/>
            <a:ext cx="3209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Productividad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749880" y="2752200"/>
            <a:ext cx="3209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Menos SQL repetitivo: el CRUD básico se escribe en pocas líneas de código orientado a objetos.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4389120" y="1783080"/>
            <a:ext cx="3611520" cy="1554120"/>
          </a:xfrm>
          <a:prstGeom prst="roundRect">
            <a:avLst>
              <a:gd name="adj" fmla="val 4706"/>
            </a:avLst>
          </a:prstGeom>
          <a:solidFill>
            <a:srgbClr val="E7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7"/>
          <p:cNvSpPr/>
          <p:nvPr/>
        </p:nvSpPr>
        <p:spPr>
          <a:xfrm>
            <a:off x="4590360" y="1984320"/>
            <a:ext cx="383760" cy="383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4590360" y="1984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4590360" y="2441520"/>
            <a:ext cx="3209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Portabilidad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0"/>
          <p:cNvSpPr/>
          <p:nvPr/>
        </p:nvSpPr>
        <p:spPr>
          <a:xfrm>
            <a:off x="4590360" y="2752200"/>
            <a:ext cx="3209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El mismo código puede funcionar sobre distintos motores (PostgreSQL, MySQL, SQLite) con mínimos cambios.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1"/>
          <p:cNvSpPr/>
          <p:nvPr/>
        </p:nvSpPr>
        <p:spPr>
          <a:xfrm>
            <a:off x="8229600" y="1783080"/>
            <a:ext cx="3611520" cy="1554120"/>
          </a:xfrm>
          <a:prstGeom prst="roundRect">
            <a:avLst>
              <a:gd name="adj" fmla="val 4706"/>
            </a:avLst>
          </a:prstGeom>
          <a:solidFill>
            <a:srgbClr val="E7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2"/>
          <p:cNvSpPr/>
          <p:nvPr/>
        </p:nvSpPr>
        <p:spPr>
          <a:xfrm>
            <a:off x="8430840" y="1984320"/>
            <a:ext cx="383760" cy="383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3"/>
          <p:cNvSpPr/>
          <p:nvPr/>
        </p:nvSpPr>
        <p:spPr>
          <a:xfrm>
            <a:off x="8430840" y="1984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4"/>
          <p:cNvSpPr/>
          <p:nvPr/>
        </p:nvSpPr>
        <p:spPr>
          <a:xfrm>
            <a:off x="8430840" y="2441520"/>
            <a:ext cx="3209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Seguridad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5"/>
          <p:cNvSpPr/>
          <p:nvPr/>
        </p:nvSpPr>
        <p:spPr>
          <a:xfrm>
            <a:off x="8430840" y="2752200"/>
            <a:ext cx="3209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Genera consultas parametrizadas, reduciendo el riesgo de inyección SQL.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6"/>
          <p:cNvSpPr/>
          <p:nvPr/>
        </p:nvSpPr>
        <p:spPr>
          <a:xfrm>
            <a:off x="548640" y="3566160"/>
            <a:ext cx="3611520" cy="1554120"/>
          </a:xfrm>
          <a:prstGeom prst="roundRect">
            <a:avLst>
              <a:gd name="adj" fmla="val 4706"/>
            </a:avLst>
          </a:prstGeom>
          <a:solidFill>
            <a:srgbClr val="E7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7"/>
          <p:cNvSpPr/>
          <p:nvPr/>
        </p:nvSpPr>
        <p:spPr>
          <a:xfrm>
            <a:off x="749880" y="3767400"/>
            <a:ext cx="383760" cy="383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8"/>
          <p:cNvSpPr/>
          <p:nvPr/>
        </p:nvSpPr>
        <p:spPr>
          <a:xfrm>
            <a:off x="749880" y="3767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9"/>
          <p:cNvSpPr/>
          <p:nvPr/>
        </p:nvSpPr>
        <p:spPr>
          <a:xfrm>
            <a:off x="749880" y="4224600"/>
            <a:ext cx="3209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Mantenibilidad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0"/>
          <p:cNvSpPr/>
          <p:nvPr/>
        </p:nvSpPr>
        <p:spPr>
          <a:xfrm>
            <a:off x="749880" y="4535280"/>
            <a:ext cx="3209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El modelo de datos vive junto a la lógica del dominio, en el mismo lenguaje.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1"/>
          <p:cNvSpPr/>
          <p:nvPr/>
        </p:nvSpPr>
        <p:spPr>
          <a:xfrm>
            <a:off x="4389120" y="3566160"/>
            <a:ext cx="3611520" cy="1554120"/>
          </a:xfrm>
          <a:prstGeom prst="roundRect">
            <a:avLst>
              <a:gd name="adj" fmla="val 4706"/>
            </a:avLst>
          </a:prstGeom>
          <a:solidFill>
            <a:srgbClr val="E7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2"/>
          <p:cNvSpPr/>
          <p:nvPr/>
        </p:nvSpPr>
        <p:spPr>
          <a:xfrm>
            <a:off x="4590360" y="3767400"/>
            <a:ext cx="383760" cy="383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3"/>
          <p:cNvSpPr/>
          <p:nvPr/>
        </p:nvSpPr>
        <p:spPr>
          <a:xfrm>
            <a:off x="4590360" y="3767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4"/>
          <p:cNvSpPr/>
          <p:nvPr/>
        </p:nvSpPr>
        <p:spPr>
          <a:xfrm>
            <a:off x="4590360" y="4224600"/>
            <a:ext cx="3209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Migraciones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5"/>
          <p:cNvSpPr/>
          <p:nvPr/>
        </p:nvSpPr>
        <p:spPr>
          <a:xfrm>
            <a:off x="4590360" y="4535280"/>
            <a:ext cx="3209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Muchos ORMs versionan y aplican cambios de esquema de forma controlada.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6"/>
          <p:cNvSpPr/>
          <p:nvPr/>
        </p:nvSpPr>
        <p:spPr>
          <a:xfrm>
            <a:off x="8229600" y="3566160"/>
            <a:ext cx="3611520" cy="1554120"/>
          </a:xfrm>
          <a:prstGeom prst="roundRect">
            <a:avLst>
              <a:gd name="adj" fmla="val 4706"/>
            </a:avLst>
          </a:prstGeom>
          <a:solidFill>
            <a:srgbClr val="E7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7"/>
          <p:cNvSpPr/>
          <p:nvPr/>
        </p:nvSpPr>
        <p:spPr>
          <a:xfrm>
            <a:off x="8430840" y="3767400"/>
            <a:ext cx="383760" cy="3837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8"/>
          <p:cNvSpPr/>
          <p:nvPr/>
        </p:nvSpPr>
        <p:spPr>
          <a:xfrm>
            <a:off x="8430840" y="3767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9"/>
          <p:cNvSpPr/>
          <p:nvPr/>
        </p:nvSpPr>
        <p:spPr>
          <a:xfrm>
            <a:off x="8430840" y="4224600"/>
            <a:ext cx="3209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Menos boilerplate</a:t>
            </a:r>
            <a:endParaRPr lang="es-A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0"/>
          <p:cNvSpPr/>
          <p:nvPr/>
        </p:nvSpPr>
        <p:spPr>
          <a:xfrm>
            <a:off x="8430840" y="4535280"/>
            <a:ext cx="3209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Evita </a:t>
            </a:r>
            <a:r>
              <a:rPr lang="en-US" sz="1050" b="0" u="none" strike="noStrike" dirty="0" err="1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mapear</a:t>
            </a:r>
            <a:r>
              <a:rPr lang="en-US" sz="1050" b="0" u="none" strike="noStrike" dirty="0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050" b="0" u="none" strike="noStrike" dirty="0" err="1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manualmente</a:t>
            </a:r>
            <a:r>
              <a:rPr lang="en-US" sz="1050" b="0" u="none" strike="noStrike" dirty="0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050" b="0" u="none" strike="noStrike" dirty="0" err="1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resultados</a:t>
            </a:r>
            <a:r>
              <a:rPr lang="en-US" sz="1050" b="0" u="none" strike="noStrike" dirty="0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 de </a:t>
            </a:r>
            <a:r>
              <a:rPr lang="en-US" sz="1050" b="0" u="none" strike="noStrike" dirty="0" err="1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consultas</a:t>
            </a:r>
            <a:r>
              <a:rPr lang="en-US" sz="1050" b="0" u="none" strike="noStrike" dirty="0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 a </a:t>
            </a:r>
            <a:r>
              <a:rPr lang="en-US" sz="1050" b="0" u="none" strike="noStrike" dirty="0" err="1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objetos</a:t>
            </a:r>
            <a:r>
              <a:rPr lang="en-US" sz="1050" b="0" u="none" strike="noStrike" dirty="0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s-AR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548640" y="41148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 dirty="0" err="1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Desventajas</a:t>
            </a:r>
            <a:endParaRPr lang="es-AR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548640" y="1783080"/>
            <a:ext cx="3611520" cy="1554120"/>
          </a:xfrm>
          <a:prstGeom prst="roundRect">
            <a:avLst>
              <a:gd name="adj" fmla="val 4706"/>
            </a:avLst>
          </a:prstGeom>
          <a:solidFill>
            <a:srgbClr val="FBEF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"/>
          <p:cNvSpPr/>
          <p:nvPr/>
        </p:nvSpPr>
        <p:spPr>
          <a:xfrm>
            <a:off x="749880" y="1984320"/>
            <a:ext cx="383760" cy="383760"/>
          </a:xfrm>
          <a:prstGeom prst="ellipse">
            <a:avLst/>
          </a:prstGeom>
          <a:solidFill>
            <a:srgbClr val="B34D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749880" y="1984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749880" y="2441520"/>
            <a:ext cx="3209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Curva de aprendizaje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749880" y="2752200"/>
            <a:ext cx="3209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Dominar bien un ORM (y su comportamiento interno) toma tiempo.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7"/>
          <p:cNvSpPr/>
          <p:nvPr/>
        </p:nvSpPr>
        <p:spPr>
          <a:xfrm>
            <a:off x="4389120" y="1783080"/>
            <a:ext cx="3611520" cy="1554120"/>
          </a:xfrm>
          <a:prstGeom prst="roundRect">
            <a:avLst>
              <a:gd name="adj" fmla="val 4706"/>
            </a:avLst>
          </a:prstGeom>
          <a:solidFill>
            <a:srgbClr val="FBEF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8"/>
          <p:cNvSpPr/>
          <p:nvPr/>
        </p:nvSpPr>
        <p:spPr>
          <a:xfrm>
            <a:off x="4590360" y="1984320"/>
            <a:ext cx="383760" cy="383760"/>
          </a:xfrm>
          <a:prstGeom prst="ellipse">
            <a:avLst/>
          </a:prstGeom>
          <a:solidFill>
            <a:srgbClr val="B34D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9"/>
          <p:cNvSpPr/>
          <p:nvPr/>
        </p:nvSpPr>
        <p:spPr>
          <a:xfrm>
            <a:off x="4590360" y="1984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4590360" y="2441520"/>
            <a:ext cx="3209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Overhead de rendimiento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1"/>
          <p:cNvSpPr/>
          <p:nvPr/>
        </p:nvSpPr>
        <p:spPr>
          <a:xfrm>
            <a:off x="4590360" y="2752200"/>
            <a:ext cx="3209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Genera consultas menos optimizadas que SQL escrito a mano en casos exigentes.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2"/>
          <p:cNvSpPr/>
          <p:nvPr/>
        </p:nvSpPr>
        <p:spPr>
          <a:xfrm>
            <a:off x="8229600" y="1783080"/>
            <a:ext cx="3611520" cy="1554120"/>
          </a:xfrm>
          <a:prstGeom prst="roundRect">
            <a:avLst>
              <a:gd name="adj" fmla="val 4706"/>
            </a:avLst>
          </a:prstGeom>
          <a:solidFill>
            <a:srgbClr val="FBEF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3"/>
          <p:cNvSpPr/>
          <p:nvPr/>
        </p:nvSpPr>
        <p:spPr>
          <a:xfrm>
            <a:off x="8430840" y="1984320"/>
            <a:ext cx="383760" cy="383760"/>
          </a:xfrm>
          <a:prstGeom prst="ellipse">
            <a:avLst/>
          </a:prstGeom>
          <a:solidFill>
            <a:srgbClr val="B34D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4"/>
          <p:cNvSpPr/>
          <p:nvPr/>
        </p:nvSpPr>
        <p:spPr>
          <a:xfrm>
            <a:off x="8430840" y="1984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5"/>
          <p:cNvSpPr/>
          <p:nvPr/>
        </p:nvSpPr>
        <p:spPr>
          <a:xfrm>
            <a:off x="8430840" y="2441520"/>
            <a:ext cx="3209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Consultas complejas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6"/>
          <p:cNvSpPr/>
          <p:nvPr/>
        </p:nvSpPr>
        <p:spPr>
          <a:xfrm>
            <a:off x="8430840" y="2752200"/>
            <a:ext cx="3209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Reportes, agregaciones y analítica avanzada suelen ser incómodos de expresar.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7"/>
          <p:cNvSpPr/>
          <p:nvPr/>
        </p:nvSpPr>
        <p:spPr>
          <a:xfrm>
            <a:off x="548640" y="3566160"/>
            <a:ext cx="3611520" cy="1554120"/>
          </a:xfrm>
          <a:prstGeom prst="roundRect">
            <a:avLst>
              <a:gd name="adj" fmla="val 4706"/>
            </a:avLst>
          </a:prstGeom>
          <a:solidFill>
            <a:srgbClr val="FBEF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8"/>
          <p:cNvSpPr/>
          <p:nvPr/>
        </p:nvSpPr>
        <p:spPr>
          <a:xfrm>
            <a:off x="749880" y="3767400"/>
            <a:ext cx="383760" cy="383760"/>
          </a:xfrm>
          <a:prstGeom prst="ellipse">
            <a:avLst/>
          </a:prstGeom>
          <a:solidFill>
            <a:srgbClr val="B34D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9"/>
          <p:cNvSpPr/>
          <p:nvPr/>
        </p:nvSpPr>
        <p:spPr>
          <a:xfrm>
            <a:off x="749880" y="3767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0"/>
          <p:cNvSpPr/>
          <p:nvPr/>
        </p:nvSpPr>
        <p:spPr>
          <a:xfrm>
            <a:off x="749880" y="4224600"/>
            <a:ext cx="3209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Abstracción con fugas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1"/>
          <p:cNvSpPr/>
          <p:nvPr/>
        </p:nvSpPr>
        <p:spPr>
          <a:xfrm>
            <a:off x="749880" y="4535280"/>
            <a:ext cx="3209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"Leaky abstraction": tarde o temprano hay que entender el SQL que se genera.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2"/>
          <p:cNvSpPr/>
          <p:nvPr/>
        </p:nvSpPr>
        <p:spPr>
          <a:xfrm>
            <a:off x="4389120" y="3566160"/>
            <a:ext cx="3611520" cy="1554120"/>
          </a:xfrm>
          <a:prstGeom prst="roundRect">
            <a:avLst>
              <a:gd name="adj" fmla="val 4706"/>
            </a:avLst>
          </a:prstGeom>
          <a:solidFill>
            <a:srgbClr val="FBEF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3"/>
          <p:cNvSpPr/>
          <p:nvPr/>
        </p:nvSpPr>
        <p:spPr>
          <a:xfrm>
            <a:off x="4590360" y="3767400"/>
            <a:ext cx="383760" cy="383760"/>
          </a:xfrm>
          <a:prstGeom prst="ellipse">
            <a:avLst/>
          </a:prstGeom>
          <a:solidFill>
            <a:srgbClr val="B34D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4"/>
          <p:cNvSpPr/>
          <p:nvPr/>
        </p:nvSpPr>
        <p:spPr>
          <a:xfrm>
            <a:off x="4590360" y="3767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5"/>
          <p:cNvSpPr/>
          <p:nvPr/>
        </p:nvSpPr>
        <p:spPr>
          <a:xfrm>
            <a:off x="4590360" y="4224600"/>
            <a:ext cx="3209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Problema N+1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6"/>
          <p:cNvSpPr/>
          <p:nvPr/>
        </p:nvSpPr>
        <p:spPr>
          <a:xfrm>
            <a:off x="4590360" y="4535280"/>
            <a:ext cx="3209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Un patrón de acceso mal escrito puede disparar cientos de consultas innecesarias.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7"/>
          <p:cNvSpPr/>
          <p:nvPr/>
        </p:nvSpPr>
        <p:spPr>
          <a:xfrm>
            <a:off x="8229600" y="3566160"/>
            <a:ext cx="3611520" cy="1554120"/>
          </a:xfrm>
          <a:prstGeom prst="roundRect">
            <a:avLst>
              <a:gd name="adj" fmla="val 4706"/>
            </a:avLst>
          </a:prstGeom>
          <a:solidFill>
            <a:srgbClr val="FBEF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8"/>
          <p:cNvSpPr/>
          <p:nvPr/>
        </p:nvSpPr>
        <p:spPr>
          <a:xfrm>
            <a:off x="8430840" y="3767400"/>
            <a:ext cx="383760" cy="383760"/>
          </a:xfrm>
          <a:prstGeom prst="ellipse">
            <a:avLst/>
          </a:prstGeom>
          <a:solidFill>
            <a:srgbClr val="B34D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9"/>
          <p:cNvSpPr/>
          <p:nvPr/>
        </p:nvSpPr>
        <p:spPr>
          <a:xfrm>
            <a:off x="8430840" y="3767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!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0"/>
          <p:cNvSpPr/>
          <p:nvPr/>
        </p:nvSpPr>
        <p:spPr>
          <a:xfrm>
            <a:off x="8430840" y="4224600"/>
            <a:ext cx="3209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Menos control fino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1"/>
          <p:cNvSpPr/>
          <p:nvPr/>
        </p:nvSpPr>
        <p:spPr>
          <a:xfrm>
            <a:off x="8430840" y="4535280"/>
            <a:ext cx="3209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Índices, hints y optimizaciones específicas del motor son más difíciles de aplicar.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548640" y="41148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Dos patrones de diseño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548640" y="1024200"/>
            <a:ext cx="11091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Active Record vs. Data Mapper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548640" y="1828800"/>
            <a:ext cx="5120280" cy="3931560"/>
          </a:xfrm>
          <a:prstGeom prst="roundRect">
            <a:avLst>
              <a:gd name="adj" fmla="val 1860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548640" y="205740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Active Record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548640" y="242316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El objeto sabe cómo persistirse a sí mismo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5"/>
          <p:cNvSpPr/>
          <p:nvPr/>
        </p:nvSpPr>
        <p:spPr>
          <a:xfrm>
            <a:off x="822960" y="2926080"/>
            <a:ext cx="4571640" cy="914040"/>
          </a:xfrm>
          <a:prstGeom prst="roundRect">
            <a:avLst>
              <a:gd name="adj" fmla="val 6000"/>
            </a:avLst>
          </a:prstGeom>
          <a:solidFill>
            <a:srgbClr val="1321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6"/>
          <p:cNvSpPr/>
          <p:nvPr/>
        </p:nvSpPr>
        <p:spPr>
          <a:xfrm>
            <a:off x="1005840" y="303588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usuario.save()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1005840" y="331920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usuario.delete()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8"/>
          <p:cNvSpPr/>
          <p:nvPr/>
        </p:nvSpPr>
        <p:spPr>
          <a:xfrm>
            <a:off x="1005840" y="360288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Usuario.find(id)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822960" y="402336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Ejemplos: Ruby on Rails ActiveRecord, Django ORM, Laravel Eloquent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822960" y="4846320"/>
            <a:ext cx="4571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Simple y directo, pero mezcla lógica de negocio con persistencia.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1"/>
          <p:cNvSpPr/>
          <p:nvPr/>
        </p:nvSpPr>
        <p:spPr>
          <a:xfrm>
            <a:off x="6492240" y="1828800"/>
            <a:ext cx="5120280" cy="3931560"/>
          </a:xfrm>
          <a:prstGeom prst="roundRect">
            <a:avLst>
              <a:gd name="adj" fmla="val 1860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2"/>
          <p:cNvSpPr/>
          <p:nvPr/>
        </p:nvSpPr>
        <p:spPr>
          <a:xfrm>
            <a:off x="6492240" y="205740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Data Mapper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3"/>
          <p:cNvSpPr/>
          <p:nvPr/>
        </p:nvSpPr>
        <p:spPr>
          <a:xfrm>
            <a:off x="6492240" y="242316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La persistencia vive separada del objeto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4"/>
          <p:cNvSpPr/>
          <p:nvPr/>
        </p:nvSpPr>
        <p:spPr>
          <a:xfrm>
            <a:off x="6766560" y="2926080"/>
            <a:ext cx="4571640" cy="914040"/>
          </a:xfrm>
          <a:prstGeom prst="roundRect">
            <a:avLst>
              <a:gd name="adj" fmla="val 6000"/>
            </a:avLst>
          </a:prstGeom>
          <a:solidFill>
            <a:srgbClr val="1321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5"/>
          <p:cNvSpPr/>
          <p:nvPr/>
        </p:nvSpPr>
        <p:spPr>
          <a:xfrm>
            <a:off x="6949440" y="303588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session.add(usuario)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6"/>
          <p:cNvSpPr/>
          <p:nvPr/>
        </p:nvSpPr>
        <p:spPr>
          <a:xfrm>
            <a:off x="6949440" y="331920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session.delete(usuario)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7"/>
          <p:cNvSpPr/>
          <p:nvPr/>
        </p:nvSpPr>
        <p:spPr>
          <a:xfrm>
            <a:off x="6949440" y="3602880"/>
            <a:ext cx="4205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session.query(Usuario)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8"/>
          <p:cNvSpPr/>
          <p:nvPr/>
        </p:nvSpPr>
        <p:spPr>
          <a:xfrm>
            <a:off x="6766560" y="402336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Ejemplos: SQLAlchemy, Hibernate / JPA, Doctrine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9"/>
          <p:cNvSpPr/>
          <p:nvPr/>
        </p:nvSpPr>
        <p:spPr>
          <a:xfrm>
            <a:off x="6766560" y="4846320"/>
            <a:ext cx="4571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Objetos de dominio más puros; requiere una capa extra (mapper/session).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548640" y="41148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ORMs populares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548640" y="1783080"/>
            <a:ext cx="3611520" cy="137124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777240" y="198432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Python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777240" y="246888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AF3F8"/>
                </a:solidFill>
                <a:effectLst/>
                <a:uFillTx/>
                <a:latin typeface="Courier New"/>
                <a:ea typeface="Courier New"/>
              </a:rPr>
              <a:t>SQLAlchemy · Django ORM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5"/>
          <p:cNvSpPr/>
          <p:nvPr/>
        </p:nvSpPr>
        <p:spPr>
          <a:xfrm>
            <a:off x="4389120" y="1783080"/>
            <a:ext cx="3611520" cy="137124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4617720" y="198432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Java / Kotlin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4617720" y="246888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AF3F8"/>
                </a:solidFill>
                <a:effectLst/>
                <a:uFillTx/>
                <a:latin typeface="Courier New"/>
                <a:ea typeface="Courier New"/>
              </a:rPr>
              <a:t>Hibernate · JPA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8"/>
          <p:cNvSpPr/>
          <p:nvPr/>
        </p:nvSpPr>
        <p:spPr>
          <a:xfrm>
            <a:off x="8229600" y="1783080"/>
            <a:ext cx="3611520" cy="137124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9"/>
          <p:cNvSpPr/>
          <p:nvPr/>
        </p:nvSpPr>
        <p:spPr>
          <a:xfrm>
            <a:off x="8458200" y="198432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.NET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0"/>
          <p:cNvSpPr/>
          <p:nvPr/>
        </p:nvSpPr>
        <p:spPr>
          <a:xfrm>
            <a:off x="8458200" y="246888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AF3F8"/>
                </a:solidFill>
                <a:effectLst/>
                <a:uFillTx/>
                <a:latin typeface="Courier New"/>
                <a:ea typeface="Courier New"/>
              </a:rPr>
              <a:t>Entity Framework Core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1"/>
          <p:cNvSpPr/>
          <p:nvPr/>
        </p:nvSpPr>
        <p:spPr>
          <a:xfrm>
            <a:off x="548640" y="3383280"/>
            <a:ext cx="3611520" cy="137124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777240" y="358452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JavaScript / TS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3"/>
          <p:cNvSpPr/>
          <p:nvPr/>
        </p:nvSpPr>
        <p:spPr>
          <a:xfrm>
            <a:off x="777240" y="406908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AF3F8"/>
                </a:solidFill>
                <a:effectLst/>
                <a:uFillTx/>
                <a:latin typeface="Courier New"/>
                <a:ea typeface="Courier New"/>
              </a:rPr>
              <a:t>Prisma · TypeORM · Sequelize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4"/>
          <p:cNvSpPr/>
          <p:nvPr/>
        </p:nvSpPr>
        <p:spPr>
          <a:xfrm>
            <a:off x="4389120" y="3383280"/>
            <a:ext cx="3611520" cy="137124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5"/>
          <p:cNvSpPr/>
          <p:nvPr/>
        </p:nvSpPr>
        <p:spPr>
          <a:xfrm>
            <a:off x="4617720" y="358452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Ruby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6"/>
          <p:cNvSpPr/>
          <p:nvPr/>
        </p:nvSpPr>
        <p:spPr>
          <a:xfrm>
            <a:off x="4617720" y="406908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AF3F8"/>
                </a:solidFill>
                <a:effectLst/>
                <a:uFillTx/>
                <a:latin typeface="Courier New"/>
                <a:ea typeface="Courier New"/>
              </a:rPr>
              <a:t>Active Record (Rails)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7"/>
          <p:cNvSpPr/>
          <p:nvPr/>
        </p:nvSpPr>
        <p:spPr>
          <a:xfrm>
            <a:off x="8229600" y="3383280"/>
            <a:ext cx="3611520" cy="137124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8"/>
          <p:cNvSpPr/>
          <p:nvPr/>
        </p:nvSpPr>
        <p:spPr>
          <a:xfrm>
            <a:off x="8458200" y="3584520"/>
            <a:ext cx="3154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PHP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9"/>
          <p:cNvSpPr/>
          <p:nvPr/>
        </p:nvSpPr>
        <p:spPr>
          <a:xfrm>
            <a:off x="8458200" y="4069080"/>
            <a:ext cx="31543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AF3F8"/>
                </a:solidFill>
                <a:effectLst/>
                <a:uFillTx/>
                <a:latin typeface="Courier New"/>
                <a:ea typeface="Courier New"/>
              </a:rPr>
              <a:t>Eloquent (Laravel) · Doctrine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 0"/>
          <p:cNvSpPr/>
          <p:nvPr/>
        </p:nvSpPr>
        <p:spPr>
          <a:xfrm>
            <a:off x="548640" y="41148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Code First vs. Database First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548640" y="1024200"/>
            <a:ext cx="11091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Dos puntos de partida distintos para modelar con un ORM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"/>
          <p:cNvSpPr/>
          <p:nvPr/>
        </p:nvSpPr>
        <p:spPr>
          <a:xfrm>
            <a:off x="548640" y="1828800"/>
            <a:ext cx="5120280" cy="3977280"/>
          </a:xfrm>
          <a:prstGeom prst="roundRect">
            <a:avLst>
              <a:gd name="adj" fmla="val 1839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"/>
          <p:cNvSpPr/>
          <p:nvPr/>
        </p:nvSpPr>
        <p:spPr>
          <a:xfrm>
            <a:off x="548640" y="203004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Code First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4"/>
          <p:cNvSpPr/>
          <p:nvPr/>
        </p:nvSpPr>
        <p:spPr>
          <a:xfrm>
            <a:off x="548640" y="239580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El código manda: la base se genera a partir de las clases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5"/>
          <p:cNvSpPr/>
          <p:nvPr/>
        </p:nvSpPr>
        <p:spPr>
          <a:xfrm>
            <a:off x="822960" y="2853000"/>
            <a:ext cx="4571640" cy="1051200"/>
          </a:xfrm>
          <a:prstGeom prst="roundRect">
            <a:avLst>
              <a:gd name="adj" fmla="val 5217"/>
            </a:avLst>
          </a:prstGeom>
          <a:solidFill>
            <a:srgbClr val="1321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6"/>
          <p:cNvSpPr/>
          <p:nvPr/>
        </p:nvSpPr>
        <p:spPr>
          <a:xfrm>
            <a:off x="1005840" y="2962800"/>
            <a:ext cx="4205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C7E8"/>
                </a:solidFill>
                <a:effectLst/>
                <a:uFillTx/>
                <a:latin typeface="Courier New"/>
                <a:ea typeface="Courier New"/>
              </a:rPr>
              <a:t>class Usuario { ... }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7"/>
          <p:cNvSpPr/>
          <p:nvPr/>
        </p:nvSpPr>
        <p:spPr>
          <a:xfrm>
            <a:off x="1005840" y="3209400"/>
            <a:ext cx="4205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 8"/>
          <p:cNvSpPr/>
          <p:nvPr/>
        </p:nvSpPr>
        <p:spPr>
          <a:xfrm>
            <a:off x="1005840" y="3348360"/>
            <a:ext cx="4205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dotnet ef migrations add Init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9"/>
          <p:cNvSpPr/>
          <p:nvPr/>
        </p:nvSpPr>
        <p:spPr>
          <a:xfrm>
            <a:off x="1005840" y="3595320"/>
            <a:ext cx="4205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dotnet ef database update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0"/>
          <p:cNvSpPr/>
          <p:nvPr/>
        </p:nvSpPr>
        <p:spPr>
          <a:xfrm>
            <a:off x="822960" y="404172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Definís las clases en tu lenguaje y el ORM crea (y versiona) el esquema por vos, vía migraciones.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1"/>
          <p:cNvSpPr/>
          <p:nvPr/>
        </p:nvSpPr>
        <p:spPr>
          <a:xfrm>
            <a:off x="822960" y="475488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Ideal para proyectos nuevos (greenfield), donde el modelo de dominio es la fuente de verdad.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2"/>
          <p:cNvSpPr/>
          <p:nvPr/>
        </p:nvSpPr>
        <p:spPr>
          <a:xfrm>
            <a:off x="6492240" y="1828800"/>
            <a:ext cx="5120280" cy="3977280"/>
          </a:xfrm>
          <a:prstGeom prst="roundRect">
            <a:avLst>
              <a:gd name="adj" fmla="val 1839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3"/>
          <p:cNvSpPr/>
          <p:nvPr/>
        </p:nvSpPr>
        <p:spPr>
          <a:xfrm>
            <a:off x="6492240" y="203004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Database First</a:t>
            </a:r>
            <a:endParaRPr lang="es-A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4"/>
          <p:cNvSpPr/>
          <p:nvPr/>
        </p:nvSpPr>
        <p:spPr>
          <a:xfrm>
            <a:off x="6492240" y="239580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La base manda: las clases se generan a partir del esquema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5"/>
          <p:cNvSpPr/>
          <p:nvPr/>
        </p:nvSpPr>
        <p:spPr>
          <a:xfrm>
            <a:off x="6766560" y="2853000"/>
            <a:ext cx="4571640" cy="1051200"/>
          </a:xfrm>
          <a:prstGeom prst="roundRect">
            <a:avLst>
              <a:gd name="adj" fmla="val 5217"/>
            </a:avLst>
          </a:prstGeom>
          <a:solidFill>
            <a:srgbClr val="1321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6"/>
          <p:cNvSpPr/>
          <p:nvPr/>
        </p:nvSpPr>
        <p:spPr>
          <a:xfrm>
            <a:off x="6949440" y="2962800"/>
            <a:ext cx="4205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C7E8"/>
                </a:solidFill>
                <a:effectLst/>
                <a:uFillTx/>
                <a:latin typeface="Courier New"/>
                <a:ea typeface="Courier New"/>
              </a:rPr>
              <a:t>-- esquema ya existente --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7"/>
          <p:cNvSpPr/>
          <p:nvPr/>
        </p:nvSpPr>
        <p:spPr>
          <a:xfrm>
            <a:off x="6949440" y="3209400"/>
            <a:ext cx="4205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 18"/>
          <p:cNvSpPr/>
          <p:nvPr/>
        </p:nvSpPr>
        <p:spPr>
          <a:xfrm>
            <a:off x="6949440" y="3348360"/>
            <a:ext cx="4205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dotnet ef dbcontext scaffold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9"/>
          <p:cNvSpPr/>
          <p:nvPr/>
        </p:nvSpPr>
        <p:spPr>
          <a:xfrm>
            <a:off x="6949440" y="3595320"/>
            <a:ext cx="4205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  &lt;conexión&gt; &lt;proveedor&gt;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0"/>
          <p:cNvSpPr/>
          <p:nvPr/>
        </p:nvSpPr>
        <p:spPr>
          <a:xfrm>
            <a:off x="6766560" y="404172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El ORM </a:t>
            </a:r>
            <a:r>
              <a:rPr lang="en-US" sz="1100" b="0" u="none" strike="noStrike" dirty="0" err="1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inspecciona</a:t>
            </a:r>
            <a:r>
              <a:rPr lang="en-US" sz="1100" b="0" u="none" strike="noStrike" dirty="0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0" u="none" strike="noStrike" dirty="0" err="1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una</a:t>
            </a:r>
            <a:r>
              <a:rPr lang="en-US" sz="1100" b="0" u="none" strike="noStrike" dirty="0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 base </a:t>
            </a:r>
            <a:r>
              <a:rPr lang="en-US" sz="1100" b="0" u="none" strike="noStrike" dirty="0" err="1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ya</a:t>
            </a:r>
            <a:r>
              <a:rPr lang="en-US" sz="1100" b="0" u="none" strike="noStrike" dirty="0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0" u="none" strike="noStrike" dirty="0" err="1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existente</a:t>
            </a:r>
            <a:r>
              <a:rPr lang="en-US" sz="1100" b="0" u="none" strike="noStrike" dirty="0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 y genera ("scaffolding") las </a:t>
            </a:r>
            <a:r>
              <a:rPr lang="en-US" sz="1100" b="0" u="none" strike="noStrike" dirty="0" err="1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clases</a:t>
            </a:r>
            <a:r>
              <a:rPr lang="en-US" sz="1100" b="0" u="none" strike="noStrike" dirty="0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 del </a:t>
            </a:r>
            <a:r>
              <a:rPr lang="en-US" sz="1100" b="0" u="none" strike="noStrike" dirty="0" err="1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modelo</a:t>
            </a:r>
            <a:r>
              <a:rPr lang="en-US" sz="1100" b="0" u="none" strike="noStrike" dirty="0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0" u="none" strike="noStrike" dirty="0" err="1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automáticamente</a:t>
            </a:r>
            <a:r>
              <a:rPr lang="en-US" sz="1100" b="0" u="none" strike="noStrike" dirty="0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s-AR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1"/>
          <p:cNvSpPr/>
          <p:nvPr/>
        </p:nvSpPr>
        <p:spPr>
          <a:xfrm>
            <a:off x="6766560" y="475488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Ideal para bases legacy, bases compartidas entre equipos, o esquemas administrados por un DBA.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0"/>
          <p:cNvSpPr/>
          <p:nvPr/>
        </p:nvSpPr>
        <p:spPr>
          <a:xfrm>
            <a:off x="548640" y="41148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Entity Framework en profundidad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"/>
          <p:cNvSpPr/>
          <p:nvPr/>
        </p:nvSpPr>
        <p:spPr>
          <a:xfrm>
            <a:off x="548640" y="1737360"/>
            <a:ext cx="11091240" cy="868320"/>
          </a:xfrm>
          <a:prstGeom prst="roundRect">
            <a:avLst>
              <a:gd name="adj" fmla="val 8421"/>
            </a:avLst>
          </a:prstGeom>
          <a:solidFill>
            <a:srgbClr val="E7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3"/>
          <p:cNvSpPr/>
          <p:nvPr/>
        </p:nvSpPr>
        <p:spPr>
          <a:xfrm>
            <a:off x="868680" y="1737360"/>
            <a:ext cx="104511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Entity Framework (EF Core)</a:t>
            </a:r>
            <a:r>
              <a:rPr lang="en-US" sz="13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es el ORM oficial de .NET. Sigue el patrón Data Mapper: un DbContext representa la sesión con la base, y cada DbSet&lt;T&gt; expone una tabla como una colección consultable con LINQ.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4"/>
          <p:cNvSpPr/>
          <p:nvPr/>
        </p:nvSpPr>
        <p:spPr>
          <a:xfrm>
            <a:off x="548640" y="2880360"/>
            <a:ext cx="5394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Piezas clave</a:t>
            </a:r>
            <a:endParaRPr lang="es-A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5"/>
          <p:cNvSpPr/>
          <p:nvPr/>
        </p:nvSpPr>
        <p:spPr>
          <a:xfrm>
            <a:off x="548640" y="3346560"/>
            <a:ext cx="118440" cy="1184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6"/>
          <p:cNvSpPr/>
          <p:nvPr/>
        </p:nvSpPr>
        <p:spPr>
          <a:xfrm>
            <a:off x="822960" y="3209400"/>
            <a:ext cx="5120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DbContext — </a:t>
            </a:r>
            <a:r>
              <a:rPr lang="en-US" sz="11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La sesión activa contra la base de datos.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7"/>
          <p:cNvSpPr/>
          <p:nvPr/>
        </p:nvSpPr>
        <p:spPr>
          <a:xfrm>
            <a:off x="548640" y="3877200"/>
            <a:ext cx="118440" cy="1184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8"/>
          <p:cNvSpPr/>
          <p:nvPr/>
        </p:nvSpPr>
        <p:spPr>
          <a:xfrm>
            <a:off x="822960" y="3740040"/>
            <a:ext cx="5120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DbSet&lt;T&gt; — </a:t>
            </a:r>
            <a:r>
              <a:rPr lang="en-US" sz="11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Cada tabla, expuesta como colección de objetos.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9"/>
          <p:cNvSpPr/>
          <p:nvPr/>
        </p:nvSpPr>
        <p:spPr>
          <a:xfrm>
            <a:off x="548640" y="4407480"/>
            <a:ext cx="118440" cy="1184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0"/>
          <p:cNvSpPr/>
          <p:nvPr/>
        </p:nvSpPr>
        <p:spPr>
          <a:xfrm>
            <a:off x="822960" y="4270320"/>
            <a:ext cx="5120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LINQ to Entities — </a:t>
            </a:r>
            <a:r>
              <a:rPr lang="en-US" sz="11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Consultas escritas en C# nativo, no en SQL.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1"/>
          <p:cNvSpPr/>
          <p:nvPr/>
        </p:nvSpPr>
        <p:spPr>
          <a:xfrm>
            <a:off x="548640" y="4937760"/>
            <a:ext cx="118440" cy="1184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2"/>
          <p:cNvSpPr/>
          <p:nvPr/>
        </p:nvSpPr>
        <p:spPr>
          <a:xfrm>
            <a:off x="822960" y="4800600"/>
            <a:ext cx="5120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Migrations — </a:t>
            </a:r>
            <a:r>
              <a:rPr lang="en-US" sz="11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dotnet ef migrations add / database update.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3"/>
          <p:cNvSpPr/>
          <p:nvPr/>
        </p:nvSpPr>
        <p:spPr>
          <a:xfrm>
            <a:off x="548640" y="5468040"/>
            <a:ext cx="118440" cy="1184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8880" rIns="90000" bIns="3888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4"/>
          <p:cNvSpPr/>
          <p:nvPr/>
        </p:nvSpPr>
        <p:spPr>
          <a:xfrm>
            <a:off x="822960" y="5330880"/>
            <a:ext cx="5120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dirty="0" err="1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Proveedores</a:t>
            </a:r>
            <a:r>
              <a:rPr lang="en-US" sz="1150" b="1" u="none" strike="noStrike" dirty="0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 — </a:t>
            </a:r>
            <a:r>
              <a:rPr lang="en-US" sz="115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SQL Server, PostgreSQL, SQLite, MySQL, etc.</a:t>
            </a:r>
            <a:endParaRPr lang="es-AR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5"/>
          <p:cNvSpPr/>
          <p:nvPr/>
        </p:nvSpPr>
        <p:spPr>
          <a:xfrm>
            <a:off x="6263640" y="2788920"/>
            <a:ext cx="5394600" cy="3337200"/>
          </a:xfrm>
          <a:prstGeom prst="roundRect">
            <a:avLst>
              <a:gd name="adj" fmla="val 2192"/>
            </a:avLst>
          </a:prstGeom>
          <a:solidFill>
            <a:srgbClr val="1321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6"/>
          <p:cNvSpPr/>
          <p:nvPr/>
        </p:nvSpPr>
        <p:spPr>
          <a:xfrm>
            <a:off x="6537960" y="2971800"/>
            <a:ext cx="48459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FA3C9"/>
                </a:solidFill>
                <a:effectLst/>
                <a:uFillTx/>
                <a:latin typeface="Calibri"/>
                <a:ea typeface="Calibri"/>
              </a:rPr>
              <a:t>C# — modelo y consulta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7"/>
          <p:cNvSpPr/>
          <p:nvPr/>
        </p:nvSpPr>
        <p:spPr>
          <a:xfrm>
            <a:off x="6537960" y="3319200"/>
            <a:ext cx="4845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C7E8"/>
                </a:solidFill>
                <a:effectLst/>
                <a:uFillTx/>
                <a:latin typeface="Courier New"/>
                <a:ea typeface="Courier New"/>
              </a:rPr>
              <a:t>public class AppDbContext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8"/>
          <p:cNvSpPr/>
          <p:nvPr/>
        </p:nvSpPr>
        <p:spPr>
          <a:xfrm>
            <a:off x="6537960" y="3561480"/>
            <a:ext cx="4845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C7E8"/>
                </a:solidFill>
                <a:effectLst/>
                <a:uFillTx/>
                <a:latin typeface="Courier New"/>
                <a:ea typeface="Courier New"/>
              </a:rPr>
              <a:t>  : DbContext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19"/>
          <p:cNvSpPr/>
          <p:nvPr/>
        </p:nvSpPr>
        <p:spPr>
          <a:xfrm>
            <a:off x="6537960" y="3803760"/>
            <a:ext cx="4845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{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0"/>
          <p:cNvSpPr/>
          <p:nvPr/>
        </p:nvSpPr>
        <p:spPr>
          <a:xfrm>
            <a:off x="6537960" y="4046400"/>
            <a:ext cx="4845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  public DbSet&lt;Usuario&gt;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21"/>
          <p:cNvSpPr/>
          <p:nvPr/>
        </p:nvSpPr>
        <p:spPr>
          <a:xfrm>
            <a:off x="6537960" y="4288680"/>
            <a:ext cx="4845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    Usuarios { get; set; }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2"/>
          <p:cNvSpPr/>
          <p:nvPr/>
        </p:nvSpPr>
        <p:spPr>
          <a:xfrm>
            <a:off x="6537960" y="4530960"/>
            <a:ext cx="4845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3"/>
          <p:cNvSpPr/>
          <p:nvPr/>
        </p:nvSpPr>
        <p:spPr>
          <a:xfrm>
            <a:off x="6537960" y="4773240"/>
            <a:ext cx="4845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 24"/>
          <p:cNvSpPr/>
          <p:nvPr/>
        </p:nvSpPr>
        <p:spPr>
          <a:xfrm>
            <a:off x="6537960" y="5015520"/>
            <a:ext cx="4845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var mayores = context.Usuarios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25"/>
          <p:cNvSpPr/>
          <p:nvPr/>
        </p:nvSpPr>
        <p:spPr>
          <a:xfrm>
            <a:off x="6537960" y="5257800"/>
            <a:ext cx="4845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  .Where(u =&gt; u.Edad &gt; 18)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26"/>
          <p:cNvSpPr/>
          <p:nvPr/>
        </p:nvSpPr>
        <p:spPr>
          <a:xfrm>
            <a:off x="6537960" y="5500080"/>
            <a:ext cx="4845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  .OrderBy(u =&gt; u.Nombre)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27"/>
          <p:cNvSpPr/>
          <p:nvPr/>
        </p:nvSpPr>
        <p:spPr>
          <a:xfrm>
            <a:off x="6537960" y="5742360"/>
            <a:ext cx="4845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  .ToList();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 0"/>
          <p:cNvSpPr/>
          <p:nvPr/>
        </p:nvSpPr>
        <p:spPr>
          <a:xfrm>
            <a:off x="548640" y="41148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El mismo pedido, dos caminos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2"/>
          <p:cNvSpPr/>
          <p:nvPr/>
        </p:nvSpPr>
        <p:spPr>
          <a:xfrm>
            <a:off x="548640" y="1828800"/>
            <a:ext cx="5348880" cy="3931560"/>
          </a:xfrm>
          <a:prstGeom prst="roundRect">
            <a:avLst>
              <a:gd name="adj" fmla="val 1860"/>
            </a:avLst>
          </a:prstGeom>
          <a:solidFill>
            <a:srgbClr val="1321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3"/>
          <p:cNvSpPr/>
          <p:nvPr/>
        </p:nvSpPr>
        <p:spPr>
          <a:xfrm>
            <a:off x="822960" y="2030040"/>
            <a:ext cx="4800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FA3C9"/>
                </a:solidFill>
                <a:effectLst/>
                <a:uFillTx/>
                <a:latin typeface="Calibri"/>
                <a:ea typeface="Calibri"/>
              </a:rPr>
              <a:t>SQL crudo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4"/>
          <p:cNvSpPr/>
          <p:nvPr/>
        </p:nvSpPr>
        <p:spPr>
          <a:xfrm>
            <a:off x="822960" y="251460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C7E8"/>
                </a:solidFill>
                <a:effectLst/>
                <a:uFillTx/>
                <a:latin typeface="Courier New"/>
                <a:ea typeface="Courier New"/>
              </a:rPr>
              <a:t>SELECT u.nombre, u.email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5"/>
          <p:cNvSpPr/>
          <p:nvPr/>
        </p:nvSpPr>
        <p:spPr>
          <a:xfrm>
            <a:off x="822960" y="289872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C7E8"/>
                </a:solidFill>
                <a:effectLst/>
                <a:uFillTx/>
                <a:latin typeface="Courier New"/>
                <a:ea typeface="Courier New"/>
              </a:rPr>
              <a:t>FROM usuarios u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6"/>
          <p:cNvSpPr/>
          <p:nvPr/>
        </p:nvSpPr>
        <p:spPr>
          <a:xfrm>
            <a:off x="822960" y="328284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C7E8"/>
                </a:solidFill>
                <a:effectLst/>
                <a:uFillTx/>
                <a:latin typeface="Courier New"/>
                <a:ea typeface="Courier New"/>
              </a:rPr>
              <a:t>JOIN pedidos p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7"/>
          <p:cNvSpPr/>
          <p:nvPr/>
        </p:nvSpPr>
        <p:spPr>
          <a:xfrm>
            <a:off x="822960" y="366660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C7E8"/>
                </a:solidFill>
                <a:effectLst/>
                <a:uFillTx/>
                <a:latin typeface="Courier New"/>
                <a:ea typeface="Courier New"/>
              </a:rPr>
              <a:t>  ON p.usuario_id = u.id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8"/>
          <p:cNvSpPr/>
          <p:nvPr/>
        </p:nvSpPr>
        <p:spPr>
          <a:xfrm>
            <a:off x="822960" y="405072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C7E8"/>
                </a:solidFill>
                <a:effectLst/>
                <a:uFillTx/>
                <a:latin typeface="Courier New"/>
                <a:ea typeface="Courier New"/>
              </a:rPr>
              <a:t>WHERE p.total &gt; 100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9"/>
          <p:cNvSpPr/>
          <p:nvPr/>
        </p:nvSpPr>
        <p:spPr>
          <a:xfrm>
            <a:off x="822960" y="443484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C7E8"/>
                </a:solidFill>
                <a:effectLst/>
                <a:uFillTx/>
                <a:latin typeface="Courier New"/>
                <a:ea typeface="Courier New"/>
              </a:rPr>
              <a:t>ORDER BY u.nombre;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0"/>
          <p:cNvSpPr/>
          <p:nvPr/>
        </p:nvSpPr>
        <p:spPr>
          <a:xfrm>
            <a:off x="6263640" y="1828800"/>
            <a:ext cx="5348880" cy="3931560"/>
          </a:xfrm>
          <a:prstGeom prst="roundRect">
            <a:avLst>
              <a:gd name="adj" fmla="val 1860"/>
            </a:avLst>
          </a:prstGeom>
          <a:solidFill>
            <a:srgbClr val="1321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1"/>
          <p:cNvSpPr/>
          <p:nvPr/>
        </p:nvSpPr>
        <p:spPr>
          <a:xfrm>
            <a:off x="6537960" y="2030040"/>
            <a:ext cx="4800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8FA3C9"/>
                </a:solidFill>
                <a:effectLst/>
                <a:uFillTx/>
                <a:latin typeface="Calibri"/>
                <a:ea typeface="Calibri"/>
              </a:rPr>
              <a:t>Con un ORM (Python)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2"/>
          <p:cNvSpPr/>
          <p:nvPr/>
        </p:nvSpPr>
        <p:spPr>
          <a:xfrm>
            <a:off x="6537960" y="251460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session.query(Usuario)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3"/>
          <p:cNvSpPr/>
          <p:nvPr/>
        </p:nvSpPr>
        <p:spPr>
          <a:xfrm>
            <a:off x="6537960" y="289872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  .join(Pedido)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4"/>
          <p:cNvSpPr/>
          <p:nvPr/>
        </p:nvSpPr>
        <p:spPr>
          <a:xfrm>
            <a:off x="6537960" y="328284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  .filter(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5"/>
          <p:cNvSpPr/>
          <p:nvPr/>
        </p:nvSpPr>
        <p:spPr>
          <a:xfrm>
            <a:off x="6537960" y="366660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     Pedido.total &gt; 100)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6"/>
          <p:cNvSpPr/>
          <p:nvPr/>
        </p:nvSpPr>
        <p:spPr>
          <a:xfrm>
            <a:off x="6537960" y="405072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  .order_by(Usuario.nombre)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7"/>
          <p:cNvSpPr/>
          <p:nvPr/>
        </p:nvSpPr>
        <p:spPr>
          <a:xfrm>
            <a:off x="6537960" y="4434840"/>
            <a:ext cx="4800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  .all()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8"/>
          <p:cNvSpPr/>
          <p:nvPr/>
        </p:nvSpPr>
        <p:spPr>
          <a:xfrm>
            <a:off x="548640" y="589788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El ORM traduce la llamada a objetos en el SQL equivalente por debajo.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0"/>
          <p:cNvSpPr/>
          <p:nvPr/>
        </p:nvSpPr>
        <p:spPr>
          <a:xfrm>
            <a:off x="548640" y="41148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La trampa del problema N+1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"/>
          <p:cNvSpPr/>
          <p:nvPr/>
        </p:nvSpPr>
        <p:spPr>
          <a:xfrm>
            <a:off x="548640" y="1024200"/>
            <a:ext cx="11091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El error de rendimiento más común al usar un ORM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"/>
          <p:cNvSpPr/>
          <p:nvPr/>
        </p:nvSpPr>
        <p:spPr>
          <a:xfrm>
            <a:off x="548640" y="1783080"/>
            <a:ext cx="5394600" cy="3977280"/>
          </a:xfrm>
          <a:prstGeom prst="roundRect">
            <a:avLst>
              <a:gd name="adj" fmla="val 1839"/>
            </a:avLst>
          </a:prstGeom>
          <a:solidFill>
            <a:srgbClr val="FBEF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3"/>
          <p:cNvSpPr/>
          <p:nvPr/>
        </p:nvSpPr>
        <p:spPr>
          <a:xfrm>
            <a:off x="777240" y="196596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B34D3C"/>
                </a:solidFill>
                <a:effectLst/>
                <a:uFillTx/>
                <a:latin typeface="Cambria"/>
                <a:ea typeface="Cambria"/>
              </a:rPr>
              <a:t>✗  Sin optimizar: N+1 consultas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4"/>
          <p:cNvSpPr/>
          <p:nvPr/>
        </p:nvSpPr>
        <p:spPr>
          <a:xfrm>
            <a:off x="777240" y="2423160"/>
            <a:ext cx="4937400" cy="1371240"/>
          </a:xfrm>
          <a:prstGeom prst="roundRect">
            <a:avLst>
              <a:gd name="adj" fmla="val 4000"/>
            </a:avLst>
          </a:prstGeom>
          <a:solidFill>
            <a:srgbClr val="1321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5"/>
          <p:cNvSpPr/>
          <p:nvPr/>
        </p:nvSpPr>
        <p:spPr>
          <a:xfrm>
            <a:off x="1340759" y="2285811"/>
            <a:ext cx="5342161" cy="1600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var </a:t>
            </a:r>
            <a:r>
              <a:rPr lang="en-US" sz="1050" b="0" u="none" strike="noStrike" dirty="0" err="1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autores</a:t>
            </a:r>
            <a:r>
              <a:rPr lang="en-US" sz="1050" b="0" u="none" strike="noStrike" dirty="0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 = _</a:t>
            </a:r>
            <a:r>
              <a:rPr lang="en-US" sz="1050" b="0" u="none" strike="noStrike" dirty="0" err="1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context.Autores.ToList</a:t>
            </a:r>
            <a:r>
              <a:rPr lang="en-US" sz="1050" b="0" u="none" strike="noStrike" dirty="0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();  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//1 consulta </a:t>
            </a:r>
            <a:r>
              <a:rPr lang="en-US" sz="1050" b="0" u="none" strike="noStrike" dirty="0" err="1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princ</a:t>
            </a:r>
            <a:r>
              <a:rPr lang="en-US" sz="1050" b="0" u="none" strike="noStrike" dirty="0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foreach (var a in </a:t>
            </a:r>
            <a:r>
              <a:rPr lang="en-US" sz="1050" b="0" u="none" strike="noStrike" dirty="0" err="1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autores</a:t>
            </a:r>
            <a:r>
              <a:rPr lang="en-US" sz="1050" b="0" u="none" strike="noStrike" dirty="0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){ 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// 1 consulta MÁS </a:t>
            </a:r>
            <a:r>
              <a:rPr lang="en-US" sz="1050" b="0" u="none" strike="noStrike" dirty="0" err="1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por</a:t>
            </a:r>
            <a:r>
              <a:rPr lang="en-US" sz="1050" b="0" u="none" strike="noStrike" dirty="0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 CADA </a:t>
            </a:r>
            <a:r>
              <a:rPr lang="en-US" sz="1050" b="0" u="none" strike="noStrike" dirty="0" err="1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autor</a:t>
            </a:r>
            <a:r>
              <a:rPr lang="en-US" sz="1050" b="0" u="none" strike="noStrike" dirty="0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50" b="0" u="none" strike="noStrike" dirty="0" err="1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Console.WriteLine</a:t>
            </a:r>
            <a:r>
              <a:rPr lang="en-US" sz="1050" b="0" u="none" strike="noStrike" dirty="0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50" b="0" u="none" strike="noStrike" dirty="0" err="1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a.Libros.Count</a:t>
            </a:r>
            <a:r>
              <a:rPr lang="en-US" sz="1050" b="0" u="none" strike="noStrike" dirty="0">
                <a:solidFill>
                  <a:srgbClr val="E8EEF2"/>
                </a:solidFill>
                <a:effectLst/>
                <a:uFillTx/>
                <a:latin typeface="Courier New"/>
                <a:ea typeface="Courier New"/>
              </a:rPr>
              <a:t>); }</a:t>
            </a:r>
            <a:endParaRPr lang="es-AR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9"/>
          <p:cNvSpPr/>
          <p:nvPr/>
        </p:nvSpPr>
        <p:spPr>
          <a:xfrm>
            <a:off x="777240" y="397764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Con 50 autores: 1 consulta inicial + 50 consultas extra = 51 consultas totales.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0"/>
          <p:cNvSpPr/>
          <p:nvPr/>
        </p:nvSpPr>
        <p:spPr>
          <a:xfrm>
            <a:off x="777240" y="4572000"/>
            <a:ext cx="49374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El código se ve inocente, pero cada acceso a una relación dispara una consulta nueva a la base de datos.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1"/>
          <p:cNvSpPr/>
          <p:nvPr/>
        </p:nvSpPr>
        <p:spPr>
          <a:xfrm>
            <a:off x="6263640" y="1783080"/>
            <a:ext cx="5394600" cy="3977280"/>
          </a:xfrm>
          <a:prstGeom prst="roundRect">
            <a:avLst>
              <a:gd name="adj" fmla="val 1839"/>
            </a:avLst>
          </a:prstGeom>
          <a:solidFill>
            <a:srgbClr val="E7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2"/>
          <p:cNvSpPr/>
          <p:nvPr/>
        </p:nvSpPr>
        <p:spPr>
          <a:xfrm>
            <a:off x="6492240" y="196596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✓  </a:t>
            </a:r>
            <a:r>
              <a:rPr lang="en-US" sz="1400" b="1" u="none" strike="noStrike" dirty="0" err="1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Optimizado</a:t>
            </a:r>
            <a:r>
              <a:rPr lang="en-US" sz="1400" b="1" u="none" strike="noStrike" dirty="0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: eager loading</a:t>
            </a:r>
            <a:endParaRPr lang="es-A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3"/>
          <p:cNvSpPr/>
          <p:nvPr/>
        </p:nvSpPr>
        <p:spPr>
          <a:xfrm>
            <a:off x="6492240" y="2423160"/>
            <a:ext cx="4937400" cy="1371240"/>
          </a:xfrm>
          <a:prstGeom prst="roundRect">
            <a:avLst>
              <a:gd name="adj" fmla="val 4000"/>
            </a:avLst>
          </a:prstGeom>
          <a:solidFill>
            <a:srgbClr val="13213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4"/>
          <p:cNvSpPr/>
          <p:nvPr/>
        </p:nvSpPr>
        <p:spPr>
          <a:xfrm>
            <a:off x="6843120" y="2517938"/>
            <a:ext cx="4571640" cy="1140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// 1 sola consulta SQL </a:t>
            </a:r>
            <a:r>
              <a:rPr lang="en-US" sz="1050" b="0" u="none" strike="noStrike" dirty="0" err="1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usando</a:t>
            </a:r>
            <a:r>
              <a:rPr lang="en-US" sz="1050" b="0" u="none" strike="noStrike" dirty="0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 LEFT JOIN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var </a:t>
            </a:r>
            <a:r>
              <a:rPr lang="en-US" sz="1050" b="0" u="none" strike="noStrike" dirty="0" err="1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autores</a:t>
            </a:r>
            <a:r>
              <a:rPr lang="en-US" sz="1050" b="0" u="none" strike="noStrike" dirty="0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 = await _</a:t>
            </a:r>
            <a:r>
              <a:rPr lang="en-US" sz="1050" b="0" u="none" strike="noStrike" dirty="0" err="1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context.Autores</a:t>
            </a:r>
            <a:endParaRPr lang="en-US" sz="1050" dirty="0">
              <a:solidFill>
                <a:srgbClr val="8FD694"/>
              </a:solidFill>
              <a:latin typeface="Courier New"/>
              <a:ea typeface="Courier New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050" dirty="0">
                <a:solidFill>
                  <a:srgbClr val="8FD694"/>
                </a:solidFill>
                <a:latin typeface="Courier New"/>
                <a:ea typeface="Courier New"/>
              </a:rPr>
              <a:t>   </a:t>
            </a:r>
            <a:r>
              <a:rPr lang="en-US" sz="1050" b="0" u="none" strike="noStrike" dirty="0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.Include(a =&gt; </a:t>
            </a:r>
            <a:r>
              <a:rPr lang="en-US" sz="1050" b="0" u="none" strike="noStrike" dirty="0" err="1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a.Libros</a:t>
            </a:r>
            <a:r>
              <a:rPr lang="en-US" sz="1050" b="0" u="none" strike="noStrike" dirty="0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)   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50" dirty="0">
                <a:solidFill>
                  <a:srgbClr val="8FD694"/>
                </a:solidFill>
                <a:latin typeface="Courier New"/>
                <a:ea typeface="Courier New"/>
              </a:rPr>
              <a:t>   </a:t>
            </a:r>
            <a:r>
              <a:rPr lang="en-US" sz="1050" b="0" u="none" strike="noStrike" dirty="0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.</a:t>
            </a:r>
            <a:r>
              <a:rPr lang="en-US" sz="1050" b="0" u="none" strike="noStrike" dirty="0" err="1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ToListAsync</a:t>
            </a:r>
            <a:r>
              <a:rPr lang="en-US" sz="1050" b="0" u="none" strike="noStrike" dirty="0">
                <a:solidFill>
                  <a:srgbClr val="8FD694"/>
                </a:solidFill>
                <a:effectLst/>
                <a:uFillTx/>
                <a:latin typeface="Courier New"/>
                <a:ea typeface="Courier New"/>
              </a:rPr>
              <a:t>();</a:t>
            </a:r>
            <a:endParaRPr lang="es-AR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8"/>
          <p:cNvSpPr/>
          <p:nvPr/>
        </p:nvSpPr>
        <p:spPr>
          <a:xfrm>
            <a:off x="6492240" y="397764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Una sola consulta con JOIN </a:t>
            </a:r>
            <a:r>
              <a:rPr lang="en-US" sz="115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trae</a:t>
            </a:r>
            <a:r>
              <a:rPr lang="en-US" sz="115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autores</a:t>
            </a:r>
            <a:r>
              <a:rPr lang="en-US" sz="115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y </a:t>
            </a:r>
            <a:r>
              <a:rPr lang="en-US" sz="115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libros</a:t>
            </a:r>
            <a:r>
              <a:rPr lang="en-US" sz="115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juntos</a:t>
            </a:r>
            <a:r>
              <a:rPr lang="en-US" sz="115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, sin </a:t>
            </a:r>
            <a:r>
              <a:rPr lang="en-US" sz="115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importar</a:t>
            </a:r>
            <a:r>
              <a:rPr lang="en-US" sz="115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cuántos</a:t>
            </a:r>
            <a:r>
              <a:rPr lang="en-US" sz="115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autores</a:t>
            </a:r>
            <a:r>
              <a:rPr lang="en-US" sz="115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haya</a:t>
            </a:r>
            <a:r>
              <a:rPr lang="en-US" sz="1150" b="0" u="none" strike="noStrike" dirty="0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s-AR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9"/>
          <p:cNvSpPr/>
          <p:nvPr/>
        </p:nvSpPr>
        <p:spPr>
          <a:xfrm>
            <a:off x="6492240" y="4572000"/>
            <a:ext cx="49374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5C6B73"/>
                </a:solidFill>
                <a:effectLst/>
                <a:uFillTx/>
                <a:latin typeface="Calibri"/>
                <a:ea typeface="Calibri"/>
              </a:rPr>
              <a:t>Casi todos los ORMs ofrecen esta opción: eager loading, prefetch_related, include, etc.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 0"/>
          <p:cNvSpPr/>
          <p:nvPr/>
        </p:nvSpPr>
        <p:spPr>
          <a:xfrm>
            <a:off x="548640" y="41148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Migraciones: versionar el esquema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"/>
          <p:cNvSpPr/>
          <p:nvPr/>
        </p:nvSpPr>
        <p:spPr>
          <a:xfrm>
            <a:off x="548640" y="1024200"/>
            <a:ext cx="11091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El ORM no solo lee y escribe datos — también evoluciona la estructura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2"/>
          <p:cNvSpPr/>
          <p:nvPr/>
        </p:nvSpPr>
        <p:spPr>
          <a:xfrm>
            <a:off x="548640" y="1737360"/>
            <a:ext cx="11091240" cy="868320"/>
          </a:xfrm>
          <a:prstGeom prst="roundRect">
            <a:avLst>
              <a:gd name="adj" fmla="val 8421"/>
            </a:avLst>
          </a:prstGeom>
          <a:solidFill>
            <a:srgbClr val="E7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3"/>
          <p:cNvSpPr/>
          <p:nvPr/>
        </p:nvSpPr>
        <p:spPr>
          <a:xfrm>
            <a:off x="868680" y="1737360"/>
            <a:ext cx="104511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Una migración es un archivo versionado que describe un cambio de esquema (crear tabla, agregar columna, etc.) para poder aplicarlo o revertirlo de forma controlada.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4"/>
          <p:cNvSpPr/>
          <p:nvPr/>
        </p:nvSpPr>
        <p:spPr>
          <a:xfrm>
            <a:off x="548640" y="2880360"/>
            <a:ext cx="3520080" cy="2468520"/>
          </a:xfrm>
          <a:prstGeom prst="roundRect">
            <a:avLst>
              <a:gd name="adj" fmla="val 2963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5"/>
          <p:cNvSpPr/>
          <p:nvPr/>
        </p:nvSpPr>
        <p:spPr>
          <a:xfrm>
            <a:off x="749880" y="3108960"/>
            <a:ext cx="3117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1. Cambiás el modelo</a:t>
            </a:r>
            <a:endParaRPr lang="es-A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6"/>
          <p:cNvSpPr/>
          <p:nvPr/>
        </p:nvSpPr>
        <p:spPr>
          <a:xfrm>
            <a:off x="749880" y="3703320"/>
            <a:ext cx="311760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Agregás un campo nuevo a la clase, por ejemplo telefono: str.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7"/>
          <p:cNvSpPr/>
          <p:nvPr/>
        </p:nvSpPr>
        <p:spPr>
          <a:xfrm>
            <a:off x="4343400" y="2880360"/>
            <a:ext cx="3520080" cy="2468520"/>
          </a:xfrm>
          <a:prstGeom prst="roundRect">
            <a:avLst>
              <a:gd name="adj" fmla="val 2963"/>
            </a:avLst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8"/>
          <p:cNvSpPr/>
          <p:nvPr/>
        </p:nvSpPr>
        <p:spPr>
          <a:xfrm>
            <a:off x="4544640" y="3108960"/>
            <a:ext cx="3117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2. Generás la migración</a:t>
            </a:r>
            <a:endParaRPr lang="es-A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9"/>
          <p:cNvSpPr/>
          <p:nvPr/>
        </p:nvSpPr>
        <p:spPr>
          <a:xfrm>
            <a:off x="4544640" y="3703320"/>
            <a:ext cx="311760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La herramienta detecta la diferencia y crea un script de cambio.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0"/>
          <p:cNvSpPr/>
          <p:nvPr/>
        </p:nvSpPr>
        <p:spPr>
          <a:xfrm>
            <a:off x="8138160" y="2880360"/>
            <a:ext cx="3520080" cy="2468520"/>
          </a:xfrm>
          <a:prstGeom prst="roundRect">
            <a:avLst>
              <a:gd name="adj" fmla="val 2963"/>
            </a:avLst>
          </a:prstGeom>
          <a:solidFill>
            <a:srgbClr val="065A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1"/>
          <p:cNvSpPr/>
          <p:nvPr/>
        </p:nvSpPr>
        <p:spPr>
          <a:xfrm>
            <a:off x="8339400" y="3108960"/>
            <a:ext cx="3117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3. Aplicás en cada entorno</a:t>
            </a:r>
            <a:endParaRPr lang="es-A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2"/>
          <p:cNvSpPr/>
          <p:nvPr/>
        </p:nvSpPr>
        <p:spPr>
          <a:xfrm>
            <a:off x="8339400" y="3703320"/>
            <a:ext cx="311760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AF3F8"/>
                </a:solidFill>
                <a:effectLst/>
                <a:uFillTx/>
                <a:latin typeface="Calibri"/>
                <a:ea typeface="Calibri"/>
              </a:rPr>
              <a:t>El mismo script corre en desarrollo, staging y producción.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 0"/>
          <p:cNvSpPr/>
          <p:nvPr/>
        </p:nvSpPr>
        <p:spPr>
          <a:xfrm>
            <a:off x="548640" y="41148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¿Cuándo conviene usar un ORM?</a:t>
            </a:r>
            <a:endParaRPr lang="es-A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"/>
          <p:cNvSpPr/>
          <p:nvPr/>
        </p:nvSpPr>
        <p:spPr>
          <a:xfrm>
            <a:off x="548640" y="1828800"/>
            <a:ext cx="5120280" cy="3931560"/>
          </a:xfrm>
          <a:prstGeom prst="roundRect">
            <a:avLst>
              <a:gd name="adj" fmla="val 1860"/>
            </a:avLst>
          </a:prstGeom>
          <a:solidFill>
            <a:srgbClr val="E7F1F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"/>
          <p:cNvSpPr/>
          <p:nvPr/>
        </p:nvSpPr>
        <p:spPr>
          <a:xfrm>
            <a:off x="548640" y="205740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C7293"/>
                </a:solidFill>
                <a:effectLst/>
                <a:uFillTx/>
                <a:latin typeface="Cambria"/>
                <a:ea typeface="Cambria"/>
              </a:rPr>
              <a:t>Buen encaje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3"/>
          <p:cNvSpPr/>
          <p:nvPr/>
        </p:nvSpPr>
        <p:spPr>
          <a:xfrm>
            <a:off x="868680" y="2606040"/>
            <a:ext cx="44802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✓  CRUD estándar de una aplicación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4"/>
          <p:cNvSpPr/>
          <p:nvPr/>
        </p:nvSpPr>
        <p:spPr>
          <a:xfrm>
            <a:off x="868680" y="3173040"/>
            <a:ext cx="44802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✓  Prototipado y desarrollo rápido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5"/>
          <p:cNvSpPr/>
          <p:nvPr/>
        </p:nvSpPr>
        <p:spPr>
          <a:xfrm>
            <a:off x="868680" y="3740040"/>
            <a:ext cx="44802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✓  Equipos con distintos niveles de SQL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6"/>
          <p:cNvSpPr/>
          <p:nvPr/>
        </p:nvSpPr>
        <p:spPr>
          <a:xfrm>
            <a:off x="868680" y="4306680"/>
            <a:ext cx="44802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✓  Portabilidad entre motores de base de datos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7"/>
          <p:cNvSpPr/>
          <p:nvPr/>
        </p:nvSpPr>
        <p:spPr>
          <a:xfrm>
            <a:off x="868680" y="4873680"/>
            <a:ext cx="44802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✓  Aplicaciones con lógica de dominio rica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8"/>
          <p:cNvSpPr/>
          <p:nvPr/>
        </p:nvSpPr>
        <p:spPr>
          <a:xfrm>
            <a:off x="6492240" y="1828800"/>
            <a:ext cx="5120280" cy="3931560"/>
          </a:xfrm>
          <a:prstGeom prst="roundRect">
            <a:avLst>
              <a:gd name="adj" fmla="val 1860"/>
            </a:avLst>
          </a:prstGeom>
          <a:solidFill>
            <a:srgbClr val="FBEF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9"/>
          <p:cNvSpPr/>
          <p:nvPr/>
        </p:nvSpPr>
        <p:spPr>
          <a:xfrm>
            <a:off x="6492240" y="205740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34D3C"/>
                </a:solidFill>
                <a:effectLst/>
                <a:uFillTx/>
                <a:latin typeface="Cambria"/>
                <a:ea typeface="Cambria"/>
              </a:rPr>
              <a:t>Usar con cautela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0"/>
          <p:cNvSpPr/>
          <p:nvPr/>
        </p:nvSpPr>
        <p:spPr>
          <a:xfrm>
            <a:off x="6812280" y="2606040"/>
            <a:ext cx="44802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!  Reportes analíticos y agregaciones masivas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1"/>
          <p:cNvSpPr/>
          <p:nvPr/>
        </p:nvSpPr>
        <p:spPr>
          <a:xfrm>
            <a:off x="6812280" y="3173040"/>
            <a:ext cx="44802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!  Consultas de altísimo rendimiento crítico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2"/>
          <p:cNvSpPr/>
          <p:nvPr/>
        </p:nvSpPr>
        <p:spPr>
          <a:xfrm>
            <a:off x="6812280" y="3740040"/>
            <a:ext cx="44802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!  Migraciones de datos muy específicas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3"/>
          <p:cNvSpPr/>
          <p:nvPr/>
        </p:nvSpPr>
        <p:spPr>
          <a:xfrm>
            <a:off x="6812280" y="4306680"/>
            <a:ext cx="44802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!  Bases de datos legacy con esquemas complejos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4"/>
          <p:cNvSpPr/>
          <p:nvPr/>
        </p:nvSpPr>
        <p:spPr>
          <a:xfrm>
            <a:off x="6812280" y="4873680"/>
            <a:ext cx="44802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!  Operaciones batch sobre millones de filas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Shape 0"/>
          <p:cNvSpPr/>
          <p:nvPr/>
        </p:nvSpPr>
        <p:spPr>
          <a:xfrm>
            <a:off x="-1371600" y="4114800"/>
            <a:ext cx="4114440" cy="4114440"/>
          </a:xfrm>
          <a:prstGeom prst="ellipse">
            <a:avLst/>
          </a:prstGeom>
          <a:solidFill>
            <a:srgbClr val="065A82">
              <a:alpha val="4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2"/>
          <p:cNvSpPr/>
          <p:nvPr/>
        </p:nvSpPr>
        <p:spPr>
          <a:xfrm>
            <a:off x="777240" y="960120"/>
            <a:ext cx="73148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 dirty="0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En </a:t>
            </a:r>
            <a:r>
              <a:rPr lang="en-US" sz="3400" b="1" u="none" strike="noStrike" dirty="0" err="1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resumen</a:t>
            </a:r>
            <a:endParaRPr lang="es-AR" sz="3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3"/>
          <p:cNvSpPr/>
          <p:nvPr/>
        </p:nvSpPr>
        <p:spPr>
          <a:xfrm>
            <a:off x="822960" y="2103120"/>
            <a:ext cx="292320" cy="292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4"/>
          <p:cNvSpPr/>
          <p:nvPr/>
        </p:nvSpPr>
        <p:spPr>
          <a:xfrm>
            <a:off x="822960" y="21031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5"/>
          <p:cNvSpPr/>
          <p:nvPr/>
        </p:nvSpPr>
        <p:spPr>
          <a:xfrm>
            <a:off x="1280160" y="1929619"/>
            <a:ext cx="9692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7F1F6"/>
                </a:solidFill>
                <a:effectLst/>
                <a:uFillTx/>
                <a:latin typeface="Calibri"/>
                <a:ea typeface="Calibri"/>
              </a:rPr>
              <a:t>Un ORM traduce entre el mundo de objetos y el mundo relacional: clases ↔ tablas, instancias ↔ filas.</a:t>
            </a:r>
            <a:endParaRPr lang="es-A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6"/>
          <p:cNvSpPr/>
          <p:nvPr/>
        </p:nvSpPr>
        <p:spPr>
          <a:xfrm>
            <a:off x="822960" y="2880360"/>
            <a:ext cx="292320" cy="292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7"/>
          <p:cNvSpPr/>
          <p:nvPr/>
        </p:nvSpPr>
        <p:spPr>
          <a:xfrm>
            <a:off x="822960" y="28803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8"/>
          <p:cNvSpPr/>
          <p:nvPr/>
        </p:nvSpPr>
        <p:spPr>
          <a:xfrm>
            <a:off x="1280160" y="2706859"/>
            <a:ext cx="9692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7F1F6"/>
                </a:solidFill>
                <a:effectLst/>
                <a:uFillTx/>
                <a:latin typeface="Calibri"/>
                <a:ea typeface="Calibri"/>
              </a:rPr>
              <a:t>Ahorra tiempo y reduce errores, pero no reemplaza entender SQL — es una abstracción con fugas.</a:t>
            </a:r>
            <a:endParaRPr lang="es-A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9"/>
          <p:cNvSpPr/>
          <p:nvPr/>
        </p:nvSpPr>
        <p:spPr>
          <a:xfrm>
            <a:off x="822960" y="3657600"/>
            <a:ext cx="292320" cy="292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0"/>
          <p:cNvSpPr/>
          <p:nvPr/>
        </p:nvSpPr>
        <p:spPr>
          <a:xfrm>
            <a:off x="822960" y="36576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1"/>
          <p:cNvSpPr/>
          <p:nvPr/>
        </p:nvSpPr>
        <p:spPr>
          <a:xfrm>
            <a:off x="1280160" y="3484099"/>
            <a:ext cx="9692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7F1F6"/>
                </a:solidFill>
                <a:effectLst/>
                <a:uFillTx/>
                <a:latin typeface="Calibri"/>
                <a:ea typeface="Calibri"/>
              </a:rPr>
              <a:t>Elegí Active Record para simplicidad, Data Mapper para separar mejor el dominio de la persistencia.</a:t>
            </a:r>
            <a:endParaRPr lang="es-A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2"/>
          <p:cNvSpPr/>
          <p:nvPr/>
        </p:nvSpPr>
        <p:spPr>
          <a:xfrm>
            <a:off x="822960" y="4434840"/>
            <a:ext cx="292320" cy="292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3"/>
          <p:cNvSpPr/>
          <p:nvPr/>
        </p:nvSpPr>
        <p:spPr>
          <a:xfrm>
            <a:off x="822960" y="44348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4"/>
          <p:cNvSpPr/>
          <p:nvPr/>
        </p:nvSpPr>
        <p:spPr>
          <a:xfrm>
            <a:off x="1280160" y="4261339"/>
            <a:ext cx="9692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7F1F6"/>
                </a:solidFill>
                <a:effectLst/>
                <a:uFillTx/>
                <a:latin typeface="Calibri"/>
                <a:ea typeface="Calibri"/>
              </a:rPr>
              <a:t>Vigilá el problema N+1 y usá eager loading cuando accedas a relaciones en un bucle.</a:t>
            </a:r>
            <a:endParaRPr lang="es-A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5"/>
          <p:cNvSpPr/>
          <p:nvPr/>
        </p:nvSpPr>
        <p:spPr>
          <a:xfrm>
            <a:off x="822960" y="5212080"/>
            <a:ext cx="292320" cy="29232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6"/>
          <p:cNvSpPr/>
          <p:nvPr/>
        </p:nvSpPr>
        <p:spPr>
          <a:xfrm>
            <a:off x="822960" y="521208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7"/>
          <p:cNvSpPr/>
          <p:nvPr/>
        </p:nvSpPr>
        <p:spPr>
          <a:xfrm>
            <a:off x="1280160" y="5038579"/>
            <a:ext cx="9692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7F1F6"/>
                </a:solidFill>
                <a:effectLst/>
                <a:uFillTx/>
                <a:latin typeface="Calibri"/>
                <a:ea typeface="Calibri"/>
              </a:rPr>
              <a:t>Las migraciones son tan parte del ORM como las consultas: versionan el esquema junto al código.</a:t>
            </a:r>
            <a:endParaRPr lang="es-A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1664</TotalTime>
  <Words>2681</Words>
  <Application>Microsoft Office PowerPoint</Application>
  <PresentationFormat>Panorámica</PresentationFormat>
  <Paragraphs>256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Maximiliano Medina</cp:lastModifiedBy>
  <cp:revision>6</cp:revision>
  <dcterms:created xsi:type="dcterms:W3CDTF">2026-08-16T11:26:15Z</dcterms:created>
  <dcterms:modified xsi:type="dcterms:W3CDTF">2026-08-18T21:11:11Z</dcterms:modified>
  <dc:language>es-AR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16</vt:r8>
  </property>
  <property fmtid="{D5CDD505-2E9C-101B-9397-08002B2CF9AE}" pid="3" name="PresentationFormat">
    <vt:lpwstr>On-screen Show (16:9)</vt:lpwstr>
  </property>
  <property fmtid="{D5CDD505-2E9C-101B-9397-08002B2CF9AE}" pid="4" name="Slides">
    <vt:r8>16</vt:r8>
  </property>
</Properties>
</file>