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098" autoAdjust="0"/>
  </p:normalViewPr>
  <p:slideViewPr>
    <p:cSldViewPr snapToGrid="0">
      <p:cViewPr varScale="1">
        <p:scale>
          <a:sx n="70" d="100"/>
          <a:sy n="70" d="100"/>
        </p:scale>
        <p:origin x="113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s-A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4E44C0-A24A-4A0C-9C49-203D2679B25E}" type="slidenum"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875ECF-661E-4A2A-AD22-5F00961CF7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3E0697-0597-4451-B395-51E7628B18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049988-08DE-4ADB-B76C-EEC479268E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EF739F-BEAB-4A7E-B39D-76BAAAE6F3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FFC1BC-1CDC-4FB9-B4A1-18EDA1D801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A43EA6-8ECD-4545-97CE-E483642BD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ACA0C4-5E25-4985-80FE-4681BD6A90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B3AA40-D3F8-4F31-88CC-2DF7A95B53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F12E77-8900-4A56-91BC-CB487605C7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48877D-04E7-44A5-BB68-782FC5FB78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BB1C3A-564A-4D89-AF69-0E9C996FD2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721391-F289-420A-9EF9-DEF55E3D8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468E9B-093C-4277-B473-5C013AA40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5870A6-6A28-40DC-A3B8-6C540B66F9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2DC5FF-84BB-48B1-9C11-8DA0A1484C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s-A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A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418320" y="-1463040"/>
            <a:ext cx="4571640" cy="4571640"/>
          </a:xfrm>
          <a:prstGeom prst="ellipse">
            <a:avLst/>
          </a:prstGeom>
          <a:solidFill>
            <a:srgbClr val="065A82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607040" y="2926080"/>
            <a:ext cx="2925720" cy="2925720"/>
          </a:xfrm>
          <a:prstGeom prst="ellipse">
            <a:avLst/>
          </a:prstGeom>
          <a:solidFill>
            <a:srgbClr val="1C7293">
              <a:alpha val="4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777240" y="2331720"/>
            <a:ext cx="987516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ORM</a:t>
            </a:r>
            <a:endParaRPr lang="es-A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22960" y="342900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Object-Relational Mapping</a:t>
            </a:r>
            <a:endParaRPr lang="es-A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5"/>
          <p:cNvSpPr/>
          <p:nvPr/>
        </p:nvSpPr>
        <p:spPr>
          <a:xfrm>
            <a:off x="822960" y="4572000"/>
            <a:ext cx="2377080" cy="105120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822960" y="4681800"/>
            <a:ext cx="2377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class Usuario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3246120" y="470916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6FB6D9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s-A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8"/>
          <p:cNvSpPr/>
          <p:nvPr/>
        </p:nvSpPr>
        <p:spPr>
          <a:xfrm>
            <a:off x="4114800" y="4572000"/>
            <a:ext cx="2377080" cy="105120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4114800" y="4681800"/>
            <a:ext cx="2377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TABLE usuarios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El problema de fondo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"Impedance mismatch": dos formas distintas de organizar datos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92024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21295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54864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Mundo de los objetos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868680" y="2788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1143000" y="2633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Herencia entre clases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68680" y="3364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1143000" y="3209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Referencias y punteros entre objetos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868680" y="3940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1143000" y="3785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Colecciones anidadas (listas, sets)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868680" y="451728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1143000" y="4361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Identidad de objeto (misma instancia)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2"/>
          <p:cNvSpPr/>
          <p:nvPr/>
        </p:nvSpPr>
        <p:spPr>
          <a:xfrm>
            <a:off x="868680" y="509328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43000" y="4937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Encapsulamiento de comportamiento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6492240" y="192024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649224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Mundo relacional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6812280" y="2788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7086600" y="2633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Tablas planas de filas y columnas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8"/>
          <p:cNvSpPr/>
          <p:nvPr/>
        </p:nvSpPr>
        <p:spPr>
          <a:xfrm>
            <a:off x="6812280" y="3364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7086600" y="3209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Claves primarias y foráneas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6812280" y="3940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7086600" y="3785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Relaciones expresadas con JOINs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2"/>
          <p:cNvSpPr/>
          <p:nvPr/>
        </p:nvSpPr>
        <p:spPr>
          <a:xfrm>
            <a:off x="6812280" y="451728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7086600" y="4361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Sin herencia nativa de estructuras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4"/>
          <p:cNvSpPr/>
          <p:nvPr/>
        </p:nvSpPr>
        <p:spPr>
          <a:xfrm>
            <a:off x="6812280" y="509328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7086600" y="4937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 separados del comportamiento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6"/>
          <p:cNvSpPr/>
          <p:nvPr/>
        </p:nvSpPr>
        <p:spPr>
          <a:xfrm>
            <a:off x="5688000" y="347472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⇄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¿Qué es un ORM?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"/>
          <p:cNvSpPr/>
          <p:nvPr/>
        </p:nvSpPr>
        <p:spPr>
          <a:xfrm>
            <a:off x="548640" y="1737360"/>
            <a:ext cx="11091240" cy="1051200"/>
          </a:xfrm>
          <a:prstGeom prst="roundRect">
            <a:avLst>
              <a:gd name="adj" fmla="val 6957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868680" y="1737360"/>
            <a:ext cx="104511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Object-Relational Mapping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técnica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(y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librería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)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que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convierte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automáticamente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entre un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sistema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orientado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a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y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base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relacional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permitiendo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trabajar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con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lugar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escribir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SQL a mano.</a:t>
            </a:r>
            <a:endParaRPr lang="es-A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"/>
          <p:cNvSpPr/>
          <p:nvPr/>
        </p:nvSpPr>
        <p:spPr>
          <a:xfrm>
            <a:off x="548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71316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Clase → Tabla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71316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clase del modelo se corresponde con una tabla de la base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6"/>
          <p:cNvSpPr/>
          <p:nvPr/>
        </p:nvSpPr>
        <p:spPr>
          <a:xfrm>
            <a:off x="3410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7"/>
          <p:cNvSpPr/>
          <p:nvPr/>
        </p:nvSpPr>
        <p:spPr>
          <a:xfrm>
            <a:off x="357516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Atributo → Columna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357516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propiedad del objeto se corresponde con una columna.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9"/>
          <p:cNvSpPr/>
          <p:nvPr/>
        </p:nvSpPr>
        <p:spPr>
          <a:xfrm>
            <a:off x="6272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0"/>
          <p:cNvSpPr/>
          <p:nvPr/>
        </p:nvSpPr>
        <p:spPr>
          <a:xfrm>
            <a:off x="643752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Instancia → Fila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1"/>
          <p:cNvSpPr/>
          <p:nvPr/>
        </p:nvSpPr>
        <p:spPr>
          <a:xfrm>
            <a:off x="643752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objeto en memoria representa una fila concreta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2"/>
          <p:cNvSpPr/>
          <p:nvPr/>
        </p:nvSpPr>
        <p:spPr>
          <a:xfrm>
            <a:off x="913500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3"/>
          <p:cNvSpPr/>
          <p:nvPr/>
        </p:nvSpPr>
        <p:spPr>
          <a:xfrm>
            <a:off x="929952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Referencia → Clave foránea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4"/>
          <p:cNvSpPr/>
          <p:nvPr/>
        </p:nvSpPr>
        <p:spPr>
          <a:xfrm>
            <a:off x="929952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Las relaciones entre objetos se traducen en foreign keys y JOINs.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Cómo funciona el mapeo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De una clase de tu lenguaje a una tabla de la base de datos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"/>
          <p:cNvSpPr/>
          <p:nvPr/>
        </p:nvSpPr>
        <p:spPr>
          <a:xfrm>
            <a:off x="640080" y="1783080"/>
            <a:ext cx="4205880" cy="4114440"/>
          </a:xfrm>
          <a:prstGeom prst="roundRect">
            <a:avLst>
              <a:gd name="adj" fmla="val 1778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914400" y="2103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class Usuario: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487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id: int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914400" y="28713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nombre: str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914400" y="3255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email: str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914400" y="3639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creado_en: datetime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914400" y="40233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2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9"/>
          <p:cNvSpPr/>
          <p:nvPr/>
        </p:nvSpPr>
        <p:spPr>
          <a:xfrm>
            <a:off x="914400" y="44074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 = Usuario(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0"/>
          <p:cNvSpPr/>
          <p:nvPr/>
        </p:nvSpPr>
        <p:spPr>
          <a:xfrm>
            <a:off x="914400" y="47916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  nombre="Ana")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1"/>
          <p:cNvSpPr/>
          <p:nvPr/>
        </p:nvSpPr>
        <p:spPr>
          <a:xfrm>
            <a:off x="5120640" y="3337560"/>
            <a:ext cx="1919880" cy="1005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2"/>
          <p:cNvSpPr/>
          <p:nvPr/>
        </p:nvSpPr>
        <p:spPr>
          <a:xfrm>
            <a:off x="5120640" y="3337560"/>
            <a:ext cx="19198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ORM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5120640" y="28803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mapea →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4"/>
          <p:cNvSpPr/>
          <p:nvPr/>
        </p:nvSpPr>
        <p:spPr>
          <a:xfrm>
            <a:off x="7406640" y="1783080"/>
            <a:ext cx="4160160" cy="4114440"/>
          </a:xfrm>
          <a:prstGeom prst="roundRect">
            <a:avLst>
              <a:gd name="adj" fmla="val 1778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5"/>
          <p:cNvSpPr/>
          <p:nvPr/>
        </p:nvSpPr>
        <p:spPr>
          <a:xfrm>
            <a:off x="7635240" y="19843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TABLE usuarios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6"/>
          <p:cNvSpPr/>
          <p:nvPr/>
        </p:nvSpPr>
        <p:spPr>
          <a:xfrm>
            <a:off x="7635240" y="2468880"/>
            <a:ext cx="3702960" cy="38376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7"/>
          <p:cNvSpPr/>
          <p:nvPr/>
        </p:nvSpPr>
        <p:spPr>
          <a:xfrm>
            <a:off x="763524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id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8"/>
          <p:cNvSpPr/>
          <p:nvPr/>
        </p:nvSpPr>
        <p:spPr>
          <a:xfrm>
            <a:off x="856116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nombre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9"/>
          <p:cNvSpPr/>
          <p:nvPr/>
        </p:nvSpPr>
        <p:spPr>
          <a:xfrm>
            <a:off x="948708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email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0"/>
          <p:cNvSpPr/>
          <p:nvPr/>
        </p:nvSpPr>
        <p:spPr>
          <a:xfrm>
            <a:off x="1041264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creado_en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1"/>
          <p:cNvSpPr/>
          <p:nvPr/>
        </p:nvSpPr>
        <p:spPr>
          <a:xfrm>
            <a:off x="7635240" y="2853000"/>
            <a:ext cx="3702960" cy="383760"/>
          </a:xfrm>
          <a:prstGeom prst="rect">
            <a:avLst/>
          </a:prstGeom>
          <a:solidFill>
            <a:srgbClr val="FFFFFF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2"/>
          <p:cNvSpPr/>
          <p:nvPr/>
        </p:nvSpPr>
        <p:spPr>
          <a:xfrm>
            <a:off x="763524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3"/>
          <p:cNvSpPr/>
          <p:nvPr/>
        </p:nvSpPr>
        <p:spPr>
          <a:xfrm>
            <a:off x="856116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Ana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4"/>
          <p:cNvSpPr/>
          <p:nvPr/>
        </p:nvSpPr>
        <p:spPr>
          <a:xfrm>
            <a:off x="948708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ana@mail.com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5"/>
          <p:cNvSpPr/>
          <p:nvPr/>
        </p:nvSpPr>
        <p:spPr>
          <a:xfrm>
            <a:off x="1041264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2026-08-01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6"/>
          <p:cNvSpPr/>
          <p:nvPr/>
        </p:nvSpPr>
        <p:spPr>
          <a:xfrm>
            <a:off x="7635240" y="3237120"/>
            <a:ext cx="3702960" cy="383760"/>
          </a:xfrm>
          <a:prstGeom prst="rect">
            <a:avLst/>
          </a:prstGeom>
          <a:solidFill>
            <a:srgbClr val="F0F6F9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7"/>
          <p:cNvSpPr/>
          <p:nvPr/>
        </p:nvSpPr>
        <p:spPr>
          <a:xfrm>
            <a:off x="763524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8"/>
          <p:cNvSpPr/>
          <p:nvPr/>
        </p:nvSpPr>
        <p:spPr>
          <a:xfrm>
            <a:off x="856116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Leo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9"/>
          <p:cNvSpPr/>
          <p:nvPr/>
        </p:nvSpPr>
        <p:spPr>
          <a:xfrm>
            <a:off x="948708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leo@mail.com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0"/>
          <p:cNvSpPr/>
          <p:nvPr/>
        </p:nvSpPr>
        <p:spPr>
          <a:xfrm>
            <a:off x="1041264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2026-08-03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1"/>
          <p:cNvSpPr/>
          <p:nvPr/>
        </p:nvSpPr>
        <p:spPr>
          <a:xfrm>
            <a:off x="7635240" y="3620880"/>
            <a:ext cx="3702960" cy="383760"/>
          </a:xfrm>
          <a:prstGeom prst="rect">
            <a:avLst/>
          </a:prstGeom>
          <a:solidFill>
            <a:srgbClr val="FFFFFF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2"/>
          <p:cNvSpPr/>
          <p:nvPr/>
        </p:nvSpPr>
        <p:spPr>
          <a:xfrm>
            <a:off x="763524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3"/>
          <p:cNvSpPr/>
          <p:nvPr/>
        </p:nvSpPr>
        <p:spPr>
          <a:xfrm>
            <a:off x="856116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Sol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4"/>
          <p:cNvSpPr/>
          <p:nvPr/>
        </p:nvSpPr>
        <p:spPr>
          <a:xfrm>
            <a:off x="948708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sol@mail.com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5"/>
          <p:cNvSpPr/>
          <p:nvPr/>
        </p:nvSpPr>
        <p:spPr>
          <a:xfrm>
            <a:off x="1041264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2026-08-10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6"/>
          <p:cNvSpPr/>
          <p:nvPr/>
        </p:nvSpPr>
        <p:spPr>
          <a:xfrm>
            <a:off x="7635240" y="414216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↳ cada instancia de Usuario es una fila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Ventajas de usar un ORM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54864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988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4988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988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Productividad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4988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Menos SQL repetitivo: el CRUD básico se escribe en pocas líneas de código orientado a objetos.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438912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459036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459036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459036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Portabilidad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459036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mismo código puede funcionar sobre distintos motores (PostgreSQL, MySQL, SQLite) con mínimos cambios.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1"/>
          <p:cNvSpPr/>
          <p:nvPr/>
        </p:nvSpPr>
        <p:spPr>
          <a:xfrm>
            <a:off x="822960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843084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843084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843084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Seguridad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843084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Genera consultas parametrizadas, reduciendo el riesgo de inyección SQL.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6"/>
          <p:cNvSpPr/>
          <p:nvPr/>
        </p:nvSpPr>
        <p:spPr>
          <a:xfrm>
            <a:off x="54864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74988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74988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74988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Mantenibilidad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0"/>
          <p:cNvSpPr/>
          <p:nvPr/>
        </p:nvSpPr>
        <p:spPr>
          <a:xfrm>
            <a:off x="74988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modelo de datos vive junto a la lógica del dominio, en el mismo lenguaje.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438912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2"/>
          <p:cNvSpPr/>
          <p:nvPr/>
        </p:nvSpPr>
        <p:spPr>
          <a:xfrm>
            <a:off x="459036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3"/>
          <p:cNvSpPr/>
          <p:nvPr/>
        </p:nvSpPr>
        <p:spPr>
          <a:xfrm>
            <a:off x="459036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459036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Migraciones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459036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Muchos ORMs versionan y aplican cambios de esquema de forma controlada.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6"/>
          <p:cNvSpPr/>
          <p:nvPr/>
        </p:nvSpPr>
        <p:spPr>
          <a:xfrm>
            <a:off x="822960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7"/>
          <p:cNvSpPr/>
          <p:nvPr/>
        </p:nvSpPr>
        <p:spPr>
          <a:xfrm>
            <a:off x="843084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843084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9"/>
          <p:cNvSpPr/>
          <p:nvPr/>
        </p:nvSpPr>
        <p:spPr>
          <a:xfrm>
            <a:off x="843084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Menos boilerplate</a:t>
            </a:r>
            <a:endParaRPr lang="es-AR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0"/>
          <p:cNvSpPr/>
          <p:nvPr/>
        </p:nvSpPr>
        <p:spPr>
          <a:xfrm>
            <a:off x="843084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Evita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mapear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manualmente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resultados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consultas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a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Desventajas</a:t>
            </a:r>
            <a:endParaRPr lang="es-AR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54864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74988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74988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4988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Curva de aprendizaje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74988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Dominar bien un ORM (y su comportamiento interno) toma tiempo.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7"/>
          <p:cNvSpPr/>
          <p:nvPr/>
        </p:nvSpPr>
        <p:spPr>
          <a:xfrm>
            <a:off x="438912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459036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459036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459036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Overhead de rendimiento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459036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Genera consultas menos optimizadas que SQL escrito a mano en casos exigentes.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822960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3"/>
          <p:cNvSpPr/>
          <p:nvPr/>
        </p:nvSpPr>
        <p:spPr>
          <a:xfrm>
            <a:off x="843084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843084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843084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Consultas complejas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843084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Reportes, agregaciones y analítica avanzada suelen ser incómodos de expresar.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54864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"/>
          <p:cNvSpPr/>
          <p:nvPr/>
        </p:nvSpPr>
        <p:spPr>
          <a:xfrm>
            <a:off x="74988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74988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74988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Abstracción con fugas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1"/>
          <p:cNvSpPr/>
          <p:nvPr/>
        </p:nvSpPr>
        <p:spPr>
          <a:xfrm>
            <a:off x="74988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"Leaky abstraction": tarde o temprano hay que entender el SQL que se genera.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438912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459036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4"/>
          <p:cNvSpPr/>
          <p:nvPr/>
        </p:nvSpPr>
        <p:spPr>
          <a:xfrm>
            <a:off x="459036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459036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Problema N+1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459036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Un patrón de acceso mal escrito puede disparar cientos de consultas innecesarias.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822960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8"/>
          <p:cNvSpPr/>
          <p:nvPr/>
        </p:nvSpPr>
        <p:spPr>
          <a:xfrm>
            <a:off x="843084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9"/>
          <p:cNvSpPr/>
          <p:nvPr/>
        </p:nvSpPr>
        <p:spPr>
          <a:xfrm>
            <a:off x="843084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0"/>
          <p:cNvSpPr/>
          <p:nvPr/>
        </p:nvSpPr>
        <p:spPr>
          <a:xfrm>
            <a:off x="843084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Menos control fino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843084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Índices, hints y optimizaciones específicas del motor son más difíciles de aplicar.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Dos patrones de diseño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Active Record vs. Data Mapper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486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Active Record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548640" y="24231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El objeto sabe cómo persistirse a sí mismo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822960" y="2926080"/>
            <a:ext cx="4571640" cy="914040"/>
          </a:xfrm>
          <a:prstGeom prst="roundRect">
            <a:avLst>
              <a:gd name="adj" fmla="val 6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1005840" y="30358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usuario.save()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1005840" y="331920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usuario.delete()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1005840" y="36028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Usuario.find(id)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822960" y="402336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Ejemplos: Ruby on Rails ActiveRecord, Django ORM, Laravel Eloquent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822960" y="484632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Simple y directo, pero mezcla lógica de negocio con persistencia.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64922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64922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Mapper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6492240" y="24231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La persistencia vive separada del objeto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4"/>
          <p:cNvSpPr/>
          <p:nvPr/>
        </p:nvSpPr>
        <p:spPr>
          <a:xfrm>
            <a:off x="6766560" y="2926080"/>
            <a:ext cx="4571640" cy="914040"/>
          </a:xfrm>
          <a:prstGeom prst="roundRect">
            <a:avLst>
              <a:gd name="adj" fmla="val 6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5"/>
          <p:cNvSpPr/>
          <p:nvPr/>
        </p:nvSpPr>
        <p:spPr>
          <a:xfrm>
            <a:off x="6949440" y="30358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session.add(usuario)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6"/>
          <p:cNvSpPr/>
          <p:nvPr/>
        </p:nvSpPr>
        <p:spPr>
          <a:xfrm>
            <a:off x="6949440" y="331920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session.delete(usuario)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6949440" y="36028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session.query(Usuario)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8"/>
          <p:cNvSpPr/>
          <p:nvPr/>
        </p:nvSpPr>
        <p:spPr>
          <a:xfrm>
            <a:off x="6766560" y="402336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Ejemplos: SQLAlchemy, Hibernate / JPA, Doctrine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6766560" y="484632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Objetos de dominio más puros; requiere una capa extra (mapper/session).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ORMs populares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54864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77724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77724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SQLAlchemy · Django ORM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5"/>
          <p:cNvSpPr/>
          <p:nvPr/>
        </p:nvSpPr>
        <p:spPr>
          <a:xfrm>
            <a:off x="438912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61772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 / Kotlin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461772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Hibernate · JPA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8"/>
          <p:cNvSpPr/>
          <p:nvPr/>
        </p:nvSpPr>
        <p:spPr>
          <a:xfrm>
            <a:off x="822960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845820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.NET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845820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Entity Framework Core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1"/>
          <p:cNvSpPr/>
          <p:nvPr/>
        </p:nvSpPr>
        <p:spPr>
          <a:xfrm>
            <a:off x="54864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2"/>
          <p:cNvSpPr/>
          <p:nvPr/>
        </p:nvSpPr>
        <p:spPr>
          <a:xfrm>
            <a:off x="77724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JavaScript / TS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3"/>
          <p:cNvSpPr/>
          <p:nvPr/>
        </p:nvSpPr>
        <p:spPr>
          <a:xfrm>
            <a:off x="77724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Prisma · TypeORM · Sequelize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4"/>
          <p:cNvSpPr/>
          <p:nvPr/>
        </p:nvSpPr>
        <p:spPr>
          <a:xfrm>
            <a:off x="438912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461772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Ruby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6"/>
          <p:cNvSpPr/>
          <p:nvPr/>
        </p:nvSpPr>
        <p:spPr>
          <a:xfrm>
            <a:off x="461772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Active Record (Rails)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7"/>
          <p:cNvSpPr/>
          <p:nvPr/>
        </p:nvSpPr>
        <p:spPr>
          <a:xfrm>
            <a:off x="822960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8"/>
          <p:cNvSpPr/>
          <p:nvPr/>
        </p:nvSpPr>
        <p:spPr>
          <a:xfrm>
            <a:off x="845820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PHP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9"/>
          <p:cNvSpPr/>
          <p:nvPr/>
        </p:nvSpPr>
        <p:spPr>
          <a:xfrm>
            <a:off x="845820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Eloquent (Laravel) · Doctrine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Code First vs. Database First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Dos puntos de partida distintos para modelar con un ORM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548640" y="1828800"/>
            <a:ext cx="5120280" cy="3977280"/>
          </a:xfrm>
          <a:prstGeom prst="roundRect">
            <a:avLst>
              <a:gd name="adj" fmla="val 1839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20300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Code First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548640" y="2395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El código manda: la base se genera a partir de las clases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822960" y="2853000"/>
            <a:ext cx="4571640" cy="1051200"/>
          </a:xfrm>
          <a:prstGeom prst="roundRect">
            <a:avLst>
              <a:gd name="adj" fmla="val 5217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1005840" y="29628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class Usuario { ... 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1005840" y="32094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1005840" y="33483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migrations add Init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1005840" y="359532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database update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0"/>
          <p:cNvSpPr/>
          <p:nvPr/>
        </p:nvSpPr>
        <p:spPr>
          <a:xfrm>
            <a:off x="822960" y="404172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Definís las clases en tu lenguaje y el ORM crea (y versiona) el esquema por vos, vía migraciones.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822960" y="475488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Ideal para proyectos nuevos (greenfield), donde el modelo de dominio es la fuente de verdad.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2"/>
          <p:cNvSpPr/>
          <p:nvPr/>
        </p:nvSpPr>
        <p:spPr>
          <a:xfrm>
            <a:off x="6492240" y="1828800"/>
            <a:ext cx="5120280" cy="397728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6492240" y="20300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Database First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6492240" y="2395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La base manda: las clases se generan a partir del esquema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5"/>
          <p:cNvSpPr/>
          <p:nvPr/>
        </p:nvSpPr>
        <p:spPr>
          <a:xfrm>
            <a:off x="6766560" y="2853000"/>
            <a:ext cx="4571640" cy="1051200"/>
          </a:xfrm>
          <a:prstGeom prst="roundRect">
            <a:avLst>
              <a:gd name="adj" fmla="val 5217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6"/>
          <p:cNvSpPr/>
          <p:nvPr/>
        </p:nvSpPr>
        <p:spPr>
          <a:xfrm>
            <a:off x="6949440" y="29628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-- esquema ya existente --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7"/>
          <p:cNvSpPr/>
          <p:nvPr/>
        </p:nvSpPr>
        <p:spPr>
          <a:xfrm>
            <a:off x="6949440" y="32094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18"/>
          <p:cNvSpPr/>
          <p:nvPr/>
        </p:nvSpPr>
        <p:spPr>
          <a:xfrm>
            <a:off x="6949440" y="33483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dbcontext scaffold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6949440" y="359532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&lt;conexión&gt; &lt;proveedor&gt;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0"/>
          <p:cNvSpPr/>
          <p:nvPr/>
        </p:nvSpPr>
        <p:spPr>
          <a:xfrm>
            <a:off x="6766560" y="404172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El ORM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inspecciona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base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ya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existente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y genera ("scaffolding") las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clases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del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modelo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automáticamente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1"/>
          <p:cNvSpPr/>
          <p:nvPr/>
        </p:nvSpPr>
        <p:spPr>
          <a:xfrm>
            <a:off x="6766560" y="475488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Ideal para bases legacy, bases compartidas entre equipos, o esquemas administrados por un DBA.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Entity Framework en profundidad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"/>
          <p:cNvSpPr/>
          <p:nvPr/>
        </p:nvSpPr>
        <p:spPr>
          <a:xfrm>
            <a:off x="548640" y="1737360"/>
            <a:ext cx="11091240" cy="86832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868680" y="1737360"/>
            <a:ext cx="104511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Entity Framework (EF Core)</a:t>
            </a:r>
            <a:r>
              <a:rPr lang="en-US" sz="13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es el ORM oficial de .NET. Sigue el patrón Data Mapper: un DbContext representa la sesión con la base, y cada DbSet&lt;T&gt; expone una tabla como una colección consultable con LINQ.</a:t>
            </a:r>
            <a:endParaRPr lang="es-A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548640" y="2880360"/>
            <a:ext cx="539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Piezas clave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5"/>
          <p:cNvSpPr/>
          <p:nvPr/>
        </p:nvSpPr>
        <p:spPr>
          <a:xfrm>
            <a:off x="548640" y="334656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822960" y="32094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DbContext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La sesión activa contra la base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7"/>
          <p:cNvSpPr/>
          <p:nvPr/>
        </p:nvSpPr>
        <p:spPr>
          <a:xfrm>
            <a:off x="548640" y="387720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8"/>
          <p:cNvSpPr/>
          <p:nvPr/>
        </p:nvSpPr>
        <p:spPr>
          <a:xfrm>
            <a:off x="822960" y="374004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DbSet&lt;T&gt;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Cada tabla, expuesta como colección de objetos.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9"/>
          <p:cNvSpPr/>
          <p:nvPr/>
        </p:nvSpPr>
        <p:spPr>
          <a:xfrm>
            <a:off x="548640" y="440748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0"/>
          <p:cNvSpPr/>
          <p:nvPr/>
        </p:nvSpPr>
        <p:spPr>
          <a:xfrm>
            <a:off x="822960" y="427032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LINQ to Entities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Consultas escritas en C# nativo, no en SQL.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1"/>
          <p:cNvSpPr/>
          <p:nvPr/>
        </p:nvSpPr>
        <p:spPr>
          <a:xfrm>
            <a:off x="548640" y="493776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2"/>
          <p:cNvSpPr/>
          <p:nvPr/>
        </p:nvSpPr>
        <p:spPr>
          <a:xfrm>
            <a:off x="822960" y="48006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Migrations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dotnet ef migrations add / database update.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3"/>
          <p:cNvSpPr/>
          <p:nvPr/>
        </p:nvSpPr>
        <p:spPr>
          <a:xfrm>
            <a:off x="548640" y="546804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822960" y="533088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Proveedores</a:t>
            </a:r>
            <a:r>
              <a:rPr lang="en-US" sz="1150" b="1" u="none" strike="noStrike" dirty="0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 — 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SQL Server, PostgreSQL, SQLite, MySQL, etc.</a:t>
            </a:r>
            <a:endParaRPr lang="es-AR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5"/>
          <p:cNvSpPr/>
          <p:nvPr/>
        </p:nvSpPr>
        <p:spPr>
          <a:xfrm>
            <a:off x="6263640" y="2788920"/>
            <a:ext cx="5394600" cy="3337200"/>
          </a:xfrm>
          <a:prstGeom prst="roundRect">
            <a:avLst>
              <a:gd name="adj" fmla="val 2192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6"/>
          <p:cNvSpPr/>
          <p:nvPr/>
        </p:nvSpPr>
        <p:spPr>
          <a:xfrm>
            <a:off x="6537960" y="2971800"/>
            <a:ext cx="4845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C# — modelo y consulta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7"/>
          <p:cNvSpPr/>
          <p:nvPr/>
        </p:nvSpPr>
        <p:spPr>
          <a:xfrm>
            <a:off x="6537960" y="33192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public class AppDbContext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6537960" y="35614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 : DbContext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6537960" y="38037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0"/>
          <p:cNvSpPr/>
          <p:nvPr/>
        </p:nvSpPr>
        <p:spPr>
          <a:xfrm>
            <a:off x="6537960" y="40464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public DbSet&lt;Usuario&gt;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1"/>
          <p:cNvSpPr/>
          <p:nvPr/>
        </p:nvSpPr>
        <p:spPr>
          <a:xfrm>
            <a:off x="6537960" y="42886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Usuarios { get; set; }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6537960" y="45309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3"/>
          <p:cNvSpPr/>
          <p:nvPr/>
        </p:nvSpPr>
        <p:spPr>
          <a:xfrm>
            <a:off x="6537960" y="477324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24"/>
          <p:cNvSpPr/>
          <p:nvPr/>
        </p:nvSpPr>
        <p:spPr>
          <a:xfrm>
            <a:off x="6537960" y="501552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var mayores = context.Usuarios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5"/>
          <p:cNvSpPr/>
          <p:nvPr/>
        </p:nvSpPr>
        <p:spPr>
          <a:xfrm>
            <a:off x="6537960" y="52578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.Where(u =&gt; u.Edad &gt; 18)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6"/>
          <p:cNvSpPr/>
          <p:nvPr/>
        </p:nvSpPr>
        <p:spPr>
          <a:xfrm>
            <a:off x="6537960" y="55000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.OrderBy(u =&gt; u.Nombre)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7"/>
          <p:cNvSpPr/>
          <p:nvPr/>
        </p:nvSpPr>
        <p:spPr>
          <a:xfrm>
            <a:off x="6537960" y="57423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.ToList();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El mismo pedido, dos caminos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548640" y="1828800"/>
            <a:ext cx="5348880" cy="393156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822960" y="2030040"/>
            <a:ext cx="4800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SQL crudo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822960" y="2514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SELECT u.nombre, u.email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822960" y="2898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FROM usuarios u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822960" y="3282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JOIN pedidos p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822960" y="3666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 ON p.usuario_id = u.id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822960" y="4050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WHERE p.total &gt; 100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822960" y="4434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ORDER BY u.nombre;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6263640" y="1828800"/>
            <a:ext cx="5348880" cy="393156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6537960" y="2030040"/>
            <a:ext cx="4800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Con un ORM (Python)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537960" y="2514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session.query(Usuario)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6537960" y="2898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.join(Pedido)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6537960" y="3282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.filter(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5"/>
          <p:cNvSpPr/>
          <p:nvPr/>
        </p:nvSpPr>
        <p:spPr>
          <a:xfrm>
            <a:off x="6537960" y="3666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   Pedido.total &gt; 100)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6"/>
          <p:cNvSpPr/>
          <p:nvPr/>
        </p:nvSpPr>
        <p:spPr>
          <a:xfrm>
            <a:off x="6537960" y="4050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.order_by(Usuario.nombre)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537960" y="4434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.all()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548640" y="58978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ORM traduce la llamada a objetos en el SQL equivalente por debajo.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La trampa del problema N+1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El error de rendimiento más común al usar un ORM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"/>
          <p:cNvSpPr/>
          <p:nvPr/>
        </p:nvSpPr>
        <p:spPr>
          <a:xfrm>
            <a:off x="548640" y="1783080"/>
            <a:ext cx="5394600" cy="3977280"/>
          </a:xfrm>
          <a:prstGeom prst="roundRect">
            <a:avLst>
              <a:gd name="adj" fmla="val 1839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777240" y="19659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34D3C"/>
                </a:solidFill>
                <a:effectLst/>
                <a:uFillTx/>
                <a:latin typeface="Cambria"/>
                <a:ea typeface="Cambria"/>
              </a:rPr>
              <a:t>✗  Sin optimizar: N+1 consultas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777240" y="2423160"/>
            <a:ext cx="4937400" cy="137124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1340759" y="2285811"/>
            <a:ext cx="5342161" cy="1600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var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= _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context.Autores.ToList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(); 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//1 consulta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princ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foreach (var a in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){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// 1 consulta MÁS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por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CADA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Console.WriteLine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a.Libros.Count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); }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9"/>
          <p:cNvSpPr/>
          <p:nvPr/>
        </p:nvSpPr>
        <p:spPr>
          <a:xfrm>
            <a:off x="777240" y="39776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 50 autores: 1 consulta inicial + 50 consultas extra = 51 consultas totales.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0"/>
          <p:cNvSpPr/>
          <p:nvPr/>
        </p:nvSpPr>
        <p:spPr>
          <a:xfrm>
            <a:off x="777240" y="457200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código se ve inocente, pero cada acceso a una relación dispara una consulta nueva a la base de datos.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1"/>
          <p:cNvSpPr/>
          <p:nvPr/>
        </p:nvSpPr>
        <p:spPr>
          <a:xfrm>
            <a:off x="6263640" y="1783080"/>
            <a:ext cx="5394600" cy="3977280"/>
          </a:xfrm>
          <a:prstGeom prst="roundRect">
            <a:avLst>
              <a:gd name="adj" fmla="val 1839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2"/>
          <p:cNvSpPr/>
          <p:nvPr/>
        </p:nvSpPr>
        <p:spPr>
          <a:xfrm>
            <a:off x="6492240" y="19659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✓  </a:t>
            </a:r>
            <a:r>
              <a:rPr lang="en-US" sz="1400" b="1" u="none" strike="noStrike" dirty="0" err="1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Optimizado</a:t>
            </a:r>
            <a:r>
              <a:rPr lang="en-US" sz="14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: eager loading</a:t>
            </a:r>
            <a:endParaRPr lang="es-AR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3"/>
          <p:cNvSpPr/>
          <p:nvPr/>
        </p:nvSpPr>
        <p:spPr>
          <a:xfrm>
            <a:off x="6492240" y="2423160"/>
            <a:ext cx="4937400" cy="137124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4"/>
          <p:cNvSpPr/>
          <p:nvPr/>
        </p:nvSpPr>
        <p:spPr>
          <a:xfrm>
            <a:off x="6843120" y="2517938"/>
            <a:ext cx="4571640" cy="1140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// 1 sola consulta SQL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usando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LEFT JOIN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var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= await _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context.Autores</a:t>
            </a:r>
            <a:endParaRPr lang="en-US" sz="1050" dirty="0">
              <a:solidFill>
                <a:srgbClr val="8FD694"/>
              </a:solidFill>
              <a:latin typeface="Courier New"/>
              <a:ea typeface="Courier New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050" dirty="0">
                <a:solidFill>
                  <a:srgbClr val="8FD694"/>
                </a:solidFill>
                <a:latin typeface="Courier New"/>
                <a:ea typeface="Courier New"/>
              </a:rPr>
              <a:t>   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.Include(a =&gt;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a.Libros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)  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dirty="0">
                <a:solidFill>
                  <a:srgbClr val="8FD694"/>
                </a:solidFill>
                <a:latin typeface="Courier New"/>
                <a:ea typeface="Courier New"/>
              </a:rPr>
              <a:t>   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ToListAsync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();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8"/>
          <p:cNvSpPr/>
          <p:nvPr/>
        </p:nvSpPr>
        <p:spPr>
          <a:xfrm>
            <a:off x="6492240" y="39776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 sola consulta con JOIN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trae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autores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y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libros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juntos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, sin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importar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cuántos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autores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haya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9"/>
          <p:cNvSpPr/>
          <p:nvPr/>
        </p:nvSpPr>
        <p:spPr>
          <a:xfrm>
            <a:off x="6492240" y="457200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Casi todos los ORMs ofrecen esta opción: eager loading, prefetch_related, include, etc.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Migraciones: versionar el esquema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El ORM no solo lee y escribe datos — también evoluciona la estructura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"/>
          <p:cNvSpPr/>
          <p:nvPr/>
        </p:nvSpPr>
        <p:spPr>
          <a:xfrm>
            <a:off x="548640" y="1737360"/>
            <a:ext cx="11091240" cy="86832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868680" y="1737360"/>
            <a:ext cx="104511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 migración es un archivo versionado que describe un cambio de esquema (crear tabla, agregar columna, etc.) para poder aplicarlo o revertirlo de forma controlada.</a:t>
            </a:r>
            <a:endParaRPr lang="es-A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54864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74988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1. Cambiás el modelo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74988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Agregás un campo nuevo a la clase, por ejemplo telefono: str.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7"/>
          <p:cNvSpPr/>
          <p:nvPr/>
        </p:nvSpPr>
        <p:spPr>
          <a:xfrm>
            <a:off x="434340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8"/>
          <p:cNvSpPr/>
          <p:nvPr/>
        </p:nvSpPr>
        <p:spPr>
          <a:xfrm>
            <a:off x="454464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2. Generás la migración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454464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La herramienta detecta la diferencia y crea un script de cambio.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0"/>
          <p:cNvSpPr/>
          <p:nvPr/>
        </p:nvSpPr>
        <p:spPr>
          <a:xfrm>
            <a:off x="813816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1"/>
          <p:cNvSpPr/>
          <p:nvPr/>
        </p:nvSpPr>
        <p:spPr>
          <a:xfrm>
            <a:off x="833940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3. Aplicás en cada entorno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33940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El mismo script corre en desarrollo, staging y producción.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¿Cuándo conviene usar un ORM?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"/>
          <p:cNvSpPr/>
          <p:nvPr/>
        </p:nvSpPr>
        <p:spPr>
          <a:xfrm>
            <a:off x="5486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5486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Buen encaje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868680" y="2606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CRUD estándar de una aplicación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4"/>
          <p:cNvSpPr/>
          <p:nvPr/>
        </p:nvSpPr>
        <p:spPr>
          <a:xfrm>
            <a:off x="868680" y="3173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Prototipado y desarrollo rápido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868680" y="3740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Equipos con distintos niveles de SQL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868680" y="4306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Portabilidad entre motores de base de datos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7"/>
          <p:cNvSpPr/>
          <p:nvPr/>
        </p:nvSpPr>
        <p:spPr>
          <a:xfrm>
            <a:off x="868680" y="4873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Aplicaciones con lógica de dominio rica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8"/>
          <p:cNvSpPr/>
          <p:nvPr/>
        </p:nvSpPr>
        <p:spPr>
          <a:xfrm>
            <a:off x="64922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9"/>
          <p:cNvSpPr/>
          <p:nvPr/>
        </p:nvSpPr>
        <p:spPr>
          <a:xfrm>
            <a:off x="64922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34D3C"/>
                </a:solidFill>
                <a:effectLst/>
                <a:uFillTx/>
                <a:latin typeface="Cambria"/>
                <a:ea typeface="Cambria"/>
              </a:rPr>
              <a:t>Usar con cautela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0"/>
          <p:cNvSpPr/>
          <p:nvPr/>
        </p:nvSpPr>
        <p:spPr>
          <a:xfrm>
            <a:off x="6812280" y="2606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Reportes analíticos y agregaciones masivas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1"/>
          <p:cNvSpPr/>
          <p:nvPr/>
        </p:nvSpPr>
        <p:spPr>
          <a:xfrm>
            <a:off x="6812280" y="3173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Consultas de altísimo rendimiento crítico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2"/>
          <p:cNvSpPr/>
          <p:nvPr/>
        </p:nvSpPr>
        <p:spPr>
          <a:xfrm>
            <a:off x="6812280" y="3740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Migraciones de datos muy específicas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3"/>
          <p:cNvSpPr/>
          <p:nvPr/>
        </p:nvSpPr>
        <p:spPr>
          <a:xfrm>
            <a:off x="6812280" y="4306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Bases de datos legacy con esquemas complejos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"/>
          <p:cNvSpPr/>
          <p:nvPr/>
        </p:nvSpPr>
        <p:spPr>
          <a:xfrm>
            <a:off x="6812280" y="4873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Operaciones batch sobre millones de filas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Shape 0"/>
          <p:cNvSpPr/>
          <p:nvPr/>
        </p:nvSpPr>
        <p:spPr>
          <a:xfrm>
            <a:off x="-1371600" y="4114800"/>
            <a:ext cx="4114440" cy="4114440"/>
          </a:xfrm>
          <a:prstGeom prst="ellipse">
            <a:avLst/>
          </a:prstGeom>
          <a:solidFill>
            <a:srgbClr val="065A82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2"/>
          <p:cNvSpPr/>
          <p:nvPr/>
        </p:nvSpPr>
        <p:spPr>
          <a:xfrm>
            <a:off x="777240" y="96012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En </a:t>
            </a:r>
            <a:r>
              <a:rPr lang="en-US" sz="34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resumen</a:t>
            </a:r>
            <a:endParaRPr lang="es-AR" sz="3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3"/>
          <p:cNvSpPr/>
          <p:nvPr/>
        </p:nvSpPr>
        <p:spPr>
          <a:xfrm>
            <a:off x="822960" y="210312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4"/>
          <p:cNvSpPr/>
          <p:nvPr/>
        </p:nvSpPr>
        <p:spPr>
          <a:xfrm>
            <a:off x="822960" y="210312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5"/>
          <p:cNvSpPr/>
          <p:nvPr/>
        </p:nvSpPr>
        <p:spPr>
          <a:xfrm>
            <a:off x="1280160" y="192961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Un ORM traduce entre el mundo de objetos y el mundo relacional: clases ↔ tablas, instancias ↔ filas.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6"/>
          <p:cNvSpPr/>
          <p:nvPr/>
        </p:nvSpPr>
        <p:spPr>
          <a:xfrm>
            <a:off x="822960" y="288036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7"/>
          <p:cNvSpPr/>
          <p:nvPr/>
        </p:nvSpPr>
        <p:spPr>
          <a:xfrm>
            <a:off x="822960" y="288036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8"/>
          <p:cNvSpPr/>
          <p:nvPr/>
        </p:nvSpPr>
        <p:spPr>
          <a:xfrm>
            <a:off x="1280160" y="270685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Ahorra tiempo y reduce errores, pero no reemplaza entender SQL — es una abstracción con fugas.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9"/>
          <p:cNvSpPr/>
          <p:nvPr/>
        </p:nvSpPr>
        <p:spPr>
          <a:xfrm>
            <a:off x="822960" y="365760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0"/>
          <p:cNvSpPr/>
          <p:nvPr/>
        </p:nvSpPr>
        <p:spPr>
          <a:xfrm>
            <a:off x="822960" y="365760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1"/>
          <p:cNvSpPr/>
          <p:nvPr/>
        </p:nvSpPr>
        <p:spPr>
          <a:xfrm>
            <a:off x="1280160" y="348409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Elegí Active Record para simplicidad, Data Mapper para separar mejor el dominio de la persistencia.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2"/>
          <p:cNvSpPr/>
          <p:nvPr/>
        </p:nvSpPr>
        <p:spPr>
          <a:xfrm>
            <a:off x="822960" y="443484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3"/>
          <p:cNvSpPr/>
          <p:nvPr/>
        </p:nvSpPr>
        <p:spPr>
          <a:xfrm>
            <a:off x="822960" y="443484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4"/>
          <p:cNvSpPr/>
          <p:nvPr/>
        </p:nvSpPr>
        <p:spPr>
          <a:xfrm>
            <a:off x="1280160" y="426133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Vigilá el problema N+1 y usá eager loading cuando accedas a relaciones en un bucle.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5"/>
          <p:cNvSpPr/>
          <p:nvPr/>
        </p:nvSpPr>
        <p:spPr>
          <a:xfrm>
            <a:off x="822960" y="521208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6"/>
          <p:cNvSpPr/>
          <p:nvPr/>
        </p:nvSpPr>
        <p:spPr>
          <a:xfrm>
            <a:off x="822960" y="52120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7"/>
          <p:cNvSpPr/>
          <p:nvPr/>
        </p:nvSpPr>
        <p:spPr>
          <a:xfrm>
            <a:off x="1280160" y="503857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Las migraciones son tan parte del ORM como las consultas: versionan el esquema junto al código.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1665</TotalTime>
  <Words>1525</Words>
  <Application>Microsoft Office PowerPoint</Application>
  <PresentationFormat>Panorámica</PresentationFormat>
  <Paragraphs>241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Maximiliano Medina</cp:lastModifiedBy>
  <cp:revision>7</cp:revision>
  <dcterms:created xsi:type="dcterms:W3CDTF">2026-08-16T11:26:15Z</dcterms:created>
  <dcterms:modified xsi:type="dcterms:W3CDTF">2026-08-18T21:51:21Z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