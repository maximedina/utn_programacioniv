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5941EB2-32D9-4250-8A59-B82CA96D25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4B660C0-E334-4F0E-A275-3B075BCD67E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F4435D-9019-42BD-AEE6-28CDEBD549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E0A231-2E9F-4670-B2EF-4C29432539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5514AD2-F7AE-4CB0-A91D-3106E91297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9803698-8030-4E75-B71A-E0670E16D74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39E362C-E08D-40ED-8E16-748938F1C7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616C213-3850-4699-95D4-EE94941DF5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5247654-3D43-4C89-9AA7-1CB43D64E7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56EEE7-95A2-4D24-9F4D-3F1826D516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AD5109-324D-4AEF-8020-01D3F9474E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685800" y="4343400"/>
            <a:ext cx="74966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GIT</a:t>
            </a:r>
            <a:endParaRPr b="0" lang="es-AR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" name="Connector 1"/>
          <p:cNvCxnSpPr/>
          <p:nvPr/>
        </p:nvCxnSpPr>
        <p:spPr>
          <a:xfrm>
            <a:off x="9518760" y="2157840"/>
            <a:ext cx="1578600" cy="755640"/>
          </a:xfrm>
          <a:prstGeom prst="straightConnector1">
            <a:avLst/>
          </a:prstGeom>
          <a:ln w="50800">
            <a:solidFill>
              <a:srgbClr val="31a8a4"/>
            </a:solidFill>
            <a:round/>
          </a:ln>
        </p:spPr>
      </p:cxnSp>
      <p:cxnSp>
        <p:nvCxnSpPr>
          <p:cNvPr id="61" name="Connector 2"/>
          <p:cNvCxnSpPr/>
          <p:nvPr/>
        </p:nvCxnSpPr>
        <p:spPr>
          <a:xfrm>
            <a:off x="11095920" y="2912040"/>
            <a:ext cx="1440" cy="1098720"/>
          </a:xfrm>
          <a:prstGeom prst="straightConnector1">
            <a:avLst/>
          </a:prstGeom>
          <a:ln w="50800">
            <a:solidFill>
              <a:srgbClr val="31a8a4"/>
            </a:solidFill>
            <a:round/>
          </a:ln>
        </p:spPr>
      </p:cxnSp>
      <p:sp>
        <p:nvSpPr>
          <p:cNvPr id="62" name="Oval 1"/>
          <p:cNvSpPr/>
          <p:nvPr/>
        </p:nvSpPr>
        <p:spPr>
          <a:xfrm>
            <a:off x="9326880" y="1965960"/>
            <a:ext cx="382680" cy="382680"/>
          </a:xfrm>
          <a:prstGeom prst="ellipse">
            <a:avLst/>
          </a:prstGeom>
          <a:solidFill>
            <a:srgbClr val="7c63a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Oval 2"/>
          <p:cNvSpPr/>
          <p:nvPr/>
        </p:nvSpPr>
        <p:spPr>
          <a:xfrm>
            <a:off x="10904040" y="2720520"/>
            <a:ext cx="382680" cy="382680"/>
          </a:xfrm>
          <a:prstGeom prst="ellipse">
            <a:avLst/>
          </a:prstGeom>
          <a:solidFill>
            <a:srgbClr val="31a8a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Oval 3"/>
          <p:cNvSpPr/>
          <p:nvPr/>
        </p:nvSpPr>
        <p:spPr>
          <a:xfrm>
            <a:off x="10904040" y="3817800"/>
            <a:ext cx="382680" cy="382680"/>
          </a:xfrm>
          <a:prstGeom prst="ellipse">
            <a:avLst/>
          </a:prstGeom>
          <a:solidFill>
            <a:srgbClr val="73b84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Sistemas de control de versiones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7"/>
          <p:cNvSpPr/>
          <p:nvPr/>
        </p:nvSpPr>
        <p:spPr>
          <a:xfrm>
            <a:off x="594360" y="1353240"/>
            <a:ext cx="5393520" cy="452484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ounded Rectangle 8"/>
          <p:cNvSpPr/>
          <p:nvPr/>
        </p:nvSpPr>
        <p:spPr>
          <a:xfrm>
            <a:off x="6199560" y="1353240"/>
            <a:ext cx="5393520" cy="452484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868680" y="1627560"/>
            <a:ext cx="4799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Centralizados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868680" y="2148840"/>
            <a:ext cx="4662000" cy="25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Existe un único repositorio centralizado que almacena todo el código fuente y el historial de cambios de manera única en un servidor dedicado.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Todos los desarrolladores sincronizan sus archivos directamente con este punto central. 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 Ejemplo: SVN, TFS...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6473880" y="1627560"/>
            <a:ext cx="4799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Distribuidos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6473880" y="2148840"/>
            <a:ext cx="4662000" cy="29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Permite trabajar sin conexión y ofrece independencia antes de sincronizar con otros nodos. 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Cada usuario e integrante del equipo tiene una copia local completa de su propio repositorio con el historial íntegro de cambios.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 Ejemplo: GIT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"/>
          <p:cNvSpPr/>
          <p:nvPr/>
        </p:nvSpPr>
        <p:spPr>
          <a:xfrm>
            <a:off x="731520" y="1417320"/>
            <a:ext cx="6582240" cy="43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Diseñado por Linus Torvalds (Linux), 2005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Aplicaciones con gran número de archivos de código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Eficiencia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Trabajo distribuido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Cada desarrollador tiene su propio repositorio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Copia local de todo el historial de cambios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Es posible realizar commits incluso sin conexión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Desarrollo no lineal (ramificaciones)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717480" y="490680"/>
            <a:ext cx="1621800" cy="76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Componentes locales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731520" y="1325880"/>
            <a:ext cx="3656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3 componentes locales: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868680" y="1828800"/>
            <a:ext cx="777024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Directorio de trabajo local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Índice: área de ensayo (stage). A veces también llamado caché.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Historial: almacena versiones o commits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HEAD (marca la posición actual del proyecto)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3317400" y="3780000"/>
            <a:ext cx="4241880" cy="236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Ramas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685800" y="1371600"/>
            <a:ext cx="4844880" cy="17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facilita la gestión de ramas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	</a:t>
            </a: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master = rama inicial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Operaciones: crear ramas (branch), cambiar a ramas (checkout), combinar (merge), etiquetar (tag)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Múltiples estilos de ramificación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6737400" y="1161000"/>
            <a:ext cx="3701520" cy="449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Repositorios remotos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731520" y="1353240"/>
            <a:ext cx="5484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Se pueden conectar con repositorios remotos</a:t>
            </a:r>
            <a:endParaRPr b="0" lang="es-A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2289600" y="2340000"/>
            <a:ext cx="6529680" cy="346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Funcionamiento básico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7"/>
          <p:cNvSpPr/>
          <p:nvPr/>
        </p:nvSpPr>
        <p:spPr>
          <a:xfrm>
            <a:off x="822960" y="1600200"/>
            <a:ext cx="2147400" cy="100440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ounded Rectangle 9"/>
          <p:cNvSpPr/>
          <p:nvPr/>
        </p:nvSpPr>
        <p:spPr>
          <a:xfrm>
            <a:off x="3566160" y="1600200"/>
            <a:ext cx="2147400" cy="100440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ounded Rectangle 11"/>
          <p:cNvSpPr/>
          <p:nvPr/>
        </p:nvSpPr>
        <p:spPr>
          <a:xfrm>
            <a:off x="6309360" y="1600200"/>
            <a:ext cx="2147400" cy="100440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822960" y="1872000"/>
            <a:ext cx="1964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b2d42"/>
                </a:solidFill>
                <a:effectLst/>
                <a:uFillTx/>
                <a:latin typeface="Cascadia Mono"/>
              </a:rPr>
              <a:t>config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3"/>
          <p:cNvSpPr/>
          <p:nvPr/>
        </p:nvSpPr>
        <p:spPr>
          <a:xfrm>
            <a:off x="9052560" y="1600200"/>
            <a:ext cx="2147400" cy="100440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9144000" y="1847160"/>
            <a:ext cx="1964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b2d42"/>
                </a:solidFill>
                <a:effectLst/>
                <a:uFillTx/>
                <a:latin typeface="Cascadia Mono"/>
              </a:rPr>
              <a:t>add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5"/>
          <p:cNvSpPr/>
          <p:nvPr/>
        </p:nvSpPr>
        <p:spPr>
          <a:xfrm>
            <a:off x="822960" y="3474720"/>
            <a:ext cx="2147400" cy="100440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914400" y="3721680"/>
            <a:ext cx="1964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b2d42"/>
                </a:solidFill>
                <a:effectLst/>
                <a:uFillTx/>
                <a:latin typeface="Cascadia Mono"/>
              </a:rPr>
              <a:t>commit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7"/>
          <p:cNvSpPr/>
          <p:nvPr/>
        </p:nvSpPr>
        <p:spPr>
          <a:xfrm>
            <a:off x="3566160" y="3474720"/>
            <a:ext cx="2147400" cy="100440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8"/>
          <p:cNvSpPr/>
          <p:nvPr/>
        </p:nvSpPr>
        <p:spPr>
          <a:xfrm>
            <a:off x="6386760" y="1872000"/>
            <a:ext cx="1964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b2d42"/>
                </a:solidFill>
                <a:effectLst/>
                <a:uFillTx/>
                <a:latin typeface="Cascadia Mono"/>
              </a:rPr>
              <a:t>status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9"/>
          <p:cNvSpPr/>
          <p:nvPr/>
        </p:nvSpPr>
        <p:spPr>
          <a:xfrm>
            <a:off x="6309360" y="3474720"/>
            <a:ext cx="2147400" cy="100440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0"/>
          <p:cNvSpPr/>
          <p:nvPr/>
        </p:nvSpPr>
        <p:spPr>
          <a:xfrm>
            <a:off x="3566160" y="3780000"/>
            <a:ext cx="1964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b2d42"/>
                </a:solidFill>
                <a:effectLst/>
                <a:uFillTx/>
                <a:latin typeface="Cascadia Mono"/>
              </a:rPr>
              <a:t>log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21"/>
          <p:cNvSpPr/>
          <p:nvPr/>
        </p:nvSpPr>
        <p:spPr>
          <a:xfrm>
            <a:off x="9052560" y="3474720"/>
            <a:ext cx="2147400" cy="100440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2"/>
          <p:cNvSpPr/>
          <p:nvPr/>
        </p:nvSpPr>
        <p:spPr>
          <a:xfrm>
            <a:off x="6480000" y="3780000"/>
            <a:ext cx="19645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b2d42"/>
                </a:solidFill>
                <a:effectLst/>
                <a:uFillTx/>
                <a:latin typeface="Cascadia Mono"/>
              </a:rPr>
              <a:t>diff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3614760" y="1866960"/>
            <a:ext cx="1964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b2d42"/>
                </a:solidFill>
                <a:effectLst/>
                <a:uFillTx/>
                <a:latin typeface="Cascadia Mono"/>
              </a:rPr>
              <a:t>init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9180000" y="3774960"/>
            <a:ext cx="1964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b2d42"/>
                </a:solidFill>
                <a:effectLst/>
                <a:uFillTx/>
                <a:latin typeface="Cascadia Mono"/>
              </a:rPr>
              <a:t>clone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4"/>
          <p:cNvSpPr/>
          <p:nvPr/>
        </p:nvSpPr>
        <p:spPr>
          <a:xfrm>
            <a:off x="567000" y="658440"/>
            <a:ext cx="109713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config - Configurar git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7"/>
          <p:cNvSpPr/>
          <p:nvPr/>
        </p:nvSpPr>
        <p:spPr>
          <a:xfrm>
            <a:off x="731520" y="1325880"/>
            <a:ext cx="6399360" cy="65700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config --global user.name &lt;name&gt;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731520" y="2240280"/>
            <a:ext cx="7496640" cy="11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Declara el nombre de usuario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Otras opciones: user.email, merge.tool, core.editor, alias, etc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Ficheros de configuración: &lt;repo&gt;/.git/config — específicos de repositorio; ~/.git/config — globales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9"/>
          <p:cNvSpPr/>
          <p:nvPr/>
        </p:nvSpPr>
        <p:spPr>
          <a:xfrm>
            <a:off x="8641080" y="1645920"/>
            <a:ext cx="2330280" cy="292464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8915400" y="1920240"/>
            <a:ext cx="17816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b2d42"/>
                </a:solidFill>
                <a:effectLst/>
                <a:uFillTx/>
                <a:latin typeface="Aptos"/>
              </a:rPr>
              <a:t>Configuración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8961120" y="2606040"/>
            <a:ext cx="1644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Repositorio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8961120" y="3246120"/>
            <a:ext cx="1644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Global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9189720" y="2880000"/>
            <a:ext cx="1781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.git/config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9189720" y="3520080"/>
            <a:ext cx="1781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~/.git/config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init - Crear repositorios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7"/>
          <p:cNvSpPr/>
          <p:nvPr/>
        </p:nvSpPr>
        <p:spPr>
          <a:xfrm>
            <a:off x="731520" y="1371600"/>
            <a:ext cx="3473280" cy="65700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init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731520" y="2286000"/>
            <a:ext cx="73137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Transforma el directorio actual en repositorio Git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Se crea directorio .git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init &lt;directorio&gt; — crea un repositorio vacío en el directorio especificado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init --bare &lt;directorio&gt; — inicializa repositorio Git pero omite directorio de trabajo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9"/>
          <p:cNvSpPr/>
          <p:nvPr/>
        </p:nvSpPr>
        <p:spPr>
          <a:xfrm>
            <a:off x="8641080" y="1874520"/>
            <a:ext cx="2193120" cy="205596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8915400" y="2148840"/>
            <a:ext cx="1644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directorio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9235440" y="2743200"/>
            <a:ext cx="1095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.git</a:t>
            </a:r>
            <a:endParaRPr b="0" lang="es-A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731520" y="571500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d24b4b"/>
                </a:solidFill>
                <a:effectLst/>
                <a:uFillTx/>
                <a:latin typeface="Aptos"/>
              </a:rPr>
              <a:t>NOTA: normalmente, esta instrucción solo se realiza una vez.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4"/>
          <p:cNvSpPr/>
          <p:nvPr/>
        </p:nvSpPr>
        <p:spPr>
          <a:xfrm>
            <a:off x="567000" y="658440"/>
            <a:ext cx="109713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status - Observar índice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7"/>
          <p:cNvSpPr/>
          <p:nvPr/>
        </p:nvSpPr>
        <p:spPr>
          <a:xfrm>
            <a:off x="731520" y="1371600"/>
            <a:ext cx="2741760" cy="63864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status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731520" y="2331720"/>
            <a:ext cx="7313760" cy="13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Muestra ficheros staged, unstaged y untracked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staged = en índice pero no en historial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unstaged = modificados pero no añadidos a índice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untracked = en directorio de trabajo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9"/>
          <p:cNvSpPr/>
          <p:nvPr/>
        </p:nvSpPr>
        <p:spPr>
          <a:xfrm>
            <a:off x="8412480" y="1828800"/>
            <a:ext cx="2193120" cy="565560"/>
          </a:xfrm>
          <a:prstGeom prst="roundRect">
            <a:avLst>
              <a:gd name="adj" fmla="val 16667"/>
            </a:avLst>
          </a:prstGeom>
          <a:solidFill>
            <a:srgbClr val="f4c441"/>
          </a:solidFill>
          <a:ln>
            <a:solidFill>
              <a:srgbClr val="f4c4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8549640" y="1984320"/>
            <a:ext cx="19188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staged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11"/>
          <p:cNvSpPr/>
          <p:nvPr/>
        </p:nvSpPr>
        <p:spPr>
          <a:xfrm>
            <a:off x="8412480" y="2788920"/>
            <a:ext cx="2193120" cy="565560"/>
          </a:xfrm>
          <a:prstGeom prst="roundRect">
            <a:avLst>
              <a:gd name="adj" fmla="val 16667"/>
            </a:avLst>
          </a:prstGeom>
          <a:solidFill>
            <a:srgbClr val="d24b4b"/>
          </a:solidFill>
          <a:ln>
            <a:solidFill>
              <a:srgbClr val="d24b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2"/>
          <p:cNvSpPr/>
          <p:nvPr/>
        </p:nvSpPr>
        <p:spPr>
          <a:xfrm>
            <a:off x="8549640" y="2944440"/>
            <a:ext cx="19188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unstaged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3"/>
          <p:cNvSpPr/>
          <p:nvPr/>
        </p:nvSpPr>
        <p:spPr>
          <a:xfrm>
            <a:off x="8412480" y="3749040"/>
            <a:ext cx="2193120" cy="565560"/>
          </a:xfrm>
          <a:prstGeom prst="roundRect">
            <a:avLst>
              <a:gd name="adj" fmla="val 16667"/>
            </a:avLst>
          </a:prstGeom>
          <a:solidFill>
            <a:srgbClr val="4c89c4"/>
          </a:solidFill>
          <a:ln>
            <a:solidFill>
              <a:srgbClr val="4c89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4"/>
          <p:cNvSpPr/>
          <p:nvPr/>
        </p:nvSpPr>
        <p:spPr>
          <a:xfrm>
            <a:off x="8549640" y="3904560"/>
            <a:ext cx="19188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untracked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6840000" y="1070640"/>
            <a:ext cx="1195200" cy="10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add - Añadir al índice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7"/>
          <p:cNvSpPr/>
          <p:nvPr/>
        </p:nvSpPr>
        <p:spPr>
          <a:xfrm>
            <a:off x="731520" y="1371600"/>
            <a:ext cx="4753440" cy="141588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add &lt;fichero&gt;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add &lt;dir&gt;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add --all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731520" y="3154680"/>
            <a:ext cx="6765120" cy="22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Añade fichero o directorio al índice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add --all = añade/borra ficheros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El índice o área de ensayo almacena copias de los ficheros antes de ser incluidos en el historial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8100000" y="658440"/>
            <a:ext cx="2033280" cy="104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commit - Añadir al historial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7"/>
          <p:cNvSpPr/>
          <p:nvPr/>
        </p:nvSpPr>
        <p:spPr>
          <a:xfrm>
            <a:off x="731520" y="1325880"/>
            <a:ext cx="4570560" cy="109584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commit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commit -m "mensaje"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731520" y="2743200"/>
            <a:ext cx="6399360" cy="22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Añade los ficheros del índice al historial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Crea una nueva instantánea “snapshot” del proyecto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Cada instantánea tiene un identificador SHA1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Puede recuperarse posteriormente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Pueden asignarse etiquetas para facilitar su gestión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9"/>
          <p:cNvSpPr/>
          <p:nvPr/>
        </p:nvSpPr>
        <p:spPr>
          <a:xfrm>
            <a:off x="7971840" y="5742360"/>
            <a:ext cx="2467440" cy="5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trike="noStrike" u="none">
                <a:solidFill>
                  <a:srgbClr val="d24b4b"/>
                </a:solidFill>
                <a:effectLst/>
                <a:uFillTx/>
                <a:latin typeface="Aptos"/>
              </a:rPr>
              <a:t>.gitignore: excluir binarios, temporales, configuración y ficheros privados.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7803000" y="1160640"/>
            <a:ext cx="1736280" cy="192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4"/>
          <p:cNvSpPr/>
          <p:nvPr/>
        </p:nvSpPr>
        <p:spPr>
          <a:xfrm>
            <a:off x="567000" y="658440"/>
            <a:ext cx="109713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log - Observar historial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7"/>
          <p:cNvSpPr/>
          <p:nvPr/>
        </p:nvSpPr>
        <p:spPr>
          <a:xfrm>
            <a:off x="731520" y="1325880"/>
            <a:ext cx="2376000" cy="63864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log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731520" y="2148840"/>
            <a:ext cx="41133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Muestra historial de cambios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9"/>
          <p:cNvSpPr/>
          <p:nvPr/>
        </p:nvSpPr>
        <p:spPr>
          <a:xfrm>
            <a:off x="731520" y="2697480"/>
            <a:ext cx="18273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b2d42"/>
                </a:solidFill>
                <a:effectLst/>
                <a:uFillTx/>
                <a:latin typeface="Aptos"/>
              </a:rPr>
              <a:t>Variantes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868680" y="3063240"/>
            <a:ext cx="420480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git log --oneline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1"/>
          <p:cNvSpPr/>
          <p:nvPr/>
        </p:nvSpPr>
        <p:spPr>
          <a:xfrm>
            <a:off x="5074920" y="3063240"/>
            <a:ext cx="292464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Resumen en 1 línea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2"/>
          <p:cNvSpPr/>
          <p:nvPr/>
        </p:nvSpPr>
        <p:spPr>
          <a:xfrm>
            <a:off x="868680" y="3538800"/>
            <a:ext cx="420480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git log --stat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3"/>
          <p:cNvSpPr/>
          <p:nvPr/>
        </p:nvSpPr>
        <p:spPr>
          <a:xfrm>
            <a:off x="5074920" y="3538800"/>
            <a:ext cx="292464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Estadísticas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4"/>
          <p:cNvSpPr/>
          <p:nvPr/>
        </p:nvSpPr>
        <p:spPr>
          <a:xfrm>
            <a:off x="868680" y="4014360"/>
            <a:ext cx="420480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git log -p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5"/>
          <p:cNvSpPr/>
          <p:nvPr/>
        </p:nvSpPr>
        <p:spPr>
          <a:xfrm>
            <a:off x="5074920" y="4014360"/>
            <a:ext cx="292464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Camino completo con diff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6"/>
          <p:cNvSpPr/>
          <p:nvPr/>
        </p:nvSpPr>
        <p:spPr>
          <a:xfrm>
            <a:off x="868680" y="4489560"/>
            <a:ext cx="420480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git log --author="expr"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7"/>
          <p:cNvSpPr/>
          <p:nvPr/>
        </p:nvSpPr>
        <p:spPr>
          <a:xfrm>
            <a:off x="5074920" y="4489560"/>
            <a:ext cx="292464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Commits de un autor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8"/>
          <p:cNvSpPr/>
          <p:nvPr/>
        </p:nvSpPr>
        <p:spPr>
          <a:xfrm>
            <a:off x="868680" y="4965120"/>
            <a:ext cx="420480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git log --grep="expr"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9"/>
          <p:cNvSpPr/>
          <p:nvPr/>
        </p:nvSpPr>
        <p:spPr>
          <a:xfrm>
            <a:off x="5074920" y="4965120"/>
            <a:ext cx="292464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Busca commits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0"/>
          <p:cNvSpPr/>
          <p:nvPr/>
        </p:nvSpPr>
        <p:spPr>
          <a:xfrm>
            <a:off x="868680" y="5440680"/>
            <a:ext cx="420480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git log --graph --decorate --oneline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1"/>
          <p:cNvSpPr/>
          <p:nvPr/>
        </p:nvSpPr>
        <p:spPr>
          <a:xfrm>
            <a:off x="5074920" y="5440680"/>
            <a:ext cx="292464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Muestra grafo de cambios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7897320" y="1620000"/>
            <a:ext cx="1461960" cy="169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4"/>
          <p:cNvSpPr/>
          <p:nvPr/>
        </p:nvSpPr>
        <p:spPr>
          <a:xfrm>
            <a:off x="567000" y="658440"/>
            <a:ext cx="109713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diff - Mostrar diferencias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7"/>
          <p:cNvSpPr/>
          <p:nvPr/>
        </p:nvSpPr>
        <p:spPr>
          <a:xfrm>
            <a:off x="731520" y="1325880"/>
            <a:ext cx="4021920" cy="141588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diff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diff --cached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diff HEAD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731520" y="3108960"/>
            <a:ext cx="6582240" cy="12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diff → directorio de trabajo vs índice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diff --cached → índice vs commit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diff HEAD → directorio de trabajo vs commit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Opciones: --color-words, --stat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6783840" y="1620000"/>
            <a:ext cx="4015440" cy="287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4"/>
          <p:cNvSpPr/>
          <p:nvPr/>
        </p:nvSpPr>
        <p:spPr>
          <a:xfrm>
            <a:off x="567000" y="658440"/>
            <a:ext cx="109713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clone - Clonar repositorios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7"/>
          <p:cNvSpPr/>
          <p:nvPr/>
        </p:nvSpPr>
        <p:spPr>
          <a:xfrm>
            <a:off x="731520" y="1371600"/>
            <a:ext cx="4021920" cy="65700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clone &lt;repo&gt;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731520" y="2286000"/>
            <a:ext cx="7130880" cy="93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Clonar el repositorio &lt;repo&gt; en la máquina local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&lt;repo&gt; puede estar en una máquina remota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Ejemplo: git clone https://github.com/Arquisoft/ObservaTerra.git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9"/>
          <p:cNvSpPr/>
          <p:nvPr/>
        </p:nvSpPr>
        <p:spPr>
          <a:xfrm>
            <a:off x="9609120" y="1971360"/>
            <a:ext cx="2193120" cy="10958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>
            <a:solidFill>
              <a:srgbClr val="2b2d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9792000" y="2199960"/>
            <a:ext cx="1827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Repositorio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remoto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1"/>
          <p:cNvSpPr/>
          <p:nvPr/>
        </p:nvSpPr>
        <p:spPr>
          <a:xfrm>
            <a:off x="5220000" y="4303080"/>
            <a:ext cx="2467440" cy="109584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2"/>
          <p:cNvSpPr/>
          <p:nvPr/>
        </p:nvSpPr>
        <p:spPr>
          <a:xfrm>
            <a:off x="5448600" y="4623120"/>
            <a:ext cx="20102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Máquina local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4" name="Connector 13"/>
          <p:cNvCxnSpPr/>
          <p:nvPr/>
        </p:nvCxnSpPr>
        <p:spPr>
          <a:xfrm flipH="1">
            <a:off x="7688880" y="2885760"/>
            <a:ext cx="1830240" cy="1510200"/>
          </a:xfrm>
          <a:prstGeom prst="straightConnector1">
            <a:avLst/>
          </a:prstGeom>
          <a:ln w="31750">
            <a:solidFill>
              <a:srgbClr val="31a8a4"/>
            </a:solidFill>
            <a:round/>
          </a:ln>
        </p:spPr>
      </p:cxnSp>
      <p:sp>
        <p:nvSpPr>
          <p:cNvPr id="165" name="TextBox 14"/>
          <p:cNvSpPr/>
          <p:nvPr/>
        </p:nvSpPr>
        <p:spPr>
          <a:xfrm>
            <a:off x="8191800" y="3297240"/>
            <a:ext cx="82152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31a8a4"/>
                </a:solidFill>
                <a:effectLst/>
                <a:uFillTx/>
                <a:latin typeface="Aptos"/>
              </a:rPr>
              <a:t>clone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5"/>
          <p:cNvSpPr/>
          <p:nvPr/>
        </p:nvSpPr>
        <p:spPr>
          <a:xfrm>
            <a:off x="731520" y="5715000"/>
            <a:ext cx="868536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d24b4b"/>
                </a:solidFill>
                <a:effectLst/>
                <a:uFillTx/>
                <a:latin typeface="Aptos"/>
              </a:rPr>
              <a:t>NOTA: al igual que init, esta instrucción sólo se realiza una vez.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Deshaciendo cambios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731520" y="1371600"/>
            <a:ext cx="54849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Comandos para deshacer cambios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8"/>
          <p:cNvSpPr/>
          <p:nvPr/>
        </p:nvSpPr>
        <p:spPr>
          <a:xfrm>
            <a:off x="822960" y="2240280"/>
            <a:ext cx="2147400" cy="114156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9"/>
          <p:cNvSpPr/>
          <p:nvPr/>
        </p:nvSpPr>
        <p:spPr>
          <a:xfrm>
            <a:off x="914400" y="2514600"/>
            <a:ext cx="1964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4c89c4"/>
                </a:solidFill>
                <a:effectLst/>
                <a:uFillTx/>
                <a:latin typeface="Cascadia Mono"/>
              </a:rPr>
              <a:t>checkout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0"/>
          <p:cNvSpPr/>
          <p:nvPr/>
        </p:nvSpPr>
        <p:spPr>
          <a:xfrm>
            <a:off x="3566160" y="2240280"/>
            <a:ext cx="2147400" cy="114156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11"/>
          <p:cNvSpPr/>
          <p:nvPr/>
        </p:nvSpPr>
        <p:spPr>
          <a:xfrm>
            <a:off x="3657600" y="2514600"/>
            <a:ext cx="1964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73b847"/>
                </a:solidFill>
                <a:effectLst/>
                <a:uFillTx/>
                <a:latin typeface="Cascadia Mono"/>
              </a:rPr>
              <a:t>revert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2"/>
          <p:cNvSpPr/>
          <p:nvPr/>
        </p:nvSpPr>
        <p:spPr>
          <a:xfrm>
            <a:off x="6309360" y="2240280"/>
            <a:ext cx="2147400" cy="114156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13"/>
          <p:cNvSpPr/>
          <p:nvPr/>
        </p:nvSpPr>
        <p:spPr>
          <a:xfrm>
            <a:off x="6400800" y="2514600"/>
            <a:ext cx="1964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d24b4b"/>
                </a:solidFill>
                <a:effectLst/>
                <a:uFillTx/>
                <a:latin typeface="Cascadia Mono"/>
              </a:rPr>
              <a:t>reset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14"/>
          <p:cNvSpPr/>
          <p:nvPr/>
        </p:nvSpPr>
        <p:spPr>
          <a:xfrm>
            <a:off x="9052560" y="2240280"/>
            <a:ext cx="2147400" cy="114156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5"/>
          <p:cNvSpPr/>
          <p:nvPr/>
        </p:nvSpPr>
        <p:spPr>
          <a:xfrm>
            <a:off x="9144000" y="2514600"/>
            <a:ext cx="1964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4c441"/>
                </a:solidFill>
                <a:effectLst/>
                <a:uFillTx/>
                <a:latin typeface="Cascadia Mono"/>
              </a:rPr>
              <a:t>clean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6"/>
          <p:cNvSpPr/>
          <p:nvPr/>
        </p:nvSpPr>
        <p:spPr>
          <a:xfrm>
            <a:off x="1097280" y="4572000"/>
            <a:ext cx="987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Cada comando actúa sobre una parte diferente del estado o historial.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checkout - Cambiar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720000" y="2700000"/>
            <a:ext cx="7199280" cy="38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Cambia directorio de trabajo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git checkout &lt;c&gt;     / cambiar a commit &lt;c&gt;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Se pasa a estado “detached HEAD”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git checkout &lt;c&gt; &lt;f&gt;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Recupera fichero &lt;f&gt; de commit &lt;c&gt;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Nota: checkout también se utiliza para cambiar a diferentes ramas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8"/>
          <p:cNvSpPr/>
          <p:nvPr/>
        </p:nvSpPr>
        <p:spPr>
          <a:xfrm>
            <a:off x="720000" y="1440000"/>
            <a:ext cx="4753440" cy="95868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checkout &lt;c&gt;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checkout &lt;c&gt; &lt;f&gt;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7567560" y="1241280"/>
            <a:ext cx="2871720" cy="73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" descr=""/>
          <p:cNvPicPr/>
          <p:nvPr/>
        </p:nvPicPr>
        <p:blipFill>
          <a:blip r:embed="rId2"/>
          <a:stretch/>
        </p:blipFill>
        <p:spPr>
          <a:xfrm>
            <a:off x="5459040" y="3225960"/>
            <a:ext cx="2460240" cy="91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3"/>
          <a:stretch/>
        </p:blipFill>
        <p:spPr>
          <a:xfrm>
            <a:off x="4860000" y="4860360"/>
            <a:ext cx="1813320" cy="125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revert - Recuperar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7"/>
          <p:cNvSpPr/>
          <p:nvPr/>
        </p:nvSpPr>
        <p:spPr>
          <a:xfrm>
            <a:off x="731520" y="1371600"/>
            <a:ext cx="3656160" cy="65700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revert &lt;c&gt;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8"/>
          <p:cNvSpPr/>
          <p:nvPr/>
        </p:nvSpPr>
        <p:spPr>
          <a:xfrm>
            <a:off x="731520" y="2331720"/>
            <a:ext cx="6033600" cy="21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Recupera commit &lt;c&gt;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Añade la versión recuperada al historial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Operación “segura”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Permite rastrear cambios en el historial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6480000" y="1160640"/>
            <a:ext cx="2948040" cy="89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4"/>
          <p:cNvSpPr/>
          <p:nvPr/>
        </p:nvSpPr>
        <p:spPr>
          <a:xfrm>
            <a:off x="567000" y="658440"/>
            <a:ext cx="109713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reset – Deshacer cambios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8"/>
          <p:cNvSpPr/>
          <p:nvPr/>
        </p:nvSpPr>
        <p:spPr>
          <a:xfrm>
            <a:off x="731520" y="1874520"/>
            <a:ext cx="3839040" cy="141588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reset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reset –hard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reset &lt;c&gt;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9"/>
          <p:cNvSpPr/>
          <p:nvPr/>
        </p:nvSpPr>
        <p:spPr>
          <a:xfrm>
            <a:off x="709200" y="3600000"/>
            <a:ext cx="7750080" cy="93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reset → deshace cambios en índice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reset --hard → deshace cambios en índice y directorio de trabajo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reset &lt;c&gt; → deshacer cambios y recuperar commit &lt;c&gt;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0"/>
          <p:cNvSpPr/>
          <p:nvPr/>
        </p:nvSpPr>
        <p:spPr>
          <a:xfrm>
            <a:off x="5040000" y="198000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d24b4b"/>
                </a:solidFill>
                <a:effectLst/>
                <a:uFillTx/>
                <a:latin typeface="Aptos"/>
              </a:rPr>
              <a:t>Operación no segura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1"/>
          <p:cNvSpPr/>
          <p:nvPr/>
        </p:nvSpPr>
        <p:spPr>
          <a:xfrm>
            <a:off x="731520" y="5486400"/>
            <a:ext cx="98740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d24b4b"/>
                </a:solidFill>
                <a:effectLst/>
                <a:uFillTx/>
                <a:latin typeface="Aptos"/>
              </a:rPr>
              <a:t>NOTA: es peligroso hacer reset en repositorios ya publicados. Es mejor utilizar revert.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8460000" y="407880"/>
            <a:ext cx="2978280" cy="175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clean - Limpiar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7"/>
          <p:cNvSpPr/>
          <p:nvPr/>
        </p:nvSpPr>
        <p:spPr>
          <a:xfrm>
            <a:off x="731520" y="1371600"/>
            <a:ext cx="4570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Borrar ficheros locales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8"/>
          <p:cNvSpPr/>
          <p:nvPr/>
        </p:nvSpPr>
        <p:spPr>
          <a:xfrm>
            <a:off x="731520" y="1965960"/>
            <a:ext cx="3656160" cy="100440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clean -f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clean -n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9"/>
          <p:cNvSpPr/>
          <p:nvPr/>
        </p:nvSpPr>
        <p:spPr>
          <a:xfrm>
            <a:off x="731520" y="3383280"/>
            <a:ext cx="639936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clean -f → borra ficheros untracked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clean -n → muestra qué ficheros se borrarían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4"/>
          <p:cNvSpPr/>
          <p:nvPr/>
        </p:nvSpPr>
        <p:spPr>
          <a:xfrm>
            <a:off x="731520" y="534924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d24b4b"/>
                </a:solidFill>
                <a:effectLst/>
                <a:uFillTx/>
                <a:latin typeface="Aptos"/>
              </a:rPr>
              <a:t>Peligroso: se pueden perder cambios locales.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" descr=""/>
          <p:cNvPicPr/>
          <p:nvPr/>
        </p:nvPicPr>
        <p:blipFill>
          <a:blip r:embed="rId1"/>
          <a:stretch/>
        </p:blipFill>
        <p:spPr>
          <a:xfrm>
            <a:off x="7624080" y="1080000"/>
            <a:ext cx="1195200" cy="10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Ramas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7"/>
          <p:cNvSpPr/>
          <p:nvPr/>
        </p:nvSpPr>
        <p:spPr>
          <a:xfrm>
            <a:off x="1005840" y="1965960"/>
            <a:ext cx="2924640" cy="132444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8"/>
          <p:cNvSpPr/>
          <p:nvPr/>
        </p:nvSpPr>
        <p:spPr>
          <a:xfrm>
            <a:off x="1097280" y="2331720"/>
            <a:ext cx="2741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7c63aa"/>
                </a:solidFill>
                <a:effectLst/>
                <a:uFillTx/>
                <a:latin typeface="Cascadia Mono"/>
              </a:rPr>
              <a:t>branch</a:t>
            </a:r>
            <a:endParaRPr b="0" lang="es-A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3" name="Connector 9"/>
          <p:cNvCxnSpPr/>
          <p:nvPr/>
        </p:nvCxnSpPr>
        <p:spPr>
          <a:xfrm>
            <a:off x="3931920" y="2633400"/>
            <a:ext cx="550080" cy="1440"/>
          </a:xfrm>
          <a:prstGeom prst="straightConnector1">
            <a:avLst/>
          </a:prstGeom>
          <a:ln w="0">
            <a:solidFill>
              <a:srgbClr val="696e78"/>
            </a:solidFill>
          </a:ln>
        </p:spPr>
      </p:cxnSp>
      <p:sp>
        <p:nvSpPr>
          <p:cNvPr id="204" name="Rounded Rectangle 10"/>
          <p:cNvSpPr/>
          <p:nvPr/>
        </p:nvSpPr>
        <p:spPr>
          <a:xfrm>
            <a:off x="4663440" y="1965960"/>
            <a:ext cx="2924640" cy="132444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4754880" y="2331720"/>
            <a:ext cx="2741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4c89c4"/>
                </a:solidFill>
                <a:effectLst/>
                <a:uFillTx/>
                <a:latin typeface="Cascadia Mono"/>
              </a:rPr>
              <a:t>checkout</a:t>
            </a:r>
            <a:endParaRPr b="0" lang="es-A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6" name="Connector 12"/>
          <p:cNvCxnSpPr/>
          <p:nvPr/>
        </p:nvCxnSpPr>
        <p:spPr>
          <a:xfrm>
            <a:off x="7589520" y="2633400"/>
            <a:ext cx="549720" cy="1440"/>
          </a:xfrm>
          <a:prstGeom prst="straightConnector1">
            <a:avLst/>
          </a:prstGeom>
          <a:ln w="0">
            <a:solidFill>
              <a:srgbClr val="696e78"/>
            </a:solidFill>
          </a:ln>
        </p:spPr>
      </p:cxnSp>
      <p:sp>
        <p:nvSpPr>
          <p:cNvPr id="207" name="Rounded Rectangle 13"/>
          <p:cNvSpPr/>
          <p:nvPr/>
        </p:nvSpPr>
        <p:spPr>
          <a:xfrm>
            <a:off x="8321040" y="1965960"/>
            <a:ext cx="2924640" cy="132444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8412480" y="2331720"/>
            <a:ext cx="2741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73b847"/>
                </a:solidFill>
                <a:effectLst/>
                <a:uFillTx/>
                <a:latin typeface="Cascadia Mono"/>
              </a:rPr>
              <a:t>merge</a:t>
            </a:r>
            <a:endParaRPr b="0" lang="es-A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branch - Ramas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731520" y="1325880"/>
            <a:ext cx="3656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Gestión de ramas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8"/>
          <p:cNvSpPr/>
          <p:nvPr/>
        </p:nvSpPr>
        <p:spPr>
          <a:xfrm>
            <a:off x="731520" y="1874520"/>
            <a:ext cx="4753440" cy="219312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branch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branch &lt;r&gt;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branch -d &lt;r&gt;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branch -D &lt;r&gt;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branch -m &lt;r&gt;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720000" y="4389840"/>
            <a:ext cx="7379280" cy="15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Muestra las ramas existentes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Crear la rama &lt;r&gt;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-d Borrar rama &lt;r&gt; — segura (no borra si hay merge pendientes)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-D Borrar rama &lt;r&gt; — insegura (borra la rama y sus commits)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Renombrar rama actual a &lt;r&gt;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7409880" y="1079280"/>
            <a:ext cx="2589840" cy="156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checkout - Cambiar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7"/>
          <p:cNvSpPr/>
          <p:nvPr/>
        </p:nvSpPr>
        <p:spPr>
          <a:xfrm>
            <a:off x="731520" y="132588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Cambiar a una rama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8"/>
          <p:cNvSpPr/>
          <p:nvPr/>
        </p:nvSpPr>
        <p:spPr>
          <a:xfrm>
            <a:off x="731520" y="1874520"/>
            <a:ext cx="4570560" cy="150732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checkout &lt;r&gt;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checkout master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checkout -b &lt;r&gt;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9"/>
          <p:cNvSpPr/>
          <p:nvPr/>
        </p:nvSpPr>
        <p:spPr>
          <a:xfrm>
            <a:off x="731520" y="3703320"/>
            <a:ext cx="6399360" cy="12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Cambia a la rama existente &lt;r&gt;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Cambia a rama master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Crear rama &lt;r&gt; y cambiar a ella 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	</a:t>
            </a: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Equivalente a: git branch &lt;r&gt; + git checkout &lt;r&gt;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7740000" y="900000"/>
            <a:ext cx="1957320" cy="191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merge - Combinar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7"/>
          <p:cNvSpPr/>
          <p:nvPr/>
        </p:nvSpPr>
        <p:spPr>
          <a:xfrm>
            <a:off x="731520" y="132588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Combinar dos ramas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8"/>
          <p:cNvSpPr/>
          <p:nvPr/>
        </p:nvSpPr>
        <p:spPr>
          <a:xfrm>
            <a:off x="731520" y="1874520"/>
            <a:ext cx="4570560" cy="105012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merge &lt;r&gt;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merge --no-ff &lt;r&gt;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9"/>
          <p:cNvSpPr/>
          <p:nvPr/>
        </p:nvSpPr>
        <p:spPr>
          <a:xfrm>
            <a:off x="731520" y="3246120"/>
            <a:ext cx="658224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Mezclar rama actual con &lt;r&gt;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Mezclar generando commit de mezcla (más seguro)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" descr=""/>
          <p:cNvPicPr/>
          <p:nvPr/>
        </p:nvPicPr>
        <p:blipFill>
          <a:blip r:embed="rId1"/>
          <a:stretch/>
        </p:blipFill>
        <p:spPr>
          <a:xfrm>
            <a:off x="7200000" y="658440"/>
            <a:ext cx="2284920" cy="172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merge fast-forward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7"/>
          <p:cNvSpPr/>
          <p:nvPr/>
        </p:nvSpPr>
        <p:spPr>
          <a:xfrm>
            <a:off x="731520" y="1325880"/>
            <a:ext cx="6216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Cuando hay camino lineal entre rama actual y rama a mezclar</a:t>
            </a:r>
            <a:endParaRPr b="0" lang="es-A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8"/>
          <p:cNvSpPr/>
          <p:nvPr/>
        </p:nvSpPr>
        <p:spPr>
          <a:xfrm>
            <a:off x="822960" y="2240280"/>
            <a:ext cx="912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Antes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1"/>
          <p:cNvSpPr/>
          <p:nvPr/>
        </p:nvSpPr>
        <p:spPr>
          <a:xfrm>
            <a:off x="822960" y="425196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Después de git merge master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1440000" y="2513880"/>
            <a:ext cx="2893320" cy="16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" descr=""/>
          <p:cNvPicPr/>
          <p:nvPr/>
        </p:nvPicPr>
        <p:blipFill>
          <a:blip r:embed="rId2"/>
          <a:stretch/>
        </p:blipFill>
        <p:spPr>
          <a:xfrm>
            <a:off x="1279800" y="4860000"/>
            <a:ext cx="3399480" cy="147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" descr=""/>
          <p:cNvPicPr/>
          <p:nvPr/>
        </p:nvPicPr>
        <p:blipFill>
          <a:blip r:embed="rId1"/>
          <a:stretch/>
        </p:blipFill>
        <p:spPr>
          <a:xfrm>
            <a:off x="1080000" y="2224440"/>
            <a:ext cx="3419280" cy="209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3 way merge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7"/>
          <p:cNvSpPr/>
          <p:nvPr/>
        </p:nvSpPr>
        <p:spPr>
          <a:xfrm>
            <a:off x="731520" y="1325880"/>
            <a:ext cx="68565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Cuando las ramas divergen y no se puede hacer fast-forward</a:t>
            </a:r>
            <a:endParaRPr b="0" lang="es-A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3"/>
          <p:cNvSpPr/>
          <p:nvPr/>
        </p:nvSpPr>
        <p:spPr>
          <a:xfrm>
            <a:off x="6400800" y="1965960"/>
            <a:ext cx="3198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d24b4b"/>
                </a:solidFill>
                <a:effectLst/>
                <a:uFillTx/>
                <a:latin typeface="Aptos"/>
              </a:rPr>
              <a:t>Si aparecen conflictos: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4"/>
          <p:cNvSpPr/>
          <p:nvPr/>
        </p:nvSpPr>
        <p:spPr>
          <a:xfrm>
            <a:off x="6400800" y="2468880"/>
            <a:ext cx="3381840" cy="11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status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Editar/corregir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add 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commit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5"/>
          <p:cNvSpPr/>
          <p:nvPr/>
        </p:nvSpPr>
        <p:spPr>
          <a:xfrm>
            <a:off x="886320" y="2292120"/>
            <a:ext cx="912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Antes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6"/>
          <p:cNvSpPr/>
          <p:nvPr/>
        </p:nvSpPr>
        <p:spPr>
          <a:xfrm>
            <a:off x="900000" y="4272120"/>
            <a:ext cx="2284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Después de git merge r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2"/>
          <a:stretch/>
        </p:blipFill>
        <p:spPr>
          <a:xfrm>
            <a:off x="1302840" y="4753800"/>
            <a:ext cx="3736440" cy="190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Repositorios remotos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7"/>
          <p:cNvSpPr/>
          <p:nvPr/>
        </p:nvSpPr>
        <p:spPr>
          <a:xfrm>
            <a:off x="777240" y="1828800"/>
            <a:ext cx="2330280" cy="12787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8"/>
          <p:cNvSpPr/>
          <p:nvPr/>
        </p:nvSpPr>
        <p:spPr>
          <a:xfrm>
            <a:off x="868680" y="2240280"/>
            <a:ext cx="2147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4c89c4"/>
                </a:solidFill>
                <a:effectLst/>
                <a:uFillTx/>
                <a:latin typeface="Cascadia Mono"/>
              </a:rPr>
              <a:t>remote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1" name="Connector 9"/>
          <p:cNvCxnSpPr/>
          <p:nvPr/>
        </p:nvCxnSpPr>
        <p:spPr>
          <a:xfrm>
            <a:off x="3108960" y="2468880"/>
            <a:ext cx="367200" cy="1440"/>
          </a:xfrm>
          <a:prstGeom prst="straightConnector1">
            <a:avLst/>
          </a:prstGeom>
          <a:ln w="0">
            <a:solidFill>
              <a:srgbClr val="696e78"/>
            </a:solidFill>
          </a:ln>
        </p:spPr>
      </p:cxnSp>
      <p:sp>
        <p:nvSpPr>
          <p:cNvPr id="242" name="Rounded Rectangle 10"/>
          <p:cNvSpPr/>
          <p:nvPr/>
        </p:nvSpPr>
        <p:spPr>
          <a:xfrm>
            <a:off x="3566160" y="1828800"/>
            <a:ext cx="2330280" cy="12787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43" name="Connector 12"/>
          <p:cNvCxnSpPr/>
          <p:nvPr/>
        </p:nvCxnSpPr>
        <p:spPr>
          <a:xfrm>
            <a:off x="5897520" y="2468880"/>
            <a:ext cx="367560" cy="1440"/>
          </a:xfrm>
          <a:prstGeom prst="straightConnector1">
            <a:avLst/>
          </a:prstGeom>
          <a:ln w="0">
            <a:solidFill>
              <a:srgbClr val="696e78"/>
            </a:solidFill>
          </a:ln>
        </p:spPr>
      </p:cxnSp>
      <p:sp>
        <p:nvSpPr>
          <p:cNvPr id="244" name="Rounded Rectangle 13"/>
          <p:cNvSpPr/>
          <p:nvPr/>
        </p:nvSpPr>
        <p:spPr>
          <a:xfrm>
            <a:off x="6355080" y="1828800"/>
            <a:ext cx="2330280" cy="12787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45" name="Connector 15"/>
          <p:cNvCxnSpPr/>
          <p:nvPr/>
        </p:nvCxnSpPr>
        <p:spPr>
          <a:xfrm>
            <a:off x="8686800" y="2468880"/>
            <a:ext cx="366840" cy="1440"/>
          </a:xfrm>
          <a:prstGeom prst="straightConnector1">
            <a:avLst/>
          </a:prstGeom>
          <a:ln w="0">
            <a:solidFill>
              <a:srgbClr val="696e78"/>
            </a:solidFill>
          </a:ln>
        </p:spPr>
      </p:cxnSp>
      <p:sp>
        <p:nvSpPr>
          <p:cNvPr id="246" name="Rounded Rectangle 16"/>
          <p:cNvSpPr/>
          <p:nvPr/>
        </p:nvSpPr>
        <p:spPr>
          <a:xfrm>
            <a:off x="9144000" y="1828800"/>
            <a:ext cx="2330280" cy="12787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7"/>
          <p:cNvSpPr/>
          <p:nvPr/>
        </p:nvSpPr>
        <p:spPr>
          <a:xfrm>
            <a:off x="3612240" y="2207160"/>
            <a:ext cx="2147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d24b4b"/>
                </a:solidFill>
                <a:effectLst/>
                <a:uFillTx/>
                <a:latin typeface="Cascadia Mono"/>
              </a:rPr>
              <a:t>push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8"/>
          <p:cNvSpPr/>
          <p:nvPr/>
        </p:nvSpPr>
        <p:spPr>
          <a:xfrm>
            <a:off x="2194560" y="4251960"/>
            <a:ext cx="7862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696e78"/>
                </a:solidFill>
                <a:effectLst/>
                <a:uFillTx/>
                <a:latin typeface="Aptos"/>
              </a:rPr>
              <a:t>Conectar, traer, traer y mezclar, enviar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1"/>
          <p:cNvSpPr/>
          <p:nvPr/>
        </p:nvSpPr>
        <p:spPr>
          <a:xfrm>
            <a:off x="6480000" y="2263320"/>
            <a:ext cx="2147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7c63aa"/>
                </a:solidFill>
                <a:effectLst/>
                <a:uFillTx/>
                <a:latin typeface="Cascadia Mono"/>
              </a:rPr>
              <a:t>fetch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4"/>
          <p:cNvSpPr/>
          <p:nvPr/>
        </p:nvSpPr>
        <p:spPr>
          <a:xfrm>
            <a:off x="9192240" y="2232000"/>
            <a:ext cx="2147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73b847"/>
                </a:solidFill>
                <a:effectLst/>
                <a:uFillTx/>
                <a:latin typeface="Cascadia Mono"/>
              </a:rPr>
              <a:t>pull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remote - Conectar repositorios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7"/>
          <p:cNvSpPr/>
          <p:nvPr/>
        </p:nvSpPr>
        <p:spPr>
          <a:xfrm>
            <a:off x="731520" y="1325880"/>
            <a:ext cx="5850720" cy="196452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remote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remote add &lt;nombre&gt; &lt;uri&gt;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remote rm &lt;nombre&gt;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remote rename &lt;nombre&gt; &lt;nuevo_nombre&gt;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8"/>
          <p:cNvSpPr/>
          <p:nvPr/>
        </p:nvSpPr>
        <p:spPr>
          <a:xfrm>
            <a:off x="923040" y="3566160"/>
            <a:ext cx="4296240" cy="21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remote → muestra repositorios remotos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remote add → conecta un nuevo repositorio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remote rm → elimina la conexión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remote rename → renombra el remoto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8100000" y="1440000"/>
            <a:ext cx="2406960" cy="100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Box 32"/>
          <p:cNvSpPr/>
          <p:nvPr/>
        </p:nvSpPr>
        <p:spPr>
          <a:xfrm>
            <a:off x="7560000" y="5040000"/>
            <a:ext cx="3959280" cy="13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Nota: 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git clone crea automaticamente una conexion llamada origin.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Es posible tener conexiones a mas de un repositorio externo.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4"/>
          <p:cNvSpPr/>
          <p:nvPr/>
        </p:nvSpPr>
        <p:spPr>
          <a:xfrm>
            <a:off x="567000" y="658440"/>
            <a:ext cx="109713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push - enviar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7"/>
          <p:cNvSpPr/>
          <p:nvPr/>
        </p:nvSpPr>
        <p:spPr>
          <a:xfrm>
            <a:off x="731520" y="1325880"/>
            <a:ext cx="4844880" cy="65700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push &lt;remoto&gt; &lt;rama&gt;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8"/>
          <p:cNvSpPr/>
          <p:nvPr/>
        </p:nvSpPr>
        <p:spPr>
          <a:xfrm>
            <a:off x="731520" y="2331720"/>
            <a:ext cx="6399360" cy="12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Envía commits del repositorio local al remoto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 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Variante: git push &lt;remoto&gt; --all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	</a:t>
            </a:r>
            <a:r>
              <a:rPr b="0" lang="en-US" sz="16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Enviar todas las ramas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7740000" y="733680"/>
            <a:ext cx="2185920" cy="106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fetch - traer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7"/>
          <p:cNvSpPr/>
          <p:nvPr/>
        </p:nvSpPr>
        <p:spPr>
          <a:xfrm>
            <a:off x="731520" y="1325880"/>
            <a:ext cx="4570560" cy="109584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fetch &lt;remote&gt;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fetch &lt;remote&gt; &lt;rama&gt;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8"/>
          <p:cNvSpPr/>
          <p:nvPr/>
        </p:nvSpPr>
        <p:spPr>
          <a:xfrm>
            <a:off x="731520" y="2743200"/>
            <a:ext cx="6490800" cy="24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Traer elementos de repositorio remoto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Permite descargar ramas externas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Operación segura: no mezcla con ficheros locales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fetch &lt;remote&gt; → descarga todas las ramas del repositorio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git fetch &lt;remote&gt; &lt;rama&gt; → descarga la rama &lt;rama&gt;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1"/>
          <a:stretch/>
        </p:blipFill>
        <p:spPr>
          <a:xfrm>
            <a:off x="7882920" y="1012680"/>
            <a:ext cx="2376360" cy="96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27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pull - traer y mezclar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"/>
          <p:cNvSpPr/>
          <p:nvPr/>
        </p:nvSpPr>
        <p:spPr>
          <a:xfrm>
            <a:off x="731520" y="1325880"/>
            <a:ext cx="3656160" cy="65700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>
            <a:solidFill>
              <a:srgbClr val="e2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1098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26283a"/>
                </a:solidFill>
                <a:effectLst/>
                <a:uFillTx/>
                <a:latin typeface="Cascadia Mono"/>
              </a:rPr>
              <a:t>git pull &lt;remoto&gt;</a:t>
            </a:r>
            <a:endParaRPr b="0" lang="es-A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35"/>
          <p:cNvSpPr/>
          <p:nvPr/>
        </p:nvSpPr>
        <p:spPr>
          <a:xfrm>
            <a:off x="731520" y="2331720"/>
            <a:ext cx="59421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Trae un repositorio remoto y lo mezcla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• Equivale a: git fetch + git merge FETCH_HEAD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2"/>
          <p:cNvSpPr/>
          <p:nvPr/>
        </p:nvSpPr>
        <p:spPr>
          <a:xfrm>
            <a:off x="7651800" y="2740320"/>
            <a:ext cx="2101680" cy="63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>
            <a:solidFill>
              <a:srgbClr val="2b2d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36"/>
          <p:cNvSpPr/>
          <p:nvPr/>
        </p:nvSpPr>
        <p:spPr>
          <a:xfrm>
            <a:off x="7788960" y="2923200"/>
            <a:ext cx="1827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Repositorio remoto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3"/>
          <p:cNvSpPr/>
          <p:nvPr/>
        </p:nvSpPr>
        <p:spPr>
          <a:xfrm>
            <a:off x="7651800" y="4020480"/>
            <a:ext cx="2101680" cy="638640"/>
          </a:xfrm>
          <a:prstGeom prst="roundRect">
            <a:avLst>
              <a:gd name="adj" fmla="val 16667"/>
            </a:avLst>
          </a:prstGeom>
          <a:solidFill>
            <a:srgbClr val="f4c441"/>
          </a:solidFill>
          <a:ln>
            <a:solidFill>
              <a:srgbClr val="f4c4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37"/>
          <p:cNvSpPr/>
          <p:nvPr/>
        </p:nvSpPr>
        <p:spPr>
          <a:xfrm>
            <a:off x="7788960" y="4203360"/>
            <a:ext cx="1827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FETCH_HEAD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4"/>
          <p:cNvSpPr/>
          <p:nvPr/>
        </p:nvSpPr>
        <p:spPr>
          <a:xfrm>
            <a:off x="7651800" y="5300640"/>
            <a:ext cx="2101680" cy="638640"/>
          </a:xfrm>
          <a:prstGeom prst="roundRect">
            <a:avLst>
              <a:gd name="adj" fmla="val 16667"/>
            </a:avLst>
          </a:prstGeom>
          <a:solidFill>
            <a:srgbClr val="73b847"/>
          </a:solidFill>
          <a:ln>
            <a:solidFill>
              <a:srgbClr val="73b84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38"/>
          <p:cNvSpPr/>
          <p:nvPr/>
        </p:nvSpPr>
        <p:spPr>
          <a:xfrm>
            <a:off x="7788960" y="5483520"/>
            <a:ext cx="1827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Historial local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Connector 3"/>
          <p:cNvCxnSpPr/>
          <p:nvPr/>
        </p:nvCxnSpPr>
        <p:spPr>
          <a:xfrm>
            <a:off x="8703360" y="3426120"/>
            <a:ext cx="1440" cy="504360"/>
          </a:xfrm>
          <a:prstGeom prst="straightConnector1">
            <a:avLst/>
          </a:prstGeom>
          <a:ln w="0">
            <a:solidFill>
              <a:srgbClr val="31a8a4"/>
            </a:solidFill>
          </a:ln>
        </p:spPr>
      </p:cxnSp>
      <p:cxnSp>
        <p:nvCxnSpPr>
          <p:cNvPr id="274" name="Connector 4"/>
          <p:cNvCxnSpPr/>
          <p:nvPr/>
        </p:nvCxnSpPr>
        <p:spPr>
          <a:xfrm>
            <a:off x="8703360" y="4705920"/>
            <a:ext cx="1440" cy="504720"/>
          </a:xfrm>
          <a:prstGeom prst="straightConnector1">
            <a:avLst/>
          </a:prstGeom>
          <a:ln w="0">
            <a:solidFill>
              <a:srgbClr val="31a8a4"/>
            </a:solidFill>
          </a:ln>
        </p:spPr>
      </p:cxnSp>
      <p:sp>
        <p:nvSpPr>
          <p:cNvPr id="275" name="TextBox 39"/>
          <p:cNvSpPr/>
          <p:nvPr/>
        </p:nvSpPr>
        <p:spPr>
          <a:xfrm>
            <a:off x="9800640" y="3654720"/>
            <a:ext cx="638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31a8a4"/>
                </a:solidFill>
                <a:effectLst/>
                <a:uFillTx/>
                <a:latin typeface="Aptos"/>
              </a:rPr>
              <a:t>fetch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40"/>
          <p:cNvSpPr/>
          <p:nvPr/>
        </p:nvSpPr>
        <p:spPr>
          <a:xfrm>
            <a:off x="9800640" y="4934880"/>
            <a:ext cx="638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31a8a4"/>
                </a:solidFill>
                <a:effectLst/>
                <a:uFillTx/>
                <a:latin typeface="Aptos"/>
              </a:rPr>
              <a:t>merge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" descr=""/>
          <p:cNvPicPr/>
          <p:nvPr/>
        </p:nvPicPr>
        <p:blipFill>
          <a:blip r:embed="rId1"/>
          <a:stretch/>
        </p:blipFill>
        <p:spPr>
          <a:xfrm>
            <a:off x="7200000" y="540000"/>
            <a:ext cx="2117160" cy="104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29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Github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33"/>
          <p:cNvSpPr/>
          <p:nvPr/>
        </p:nvSpPr>
        <p:spPr>
          <a:xfrm>
            <a:off x="731520" y="1325880"/>
            <a:ext cx="6399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Herramienta de codificación social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34"/>
          <p:cNvSpPr/>
          <p:nvPr/>
        </p:nvSpPr>
        <p:spPr>
          <a:xfrm>
            <a:off x="731520" y="2011680"/>
            <a:ext cx="6399360" cy="36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Plataforma para alojar y colaborar en proyectos Git.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Permite alojar repositorios Git remotos.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Facilita la gestión de proyectos de código abierto.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Los repositorios pueden ser: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	</a:t>
            </a: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Públicos → accesibles para cualquier usuario.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 </a:t>
            </a: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	</a:t>
            </a: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Privados → acceso restringido.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Permite gestionar: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Issues → incidencias y tareas.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Wiki → documentación del proyecto.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Usuarios y permisos. 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Seguimiento de cambios y actividad del repositorio.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Box 4"/>
          <p:cNvSpPr/>
          <p:nvPr/>
        </p:nvSpPr>
        <p:spPr>
          <a:xfrm>
            <a:off x="567000" y="658440"/>
            <a:ext cx="109713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Clientes GIT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7"/>
          <p:cNvSpPr/>
          <p:nvPr/>
        </p:nvSpPr>
        <p:spPr>
          <a:xfrm>
            <a:off x="731520" y="1325880"/>
            <a:ext cx="731376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Principales Clientes Git GUI y Terminal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8"/>
          <p:cNvSpPr/>
          <p:nvPr/>
        </p:nvSpPr>
        <p:spPr>
          <a:xfrm>
            <a:off x="731520" y="1920240"/>
            <a:ext cx="6765120" cy="38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GitKraken: Excelente para equipos y colaboración visual avanzada, con una interfaz muy elegante multiplataforma.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Fork: Considerado por muchos el mejor cliente de escritorio en general por su rapidez, diseño limpio y gran rendimiento.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GitHub Desktop: La mejor opción totalmente gratuita y sencilla para principiantes o usuarios enfocados en GitHub.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Sourcetree: Una alternativa gráfica clásica y gratuita de Atlassian para Windows y Mac.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601"/>
              </a:spcAft>
              <a:buClr>
                <a:srgbClr val="1e1f24"/>
              </a:buClr>
              <a:buFont typeface="Wingdings" charset="2"/>
              <a:buChar char=""/>
            </a:pPr>
            <a:r>
              <a:rPr b="0" lang="en-US" sz="1500" strike="noStrike" u="none">
                <a:solidFill>
                  <a:srgbClr val="1e1f24"/>
                </a:solidFill>
                <a:effectLst/>
                <a:uFillTx/>
                <a:latin typeface="Aptos"/>
              </a:rPr>
              <a:t>Lazygit: La opción predilecta si buscas una interfaz de terminal rápida controlada por el teclado.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4"/>
          <p:cNvSpPr/>
          <p:nvPr/>
        </p:nvSpPr>
        <p:spPr>
          <a:xfrm>
            <a:off x="567000" y="6584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26283a"/>
                </a:solidFill>
                <a:effectLst/>
                <a:uFillTx/>
                <a:latin typeface="Aptos"/>
              </a:rPr>
              <a:t>Referencias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8"/>
          <p:cNvSpPr/>
          <p:nvPr/>
        </p:nvSpPr>
        <p:spPr>
          <a:xfrm>
            <a:off x="914400" y="2548800"/>
            <a:ext cx="5942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http://git-scm.com/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9"/>
          <p:cNvSpPr/>
          <p:nvPr/>
        </p:nvSpPr>
        <p:spPr>
          <a:xfrm>
            <a:off x="914400" y="2987640"/>
            <a:ext cx="5942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https://learngitbranching.js.org/?locale=es_AR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0"/>
          <p:cNvSpPr/>
          <p:nvPr/>
        </p:nvSpPr>
        <p:spPr>
          <a:xfrm>
            <a:off x="914400" y="3426480"/>
            <a:ext cx="5942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http://training.github.com/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1"/>
          <p:cNvSpPr/>
          <p:nvPr/>
        </p:nvSpPr>
        <p:spPr>
          <a:xfrm>
            <a:off x="900000" y="2160000"/>
            <a:ext cx="5942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31a8a4"/>
                </a:solidFill>
                <a:effectLst/>
                <a:uFillTx/>
                <a:latin typeface="Cascadia Mono"/>
              </a:rPr>
              <a:t>http://www.github.com/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es-AR</dc:language>
  <cp:lastModifiedBy/>
  <dcterms:modified xsi:type="dcterms:W3CDTF">2026-08-12T19:25:21Z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