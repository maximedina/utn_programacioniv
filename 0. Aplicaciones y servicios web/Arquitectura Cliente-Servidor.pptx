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F79F27C-D2D3-40FE-B2D2-20341AC2614B}" type="slidenum"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s-A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04AAD59-0CDC-40EE-96E4-F314036942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A45393-81CE-4243-8D0A-404F932ACDD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4531AA-CB6E-4FEE-829B-C5DA1E1D453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185D3A-32FA-4990-9D0E-114774DD20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86C01CE-96D6-466C-8E25-BFEDD0B5E9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F69F21-1546-4197-A4F7-4D33F52DD3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C435FD-8E0D-4BEC-93A7-CFFFE62D6B4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68B0AE-41D1-4773-936C-1E73EF6B224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D45125-364B-43FD-894E-070BD84F17D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9C39C8-4A9C-432C-BC1C-268DAFE5DA2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6AA603-8BD8-49F6-BBCC-CCA82178C27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6397842-E35D-49A4-AE9D-2271F7FFD6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3F35153-2E17-46BF-B46E-99937AF4DE0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B882EE2-A628-40CF-B776-0F61C55669F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008FF8-E17A-4381-826E-9DB3C0F8AD6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836939-76DA-4671-BFC8-A07E8E9BD1F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A734E6-254A-45C0-9D66-ECE9D670C87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85FD17-CEB5-4C52-8A0B-82FF525EF84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F7C269-BCB9-47AE-8687-68ECA5F0199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E4B445-11C7-4675-9BA1-345479D107A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es-A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A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2"/>
          <p:cNvSpPr/>
          <p:nvPr/>
        </p:nvSpPr>
        <p:spPr>
          <a:xfrm>
            <a:off x="777240" y="2697480"/>
            <a:ext cx="100576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Arquitectura Cliente-Servidor</a:t>
            </a:r>
            <a:endParaRPr b="0" lang="es-A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3"/>
          <p:cNvSpPr/>
          <p:nvPr/>
        </p:nvSpPr>
        <p:spPr>
          <a:xfrm>
            <a:off x="822960" y="3886200"/>
            <a:ext cx="88689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Modelo de comunicación, capas, protocolos y patrones que sostienen el desarrollo web moderno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"/>
          <p:cNvSpPr/>
          <p:nvPr/>
        </p:nvSpPr>
        <p:spPr>
          <a:xfrm>
            <a:off x="548640" y="822960"/>
            <a:ext cx="7771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El modelo Cliente-Servidor</a:t>
            </a:r>
            <a:endParaRPr b="0" lang="es-A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2"/>
          <p:cNvSpPr/>
          <p:nvPr/>
        </p:nvSpPr>
        <p:spPr>
          <a:xfrm>
            <a:off x="548640" y="1600200"/>
            <a:ext cx="484560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Un sistema distribuido divide el trabajo en dos roles claros: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El Cliente solicita un servicio o recurso (por ejemplo, un navegador web).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El Servidor procesa la solicitud y devuelve una respuesta (por ejemplo, una API o base de datos).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8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Ambos pueden estar en máquinas distintas, comunicándose en red.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6035040" y="1920240"/>
            <a:ext cx="2102400" cy="1188000"/>
          </a:xfrm>
          <a:prstGeom prst="roundRect">
            <a:avLst>
              <a:gd name="adj" fmla="val 6154"/>
            </a:avLst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6035040" y="205740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CLIENTE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6035040" y="246888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9d9d9"/>
                </a:solidFill>
                <a:effectLst/>
                <a:uFillTx/>
                <a:latin typeface="Calibri"/>
                <a:ea typeface="Calibri"/>
              </a:rPr>
              <a:t>Navegador / App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9509760" y="1920240"/>
            <a:ext cx="2102400" cy="1188000"/>
          </a:xfrm>
          <a:prstGeom prst="roundRect">
            <a:avLst>
              <a:gd name="adj" fmla="val 6154"/>
            </a:avLst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9509760" y="2057400"/>
            <a:ext cx="21024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SERVIDOR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8"/>
          <p:cNvSpPr/>
          <p:nvPr/>
        </p:nvSpPr>
        <p:spPr>
          <a:xfrm>
            <a:off x="9509760" y="2468880"/>
            <a:ext cx="21024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9d9d9"/>
                </a:solidFill>
                <a:effectLst/>
                <a:uFillTx/>
                <a:latin typeface="Calibri"/>
                <a:ea typeface="Calibri"/>
              </a:rPr>
              <a:t>Lógica y datos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9"/>
          <p:cNvSpPr/>
          <p:nvPr/>
        </p:nvSpPr>
        <p:spPr>
          <a:xfrm>
            <a:off x="8138160" y="2240280"/>
            <a:ext cx="1371600" cy="360"/>
          </a:xfrm>
          <a:prstGeom prst="line">
            <a:avLst/>
          </a:prstGeom>
          <a:ln w="25400">
            <a:solidFill>
              <a:srgbClr val="1a1a1a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8138160" y="193860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Solicitud (Request)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1"/>
          <p:cNvSpPr/>
          <p:nvPr/>
        </p:nvSpPr>
        <p:spPr>
          <a:xfrm flipH="1">
            <a:off x="8138160" y="2788920"/>
            <a:ext cx="1371600" cy="360"/>
          </a:xfrm>
          <a:prstGeom prst="line">
            <a:avLst/>
          </a:prstGeom>
          <a:ln w="25400">
            <a:solidFill>
              <a:srgbClr val="80808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2"/>
          <p:cNvSpPr/>
          <p:nvPr/>
        </p:nvSpPr>
        <p:spPr>
          <a:xfrm>
            <a:off x="8138160" y="253296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808080"/>
                </a:solidFill>
                <a:effectLst/>
                <a:uFillTx/>
                <a:latin typeface="Calibri"/>
                <a:ea typeface="Calibri"/>
              </a:rPr>
              <a:t>Respuesta (Response)</a:t>
            </a:r>
            <a:endParaRPr b="0" lang="es-A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6035040" y="3429000"/>
            <a:ext cx="5577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La comunicación se repite en cada interacción: cada request abre un ciclo nuevo.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4"/>
          <p:cNvSpPr/>
          <p:nvPr/>
        </p:nvSpPr>
        <p:spPr>
          <a:xfrm>
            <a:off x="6035040" y="4160520"/>
            <a:ext cx="5577120" cy="141660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6309360" y="4316040"/>
            <a:ext cx="51199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¿Por qué separar roles?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6309360" y="4645080"/>
            <a:ext cx="51199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Permite escalar cada parte por separado, reutilizar el servidor con múltiples clientes (web, móvil, IoT) y aislar fallos.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7"/>
          <p:cNvSpPr/>
          <p:nvPr/>
        </p:nvSpPr>
        <p:spPr>
          <a:xfrm>
            <a:off x="548640" y="8229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Protocolos HTTP y HTTPS</a:t>
            </a:r>
            <a:endParaRPr b="0" lang="es-A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8"/>
          <p:cNvSpPr/>
          <p:nvPr/>
        </p:nvSpPr>
        <p:spPr>
          <a:xfrm>
            <a:off x="548640" y="1371600"/>
            <a:ext cx="9600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Reglas que definen cómo cliente y servidor intercambian mensajes en la web.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548640" y="1965960"/>
            <a:ext cx="5211360" cy="393120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5875">
            <a:solidFill>
              <a:srgbClr val="808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868680" y="2286000"/>
            <a:ext cx="1462320" cy="502200"/>
          </a:xfrm>
          <a:prstGeom prst="roundRect">
            <a:avLst>
              <a:gd name="adj" fmla="val 9091"/>
            </a:avLst>
          </a:pr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9"/>
          <p:cNvSpPr/>
          <p:nvPr/>
        </p:nvSpPr>
        <p:spPr>
          <a:xfrm>
            <a:off x="868680" y="2286000"/>
            <a:ext cx="1462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0"/>
          <p:cNvSpPr/>
          <p:nvPr/>
        </p:nvSpPr>
        <p:spPr>
          <a:xfrm>
            <a:off x="868680" y="288036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HyperText Transfer Protocol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31"/>
          <p:cNvSpPr/>
          <p:nvPr/>
        </p:nvSpPr>
        <p:spPr>
          <a:xfrm>
            <a:off x="868680" y="3429000"/>
            <a:ext cx="45712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Datos viajan en texto plano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Puerto por defecto: 80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Vulnerable a interceptación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Suficiente para entornos de prueba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9"/>
          <p:cNvSpPr/>
          <p:nvPr/>
        </p:nvSpPr>
        <p:spPr>
          <a:xfrm>
            <a:off x="6126480" y="1965960"/>
            <a:ext cx="5211360" cy="393120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587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6446520" y="2286000"/>
            <a:ext cx="1462320" cy="50220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446520" y="2286000"/>
            <a:ext cx="1462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446520" y="2880360"/>
            <a:ext cx="45712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HTTP + capa de seguridad (TLS/SSL)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446520" y="3429000"/>
            <a:ext cx="45712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Datos cifrados en tránsito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Puerto por defecto: 443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Verifica identidad del servidor (certificados)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a1a1a"/>
              </a:buClr>
              <a:buFont typeface="Symbol" charset="2"/>
              <a:buChar char=""/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Estándar en producción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471840" y="2189880"/>
            <a:ext cx="24678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Cliente → Servidor 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Basado en solicitudes 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1a1a1a"/>
                </a:solidFill>
                <a:effectLst/>
                <a:uFillTx/>
                <a:latin typeface="Calibri"/>
              </a:rPr>
              <a:t>Stateless (sin estado) 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22"/>
          <p:cNvSpPr/>
          <p:nvPr/>
        </p:nvSpPr>
        <p:spPr>
          <a:xfrm>
            <a:off x="548640" y="822960"/>
            <a:ext cx="9143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Protocolos HTTP y HTTPS</a:t>
            </a:r>
            <a:endParaRPr b="0" lang="es-A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56000" y="1612440"/>
            <a:ext cx="7883640" cy="17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Estructura de una petición HTTP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GET /api/usuarios //Ruta del recurso solicitado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Host: mipaginaweb.com //Dominio del servidor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Accept: application/json //Tipo de contenido esperado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Authorization: Bearer eyJhbGciOiJIUzI1Ni... //Token de autenticación</a:t>
            </a:r>
            <a:r>
              <a:rPr b="0" lang="es-AR" sz="10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</a:t>
            </a: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720000" y="3600000"/>
            <a:ext cx="7379640" cy="270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Estructura de una respuesta HTTP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HTTP/ 200 OK //Código de estado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Content-Type: application/json //Tipo de contenido devuelto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{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"id": 1,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"nombre": "Juan Pérez",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"rol": "admin",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"email": "juanperez@mipaginaweb.com"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400" strike="noStrike" u="non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} 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1"/>
          <p:cNvSpPr/>
          <p:nvPr/>
        </p:nvSpPr>
        <p:spPr>
          <a:xfrm>
            <a:off x="548640" y="82296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Roles y responsabilidades de cada capa</a:t>
            </a:r>
            <a:endParaRPr b="0" lang="es-A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548640" y="1783080"/>
            <a:ext cx="3519720" cy="3839760"/>
          </a:xfrm>
          <a:prstGeom prst="roundRect">
            <a:avLst>
              <a:gd name="adj" fmla="val 2078"/>
            </a:avLst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1943280" y="2148840"/>
            <a:ext cx="730800" cy="7308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1943280" y="21488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822960" y="3154680"/>
            <a:ext cx="2971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Presentación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868680" y="3794760"/>
            <a:ext cx="28796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9d9d9"/>
                </a:solidFill>
                <a:effectLst/>
                <a:uFillTx/>
                <a:latin typeface="Calibri"/>
                <a:ea typeface="Calibri"/>
              </a:rPr>
              <a:t>Interfaz con el usuario: HTML, CSS, componentes visuales, UX.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7"/>
          <p:cNvSpPr/>
          <p:nvPr/>
        </p:nvSpPr>
        <p:spPr>
          <a:xfrm>
            <a:off x="4343400" y="1783080"/>
            <a:ext cx="3519720" cy="3839760"/>
          </a:xfrm>
          <a:prstGeom prst="roundRect">
            <a:avLst>
              <a:gd name="adj" fmla="val 2078"/>
            </a:avLst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8"/>
          <p:cNvSpPr/>
          <p:nvPr/>
        </p:nvSpPr>
        <p:spPr>
          <a:xfrm>
            <a:off x="5738040" y="2148840"/>
            <a:ext cx="730800" cy="7308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9"/>
          <p:cNvSpPr/>
          <p:nvPr/>
        </p:nvSpPr>
        <p:spPr>
          <a:xfrm>
            <a:off x="5738040" y="21488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0"/>
          <p:cNvSpPr/>
          <p:nvPr/>
        </p:nvSpPr>
        <p:spPr>
          <a:xfrm>
            <a:off x="4617720" y="3154680"/>
            <a:ext cx="2971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Lógica de negocio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4663440" y="3794760"/>
            <a:ext cx="28796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9d9d9"/>
                </a:solidFill>
                <a:effectLst/>
                <a:uFillTx/>
                <a:latin typeface="Calibri"/>
                <a:ea typeface="Calibri"/>
              </a:rPr>
              <a:t>Reglas, validaciones y procesos que resuelven el problema del dominio.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2"/>
          <p:cNvSpPr/>
          <p:nvPr/>
        </p:nvSpPr>
        <p:spPr>
          <a:xfrm>
            <a:off x="8138160" y="1783080"/>
            <a:ext cx="3519720" cy="3839760"/>
          </a:xfrm>
          <a:prstGeom prst="roundRect">
            <a:avLst>
              <a:gd name="adj" fmla="val 2078"/>
            </a:avLst>
          </a:prstGeom>
          <a:solidFill>
            <a:srgbClr val="8080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3"/>
          <p:cNvSpPr/>
          <p:nvPr/>
        </p:nvSpPr>
        <p:spPr>
          <a:xfrm>
            <a:off x="9532800" y="2148840"/>
            <a:ext cx="730800" cy="730800"/>
          </a:xfrm>
          <a:prstGeom prst="ellipse">
            <a:avLst/>
          </a:prstGeom>
          <a:solidFill>
            <a:srgbClr val="ffffff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4"/>
          <p:cNvSpPr/>
          <p:nvPr/>
        </p:nvSpPr>
        <p:spPr>
          <a:xfrm>
            <a:off x="9532800" y="214884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5"/>
          <p:cNvSpPr/>
          <p:nvPr/>
        </p:nvSpPr>
        <p:spPr>
          <a:xfrm>
            <a:off x="8412480" y="3154680"/>
            <a:ext cx="2971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6"/>
          <p:cNvSpPr/>
          <p:nvPr/>
        </p:nvSpPr>
        <p:spPr>
          <a:xfrm>
            <a:off x="8458200" y="3794760"/>
            <a:ext cx="28796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d9d9d9"/>
                </a:solidFill>
                <a:effectLst/>
                <a:uFillTx/>
                <a:latin typeface="Calibri"/>
                <a:ea typeface="Calibri"/>
              </a:rPr>
              <a:t>Persistencia y acceso a la información: bases de datos, archivos, APIs externas.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7"/>
          <p:cNvSpPr/>
          <p:nvPr/>
        </p:nvSpPr>
        <p:spPr>
          <a:xfrm>
            <a:off x="548640" y="580644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808080"/>
                </a:solidFill>
                <a:effectLst/>
                <a:uFillTx/>
                <a:latin typeface="Calibri"/>
                <a:ea typeface="Calibri"/>
              </a:rPr>
              <a:t>Cada capa se comunica solo con la adyacente: la Presentación no accede directo a los Datos.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6"/>
          <p:cNvSpPr/>
          <p:nvPr/>
        </p:nvSpPr>
        <p:spPr>
          <a:xfrm>
            <a:off x="548640" y="1345320"/>
            <a:ext cx="10514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Extiende la separación cliente-servidor en múltiples niveles independientes, cada uno con una única responsabilidad.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1"/>
          <p:cNvSpPr/>
          <p:nvPr/>
        </p:nvSpPr>
        <p:spPr>
          <a:xfrm>
            <a:off x="548640" y="8229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Arquitectura de N Capas</a:t>
            </a:r>
            <a:endParaRPr b="0" lang="es-AR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1601280" y="2340000"/>
            <a:ext cx="9198360" cy="218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1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mbria"/>
                <a:ea typeface="Cambria"/>
              </a:rPr>
              <a:t>Desacoplamiento, mantenimiento y escalabilidad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"/>
          <p:cNvSpPr/>
          <p:nvPr/>
        </p:nvSpPr>
        <p:spPr>
          <a:xfrm>
            <a:off x="548640" y="1965960"/>
            <a:ext cx="3519720" cy="356544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822960" y="2240280"/>
            <a:ext cx="639360" cy="6393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822960" y="224028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822960" y="306324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Desacoplamiento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822960" y="3566160"/>
            <a:ext cx="2971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Cada capa cambia sin afectar a las demás, siempre que se respete el contrato (interfaz) entre ellas.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4343400" y="1965960"/>
            <a:ext cx="3519720" cy="356544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8"/>
          <p:cNvSpPr/>
          <p:nvPr/>
        </p:nvSpPr>
        <p:spPr>
          <a:xfrm>
            <a:off x="4617720" y="2240280"/>
            <a:ext cx="639360" cy="6393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617720" y="224028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4617720" y="306324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Mantenimiento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1"/>
          <p:cNvSpPr/>
          <p:nvPr/>
        </p:nvSpPr>
        <p:spPr>
          <a:xfrm>
            <a:off x="4617720" y="3566160"/>
            <a:ext cx="2971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Errores y mejoras se localizan más rápido cuando cada componente tiene una responsabilidad única.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2"/>
          <p:cNvSpPr/>
          <p:nvPr/>
        </p:nvSpPr>
        <p:spPr>
          <a:xfrm>
            <a:off x="8138160" y="1965960"/>
            <a:ext cx="3519720" cy="356544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 w="12700">
            <a:solidFill>
              <a:srgbClr val="d9d9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3"/>
          <p:cNvSpPr/>
          <p:nvPr/>
        </p:nvSpPr>
        <p:spPr>
          <a:xfrm>
            <a:off x="8412480" y="2240280"/>
            <a:ext cx="639360" cy="63936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8412480" y="224028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8412480" y="3063240"/>
            <a:ext cx="2971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Escalabilidad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8412480" y="3566160"/>
            <a:ext cx="2971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Se puede reforzar solo la capa que lo necesita (por ejemplo, más servidores de aplicación) sin duplicar todo el sistema.</a:t>
            </a:r>
            <a:endParaRPr b="0" lang="es-A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23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Frontend/Backend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65200" y="1800000"/>
            <a:ext cx="105944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Estos dos componentes constituyen el núcleo de cualquier aplicación web moderna, cada uno con un propósito único.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frontend es lo que los usuarios ven e interactúan en una web, como el diseño, los botones y el texto.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backend es la parte que trabaja entre bastidores, gestionando tareas como almacenar datos y procesar solicitudes.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920240" y="3060000"/>
            <a:ext cx="7619400" cy="3580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35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Desarrollo Frontend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65200" y="1800000"/>
            <a:ext cx="105944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frontend es la parte de un sitio web o aplicación con la que los usuarios interactúan directamente. Incluye el diseño, el diseño y los elementos interactivos, creando una experiencia fluida y fácil de usar. Se llama lado cliente porque se ejecuta en el navegador del usuario.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Diseño de interfaz de usuario (UI)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Capacidad de respuesta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Interactividad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Compatibilidad entre navegadores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38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Tecnologías Frontend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565200" y="1800000"/>
            <a:ext cx="10594440" cy="28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desarrollo frontend utiliza diversas tecnologías para crear la interfaz de usuario (UI) y la experiencia de usuario (UX). Algunas de las tecnologías frontend más comunes incluyen: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HTML (Lenguaje de Marcado de Hipertexto): El lenguaje estándar para crear la estructura de páginas web. Define elementos como encabezados, párrafos, enlaces e imágenes.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CSS (Hojas de Estilo en Cascada): Usado para estilizar elementos HTML. CSS controla el diseño, los colores, las fuentes y la capacidad de respuesta de una página web.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JavaScript: Un lenguaje de programación que añade interactividad a la web. JavaScript se utiliza para crear contenido dinámico, como formularios, animaciones y mapas interactivos.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Frameworks de frontend: React, Angular, Tailwind, Bootstrap y Vue.js.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Bibliotecas de frontend: jQuery y SASS.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37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Desarrollo Frontend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565200" y="1800000"/>
            <a:ext cx="10594440" cy="33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frontend es la parte de un sitio web o aplicación con la que los usuarios interactúan directamente. Incluye el diseño, el diseño y los elementos interactivos, creando una experiencia fluida y fácil de usar. Se llama lado cliente porque se ejecuta en el navegador del usuario.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Diseño de interfaz de usuario (UI): El desarrollo frontend se centra en diseñar el aspecto de un sitio web, incluyendo el diseño, los colores, la tipografía y los elementos interactivos.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Capacidad de respuesta: Garantiza que los sitios web funcionen bien en distintos dispositivos y tamaños de pantalla, proporcionando una experiencia fluida en ordenadores de sobremesa, tabletas y smartphones.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Interactividad: Implementa funciones interactivas como botones, formularios, animaciones y contenido dinámico que involucran a los usuarios.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Compatibilidad entre navegadores: Garantiza que el sitio web funcione correctamente en diferentes navegadores, como Chrome, Firefox y Safari.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39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Desarrollo Backend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65200" y="1800000"/>
            <a:ext cx="10594440" cy="23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backend es el lado servidor del desarrollo web. Gestiona y procesa datos, gestiona el almacenamiento y la recuperación, y se asegura de que el frontend reciba la información que necesita. Mientras los usuarios interactúan con el frontend, el backend trabaja entre bastidores para gestionar la lógica de negocio y las operaciones de datos.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Lógica del lado del servidor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Gestión de bases de datos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Desarrollo de APIs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Seguridad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40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Tecnologías Backend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565200" y="1800000"/>
            <a:ext cx="10594440" cy="31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El desarrollo backend utiliza diversas tecnologías para gestionar la lógica y la gestión de datos en el lado del servidor. Algunas de las tecnologías de backend más populares incluyen: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Lenguajes de programación: Los lenguajes comunes para el desarrollo backend incluyen PHP, Python, Ruby, Node.js, Java y C#.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Bases de datos: Los sistemas backend interactúan con bases de datos para almacenar y recuperar datos. Las bases de datos más populares incluyen MySQL, PostgreSQL, MongoDB y SQLite.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Servidores web: Servidores web como Apache, Nginx e IIS se utilizan para gestionar solicitudes HTTP y entregar contenido a los usuarios.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Frameworks de backend: Django (Python), Ruby on Rails (Ruby), Express.js (Node.js) y Spring Boot (Java).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Bibliotecas de backend: Mongoose, Socket.io, JDBC, Pandas.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26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28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¿Qué es ASP.NET Core?</a:t>
            </a:r>
            <a:endParaRPr b="0" lang="es-A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45200" y="2160000"/>
            <a:ext cx="10594440" cy="21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ASP.NET Core es un framework web moderno, multiplataforma y de alto rendimiento desarrollado por Microsoft para construir aplicaciones web, APIs y microservicios. Es la evolución de ASP.NET Framework tradicional, diseñado desde cero para ser más rápido, modular y compatible con diferentes sistemas operativos.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19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¿Qué es ASP.NET Core?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45200" y="1800000"/>
            <a:ext cx="5374440" cy="59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Alto Rendimiento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Una de las plataformas web más rápidas disponibles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Optimizado para manejar miles de requests por segundo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Menor uso de memoria comparado con otros frameworks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Multiplataforma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Ejecuta en Windows, Linux y macOS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Compatible con Docker y contenedores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Soporte nativo para microservicios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6505200" y="1762560"/>
            <a:ext cx="5374440" cy="59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Modular y Flexible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Arquitectura basada en middleware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Sistema de inyección de dependencias integrado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Configuración flexible y extensible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Seguridad Integrada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Autenticación y autorización robustas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Protección contra ataques comunes (CSRF, XSS, etc.)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- Soporte para JWT, Cookies, OAuth, y otros estándares de seguridad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18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Estructura Típica de Proyecto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900000" y="2001960"/>
            <a:ext cx="8459640" cy="3780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20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Componentes Principales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45200" y="1800000"/>
            <a:ext cx="5374440" cy="126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Controllers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Manejo de requests HTTP y respuestas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Validación de entrada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Coordinación con servicios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Services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Lógica de negocio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Orquestación de operaciones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Transformación de datos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6505200" y="1762560"/>
            <a:ext cx="5374440" cy="59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Repositories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Acceso a datos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Abstracción de la base de datos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Operaciones CRUD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Models/Entities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Representación de datos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Validaciones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Relaciones entre entidades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21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Tecnologías y Patrones Comunes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45200" y="1800000"/>
            <a:ext cx="5374440" cy="126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Tecnologías Backend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ASP.NET Core 8.0 - Framework principal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Entity Framework Core - ORM para base de datos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SQL Server/PostgreSQL/MySQL - Bases de datos relacionales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JWT Bearer - Autenticación basada en tokens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BCrypt - Encriptación de contraseñas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AutoMapper - Mapeo de objetos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Swagger/OpenAPI - Documentación de API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24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Flujo de Request en ASP.NET Core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45200" y="1800000"/>
            <a:ext cx="5374440" cy="126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Tipos de Endpoints Comunes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CRUD Operations: Create, Read, Update, Delete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Authentication: Login, Register, Logout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Authorization: Endpoints protegidos por roles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Health Checks: Verificación de estado del sistema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File Upload/Download: Manejo de archivos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325200" y="1751400"/>
            <a:ext cx="5374440" cy="52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Códigos de Estado HTTP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200 OK - Operación exitosa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201 Created - Recurso creado exitosamente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400 Bad Request - Datos inválidos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401 Unauthorized - No autenticado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403 Forbidden - Sin permisos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404 Not Found - Recurso no encontrado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500 Internal Server Error - Error del servidor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25"/>
          <p:cNvSpPr/>
          <p:nvPr/>
        </p:nvSpPr>
        <p:spPr>
          <a:xfrm>
            <a:off x="548640" y="822960"/>
            <a:ext cx="105148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3200" strike="noStrike" u="none">
                <a:solidFill>
                  <a:srgbClr val="1a1a1a"/>
                </a:solidFill>
                <a:effectLst/>
                <a:uFillTx/>
                <a:latin typeface="Calibri"/>
                <a:ea typeface="Cambria"/>
              </a:rPr>
              <a:t>Ventajas de ASP.NET Core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745200" y="1800000"/>
            <a:ext cx="5374440" cy="126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Beneficios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Alto Rendimiento: Una de las plataformas más rápidas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Multiplataforma: Funciona en cualquier sistema operativo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Modular: Arquitectura basada en middleware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Seguro: Características de seguridad integradas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Escalable: Fácil de escalar horizontal y verticalmente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Testeable: Excelente soporte para testing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Moderno: Sintaxis moderna de C# y .NET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325200" y="1751400"/>
            <a:ext cx="5374440" cy="52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s-AR" sz="22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Casos de Uso Ideales</a:t>
            </a:r>
            <a:endParaRPr b="0" lang="es-A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APIs REST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Aplicaciones web SPA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Microservicios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Aplicaciones empresariales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Sistemas de autenticación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APIs de integración</a:t>
            </a:r>
            <a:endParaRPr b="0" lang="es-A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LibreOffice/25.2.7.2$Windows_X86_64 LibreOffice_project/5cbfd1ab6520636bb5f7b99185aa69bd7456825d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2026-08-05T20:38:21Z</dcterms:created>
  <dc:creator>PptxGenJS</dc:creator>
  <dc:description/>
  <dc:language>es-AR</dc:language>
  <cp:lastModifiedBy/>
  <dcterms:modified xsi:type="dcterms:W3CDTF">2026-08-05T19:30:08Z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