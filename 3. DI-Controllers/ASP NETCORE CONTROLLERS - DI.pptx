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2" r:id="rId3"/>
    <p:sldId id="258" r:id="rId4"/>
    <p:sldId id="273" r:id="rId5"/>
    <p:sldId id="259" r:id="rId6"/>
    <p:sldId id="260" r:id="rId7"/>
    <p:sldId id="268" r:id="rId8"/>
    <p:sldId id="261" r:id="rId9"/>
    <p:sldId id="274" r:id="rId10"/>
    <p:sldId id="275" r:id="rId11"/>
    <p:sldId id="263" r:id="rId12"/>
    <p:sldId id="265" r:id="rId13"/>
    <p:sldId id="266" r:id="rId14"/>
    <p:sldId id="269" r:id="rId15"/>
    <p:sldId id="276" r:id="rId16"/>
    <p:sldId id="264" r:id="rId17"/>
    <p:sldId id="277" r:id="rId18"/>
    <p:sldId id="278" r:id="rId19"/>
    <p:sldId id="267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90630F-482C-4A7B-8F9E-8FFDC666C910}" v="13" dt="2026-09-15T21:17:02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752" autoAdjust="0"/>
  </p:normalViewPr>
  <p:slideViewPr>
    <p:cSldViewPr snapToGrid="0" snapToObjects="1">
      <p:cViewPr varScale="1">
        <p:scale>
          <a:sx n="70" d="100"/>
          <a:sy n="70" d="100"/>
        </p:scale>
        <p:origin x="11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o Medina" userId="0aa1e435ee1ae377" providerId="LiveId" clId="{9EBCFA65-19DA-4CE7-997E-DF822AE4E4AA}"/>
    <pc:docChg chg="undo custSel addSld delSld modSld sldOrd">
      <pc:chgData name="Maximiliano Medina" userId="0aa1e435ee1ae377" providerId="LiveId" clId="{9EBCFA65-19DA-4CE7-997E-DF822AE4E4AA}" dt="2026-09-15T22:04:40.909" v="149" actId="47"/>
      <pc:docMkLst>
        <pc:docMk/>
      </pc:docMkLst>
      <pc:sldChg chg="modSp mod">
        <pc:chgData name="Maximiliano Medina" userId="0aa1e435ee1ae377" providerId="LiveId" clId="{9EBCFA65-19DA-4CE7-997E-DF822AE4E4AA}" dt="2026-09-15T21:43:09.311" v="108" actId="20577"/>
        <pc:sldMkLst>
          <pc:docMk/>
          <pc:sldMk cId="0" sldId="259"/>
        </pc:sldMkLst>
        <pc:spChg chg="mod">
          <ac:chgData name="Maximiliano Medina" userId="0aa1e435ee1ae377" providerId="LiveId" clId="{9EBCFA65-19DA-4CE7-997E-DF822AE4E4AA}" dt="2026-09-15T21:43:09.311" v="108" actId="20577"/>
          <ac:spMkLst>
            <pc:docMk/>
            <pc:sldMk cId="0" sldId="259"/>
            <ac:spMk id="9" creationId="{00000000-0000-0000-0000-000000000000}"/>
          </ac:spMkLst>
        </pc:spChg>
      </pc:sldChg>
      <pc:sldChg chg="del">
        <pc:chgData name="Maximiliano Medina" userId="0aa1e435ee1ae377" providerId="LiveId" clId="{9EBCFA65-19DA-4CE7-997E-DF822AE4E4AA}" dt="2026-09-15T21:16:02.540" v="97" actId="47"/>
        <pc:sldMkLst>
          <pc:docMk/>
          <pc:sldMk cId="0" sldId="262"/>
        </pc:sldMkLst>
      </pc:sldChg>
      <pc:sldChg chg="add setBg">
        <pc:chgData name="Maximiliano Medina" userId="0aa1e435ee1ae377" providerId="LiveId" clId="{9EBCFA65-19DA-4CE7-997E-DF822AE4E4AA}" dt="2026-09-15T21:16:26.131" v="99"/>
        <pc:sldMkLst>
          <pc:docMk/>
          <pc:sldMk cId="0" sldId="264"/>
        </pc:sldMkLst>
      </pc:sldChg>
      <pc:sldChg chg="add setBg">
        <pc:chgData name="Maximiliano Medina" userId="0aa1e435ee1ae377" providerId="LiveId" clId="{9EBCFA65-19DA-4CE7-997E-DF822AE4E4AA}" dt="2026-09-15T21:16:45.104" v="102"/>
        <pc:sldMkLst>
          <pc:docMk/>
          <pc:sldMk cId="0" sldId="267"/>
        </pc:sldMkLst>
      </pc:sldChg>
      <pc:sldChg chg="add ord setBg">
        <pc:chgData name="Maximiliano Medina" userId="0aa1e435ee1ae377" providerId="LiveId" clId="{9EBCFA65-19DA-4CE7-997E-DF822AE4E4AA}" dt="2026-09-15T22:03:04.458" v="148"/>
        <pc:sldMkLst>
          <pc:docMk/>
          <pc:sldMk cId="0" sldId="269"/>
        </pc:sldMkLst>
      </pc:sldChg>
      <pc:sldChg chg="add del setBg">
        <pc:chgData name="Maximiliano Medina" userId="0aa1e435ee1ae377" providerId="LiveId" clId="{9EBCFA65-19DA-4CE7-997E-DF822AE4E4AA}" dt="2026-09-15T22:04:40.909" v="149" actId="47"/>
        <pc:sldMkLst>
          <pc:docMk/>
          <pc:sldMk cId="0" sldId="270"/>
        </pc:sldMkLst>
      </pc:sldChg>
      <pc:sldChg chg="ord">
        <pc:chgData name="Maximiliano Medina" userId="0aa1e435ee1ae377" providerId="LiveId" clId="{9EBCFA65-19DA-4CE7-997E-DF822AE4E4AA}" dt="2026-09-15T21:42:32.230" v="107"/>
        <pc:sldMkLst>
          <pc:docMk/>
          <pc:sldMk cId="0" sldId="273"/>
        </pc:sldMkLst>
      </pc:sldChg>
      <pc:sldChg chg="add setBg">
        <pc:chgData name="Maximiliano Medina" userId="0aa1e435ee1ae377" providerId="LiveId" clId="{9EBCFA65-19DA-4CE7-997E-DF822AE4E4AA}" dt="2026-09-15T21:09:38.991" v="6"/>
        <pc:sldMkLst>
          <pc:docMk/>
          <pc:sldMk cId="0" sldId="274"/>
        </pc:sldMkLst>
      </pc:sldChg>
      <pc:sldChg chg="addSp delSp modSp add mod setBg">
        <pc:chgData name="Maximiliano Medina" userId="0aa1e435ee1ae377" providerId="LiveId" clId="{9EBCFA65-19DA-4CE7-997E-DF822AE4E4AA}" dt="2026-09-15T21:15:53.588" v="96" actId="478"/>
        <pc:sldMkLst>
          <pc:docMk/>
          <pc:sldMk cId="0" sldId="275"/>
        </pc:sldMkLst>
        <pc:spChg chg="mod">
          <ac:chgData name="Maximiliano Medina" userId="0aa1e435ee1ae377" providerId="LiveId" clId="{9EBCFA65-19DA-4CE7-997E-DF822AE4E4AA}" dt="2026-09-15T21:15:44.993" v="95"/>
          <ac:spMkLst>
            <pc:docMk/>
            <pc:sldMk cId="0" sldId="275"/>
            <ac:spMk id="2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15T21:15:53.588" v="96" actId="478"/>
          <ac:spMkLst>
            <pc:docMk/>
            <pc:sldMk cId="0" sldId="275"/>
            <ac:spMk id="3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15:00.682" v="94" actId="14100"/>
          <ac:spMkLst>
            <pc:docMk/>
            <pc:sldMk cId="0" sldId="275"/>
            <ac:spMk id="4" creationId="{00000000-0000-0000-0000-000000000000}"/>
          </ac:spMkLst>
        </pc:spChg>
        <pc:spChg chg="add del mod">
          <ac:chgData name="Maximiliano Medina" userId="0aa1e435ee1ae377" providerId="LiveId" clId="{9EBCFA65-19DA-4CE7-997E-DF822AE4E4AA}" dt="2026-09-15T21:14:44.689" v="92" actId="20577"/>
          <ac:spMkLst>
            <pc:docMk/>
            <pc:sldMk cId="0" sldId="275"/>
            <ac:spMk id="5" creationId="{00000000-0000-0000-0000-000000000000}"/>
          </ac:spMkLst>
        </pc:spChg>
      </pc:sldChg>
      <pc:sldChg chg="add setBg">
        <pc:chgData name="Maximiliano Medina" userId="0aa1e435ee1ae377" providerId="LiveId" clId="{9EBCFA65-19DA-4CE7-997E-DF822AE4E4AA}" dt="2026-09-15T21:16:20.133" v="98"/>
        <pc:sldMkLst>
          <pc:docMk/>
          <pc:sldMk cId="0" sldId="276"/>
        </pc:sldMkLst>
      </pc:sldChg>
      <pc:sldChg chg="add setBg">
        <pc:chgData name="Maximiliano Medina" userId="0aa1e435ee1ae377" providerId="LiveId" clId="{9EBCFA65-19DA-4CE7-997E-DF822AE4E4AA}" dt="2026-09-15T21:16:31.878" v="100"/>
        <pc:sldMkLst>
          <pc:docMk/>
          <pc:sldMk cId="0" sldId="277"/>
        </pc:sldMkLst>
      </pc:sldChg>
      <pc:sldChg chg="addSp modSp add mod setBg">
        <pc:chgData name="Maximiliano Medina" userId="0aa1e435ee1ae377" providerId="LiveId" clId="{9EBCFA65-19DA-4CE7-997E-DF822AE4E4AA}" dt="2026-09-15T22:02:29.006" v="144" actId="14100"/>
        <pc:sldMkLst>
          <pc:docMk/>
          <pc:sldMk cId="0" sldId="278"/>
        </pc:sldMkLst>
        <pc:spChg chg="mod">
          <ac:chgData name="Maximiliano Medina" userId="0aa1e435ee1ae377" providerId="LiveId" clId="{9EBCFA65-19DA-4CE7-997E-DF822AE4E4AA}" dt="2026-09-15T22:02:19.489" v="132" actId="1036"/>
          <ac:spMkLst>
            <pc:docMk/>
            <pc:sldMk cId="0" sldId="278"/>
            <ac:spMk id="4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2:02:19.489" v="132" actId="1036"/>
          <ac:spMkLst>
            <pc:docMk/>
            <pc:sldMk cId="0" sldId="278"/>
            <ac:spMk id="5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2:02:19.489" v="132" actId="1036"/>
          <ac:spMkLst>
            <pc:docMk/>
            <pc:sldMk cId="0" sldId="278"/>
            <ac:spMk id="6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2:02:19.489" v="132" actId="1036"/>
          <ac:spMkLst>
            <pc:docMk/>
            <pc:sldMk cId="0" sldId="278"/>
            <ac:spMk id="7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2:02:19.489" v="132" actId="1036"/>
          <ac:spMkLst>
            <pc:docMk/>
            <pc:sldMk cId="0" sldId="278"/>
            <ac:spMk id="9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2:02:19.489" v="132" actId="103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2:02:19.489" v="132" actId="1036"/>
          <ac:spMkLst>
            <pc:docMk/>
            <pc:sldMk cId="0" sldId="278"/>
            <ac:spMk id="12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2:02:19.489" v="132" actId="103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2:02:19.489" v="132" actId="1036"/>
          <ac:spMkLst>
            <pc:docMk/>
            <pc:sldMk cId="0" sldId="278"/>
            <ac:spMk id="15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2:02:19.489" v="132" actId="1036"/>
          <ac:spMkLst>
            <pc:docMk/>
            <pc:sldMk cId="0" sldId="278"/>
            <ac:spMk id="16" creationId="{00000000-0000-0000-0000-000000000000}"/>
          </ac:spMkLst>
        </pc:spChg>
        <pc:spChg chg="add mod">
          <ac:chgData name="Maximiliano Medina" userId="0aa1e435ee1ae377" providerId="LiveId" clId="{9EBCFA65-19DA-4CE7-997E-DF822AE4E4AA}" dt="2026-09-15T22:02:29.006" v="144" actId="14100"/>
          <ac:spMkLst>
            <pc:docMk/>
            <pc:sldMk cId="0" sldId="278"/>
            <ac:spMk id="20" creationId="{D133792F-EB77-994C-3D6C-5D5EE66920C3}"/>
          </ac:spMkLst>
        </pc:spChg>
      </pc:sldChg>
      <pc:sldChg chg="add del setBg">
        <pc:chgData name="Maximiliano Medina" userId="0aa1e435ee1ae377" providerId="LiveId" clId="{9EBCFA65-19DA-4CE7-997E-DF822AE4E4AA}" dt="2026-09-15T21:58:04.052" v="109" actId="47"/>
        <pc:sldMkLst>
          <pc:docMk/>
          <pc:sldMk cId="0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39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s-AR" dirty="0"/>
              <a:t> </a:t>
            </a:r>
            <a:r>
              <a:rPr lang="es-AR" dirty="0" err="1"/>
              <a:t>context</a:t>
            </a:r>
            <a:r>
              <a:rPr lang="es-AR" dirty="0"/>
              <a:t> = 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es-AR" dirty="0"/>
              <a:t>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AppDbContext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s-AR" dirty="0" err="1"/>
              <a:t>connectionString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  <a:r>
              <a:rPr lang="es-AR" dirty="0"/>
              <a:t> </a:t>
            </a:r>
          </a:p>
          <a:p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s-AR" dirty="0"/>
              <a:t> </a:t>
            </a:r>
            <a:r>
              <a:rPr lang="es-AR" dirty="0" err="1"/>
              <a:t>productoRepo</a:t>
            </a:r>
            <a:r>
              <a:rPr lang="es-AR" dirty="0"/>
              <a:t> = 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es-AR" dirty="0"/>
              <a:t>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ProductoRepository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s-AR" dirty="0" err="1"/>
              <a:t>context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  <a:r>
              <a:rPr lang="es-AR" dirty="0"/>
              <a:t> </a:t>
            </a:r>
          </a:p>
          <a:p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s-AR" dirty="0"/>
              <a:t> </a:t>
            </a:r>
            <a:r>
              <a:rPr lang="es-AR" dirty="0" err="1"/>
              <a:t>productoService</a:t>
            </a:r>
            <a:r>
              <a:rPr lang="es-AR" dirty="0"/>
              <a:t> = 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es-AR" dirty="0"/>
              <a:t>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ProductoService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s-AR" dirty="0" err="1"/>
              <a:t>productoRepo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  <a:r>
              <a:rPr lang="es-AR" dirty="0"/>
              <a:t> </a:t>
            </a:r>
          </a:p>
          <a:p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s-AR" dirty="0"/>
              <a:t> </a:t>
            </a:r>
            <a:r>
              <a:rPr lang="es-AR" dirty="0" err="1"/>
              <a:t>productoController</a:t>
            </a:r>
            <a:r>
              <a:rPr lang="es-AR" dirty="0"/>
              <a:t> = 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es-AR" dirty="0"/>
              <a:t>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ProductoController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s-AR" dirty="0" err="1"/>
              <a:t>productoService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  <a:r>
              <a:rPr lang="es-AR" dirty="0"/>
              <a:t> </a:t>
            </a:r>
          </a:p>
          <a:p>
            <a:endParaRPr lang="es-A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s-AR" dirty="0"/>
              <a:t> </a:t>
            </a:r>
            <a:r>
              <a:rPr lang="es-AR" dirty="0" err="1"/>
              <a:t>clienteRepo</a:t>
            </a:r>
            <a:r>
              <a:rPr lang="es-AR" dirty="0"/>
              <a:t> = 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es-AR" dirty="0"/>
              <a:t>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ClienteRepository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s-AR" dirty="0" err="1"/>
              <a:t>context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  <a:r>
              <a:rPr lang="es-AR" dirty="0"/>
              <a:t> </a:t>
            </a:r>
          </a:p>
          <a:p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s-AR" dirty="0"/>
              <a:t> </a:t>
            </a:r>
            <a:r>
              <a:rPr lang="es-AR" dirty="0" err="1"/>
              <a:t>clienteService</a:t>
            </a:r>
            <a:r>
              <a:rPr lang="es-AR" dirty="0"/>
              <a:t> = 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es-AR" dirty="0"/>
              <a:t>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ClienteService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s-AR" dirty="0" err="1"/>
              <a:t>clienteRepo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  <a:r>
              <a:rPr lang="es-AR" dirty="0"/>
              <a:t> </a:t>
            </a:r>
          </a:p>
          <a:p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s-AR" dirty="0"/>
              <a:t> </a:t>
            </a:r>
            <a:r>
              <a:rPr lang="es-AR" dirty="0" err="1"/>
              <a:t>clienteController</a:t>
            </a:r>
            <a:r>
              <a:rPr lang="es-AR" dirty="0"/>
              <a:t> = 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es-AR" dirty="0"/>
              <a:t>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ClienteController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s-AR" dirty="0" err="1"/>
              <a:t>clienteService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  <a:r>
              <a:rPr lang="es-AR" dirty="0"/>
              <a:t> </a:t>
            </a:r>
          </a:p>
          <a:p>
            <a:endParaRPr lang="es-A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s-AR" dirty="0"/>
              <a:t> </a:t>
            </a:r>
            <a:r>
              <a:rPr lang="es-AR" dirty="0" err="1"/>
              <a:t>pedidoRepo</a:t>
            </a:r>
            <a:r>
              <a:rPr lang="es-AR" dirty="0"/>
              <a:t> = 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es-AR" dirty="0"/>
              <a:t>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PedidoRepository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s-AR" dirty="0" err="1"/>
              <a:t>context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  <a:r>
              <a:rPr lang="es-AR" dirty="0"/>
              <a:t> </a:t>
            </a:r>
          </a:p>
          <a:p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s-AR" dirty="0"/>
              <a:t> </a:t>
            </a:r>
            <a:r>
              <a:rPr lang="es-AR" dirty="0" err="1"/>
              <a:t>pedidoService</a:t>
            </a:r>
            <a:r>
              <a:rPr lang="es-AR" dirty="0"/>
              <a:t> = 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es-AR" dirty="0"/>
              <a:t> 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PedidoService(</a:t>
            </a:r>
            <a:r>
              <a:rPr lang="es-AR" dirty="0" err="1"/>
              <a:t>pedidoRepo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s-AR" dirty="0"/>
              <a:t> </a:t>
            </a:r>
            <a:r>
              <a:rPr lang="es-AR" dirty="0" err="1"/>
              <a:t>clienteService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s-AR" dirty="0"/>
              <a:t> </a:t>
            </a:r>
            <a:r>
              <a:rPr lang="es-AR" dirty="0" err="1"/>
              <a:t>productoService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  <a:r>
              <a:rPr lang="es-AR" dirty="0"/>
              <a:t> </a:t>
            </a:r>
          </a:p>
          <a:p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s-AR" dirty="0"/>
              <a:t> </a:t>
            </a:r>
            <a:r>
              <a:rPr lang="es-AR" dirty="0" err="1"/>
              <a:t>pedidoController</a:t>
            </a:r>
            <a:r>
              <a:rPr lang="es-AR" dirty="0"/>
              <a:t> = 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es-AR" dirty="0"/>
              <a:t>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PedidoController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s-AR" dirty="0" err="1"/>
              <a:t>pedidoService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  <a:r>
              <a:rPr lang="es-AR" dirty="0"/>
              <a:t> </a:t>
            </a:r>
          </a:p>
          <a:p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... y así con cada entidad</a:t>
            </a:r>
          </a:p>
          <a:p>
            <a:endParaRPr lang="es-AR" dirty="0"/>
          </a:p>
          <a:p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Program.cs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se declara UNA VEZ cómo se construye cada cosa</a:t>
            </a:r>
          </a:p>
          <a:p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builder.Services.AddScoped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AppDbContext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&gt;();</a:t>
            </a:r>
          </a:p>
          <a:p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builder.Services.AddScoped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IProductoRepository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ProductoRepository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&gt;();</a:t>
            </a:r>
          </a:p>
          <a:p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builder.Services.AddScoped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IProductoService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ProductoService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&gt;();</a:t>
            </a:r>
          </a:p>
          <a:p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builder.Services.AddScoped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IClienteRepository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ClienteRepository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&gt;();</a:t>
            </a:r>
          </a:p>
          <a:p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builder.Services.AddScoped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IClienteService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ClienteService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&gt;();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2A357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 NETCORE – CONTROLLERS | DI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4  ·  Backend .NET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5502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4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Program.cs: el punto de entrada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0366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hosting model: todo el arranque de la app vive en un solo archivo.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89462"/>
            <a:ext cx="6309360" cy="4297680"/>
          </a:xfrm>
          <a:prstGeom prst="roundRect">
            <a:avLst>
              <a:gd name="adj" fmla="val 1277"/>
            </a:avLst>
          </a:prstGeom>
          <a:solidFill>
            <a:srgbClr val="16193E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1280160" y="168946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073510"/>
            <a:ext cx="590702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builder = WebApplication.CreateBuilder(args);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Registrar servicios (contenedor de DI)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builder.Services.AddControllers();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builder.Services.AddDbContext&lt;ApplicationDbContext&gt;(...);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builder.Services.AddAutoMapper(typeof(Program));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builder.Services.AddSwaggerGen();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app = builder.Build();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Configurar el pipeline de middlewares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app.UseSwagger();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app.UseSwaggerUI();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app.UseHttpsRedirection();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app.UseAuthorization();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app.MapControllers();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app.Run();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86600" y="1826622"/>
            <a:ext cx="146304" cy="146304"/>
          </a:xfrm>
          <a:prstGeom prst="round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7360920" y="1716894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builder.Services es el contenedor de Inyección de Dependencias: ahí se registra todo lo que la app va a necesitar.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3152502"/>
            <a:ext cx="146304" cy="146304"/>
          </a:xfrm>
          <a:prstGeom prst="round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7360920" y="3042774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builder.Build() arma la aplicación con esos servicios ya configurados.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86600" y="4478382"/>
            <a:ext cx="146304" cy="146304"/>
          </a:xfrm>
          <a:prstGeom prst="round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7360920" y="4368654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Build(), se define el pipeline: la secuencia de middlewares que procesa cada request.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la clase crea sus propias dependencias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583680" cy="5120640"/>
          </a:xfrm>
          <a:prstGeom prst="roundRect">
            <a:avLst>
              <a:gd name="adj" fmla="val 1429"/>
            </a:avLst>
          </a:prstGeom>
          <a:solidFill>
            <a:srgbClr val="16193E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6126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ProductoService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AppDbContext _context;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ProductoService()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8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_context = new AppDbContext();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List&lt;Producto&gt; ObtenerTodos()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_context.Productos.ToList();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06640" y="118872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68096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¿Qué pasa si...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0960" y="192024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s-AR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quiero testear esta clase sin tocar la base de datos real?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s-AR" sz="1400" dirty="0" err="1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AppDbContext</a:t>
            </a:r>
            <a:r>
              <a:rPr lang="es-AR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necesita un </a:t>
            </a:r>
            <a:r>
              <a:rPr lang="es-AR" sz="1400" dirty="0" err="1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r>
              <a:rPr lang="es-AR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AR" sz="1400" dirty="0" err="1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r>
              <a:rPr lang="es-AR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distinto en test vs producción?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s-AR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 10 servicios que usan </a:t>
            </a:r>
            <a:r>
              <a:rPr lang="es-AR" sz="1400" dirty="0" err="1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AppDbContext</a:t>
            </a:r>
            <a:r>
              <a:rPr lang="es-AR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¿Cambio el new en los 10 lugares si cambia el constructor?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29173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4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Inyección de Dependencias: qué y por qué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71898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5F3FA"/>
          </a:solidFill>
          <a:ln w="12700">
            <a:solidFill>
              <a:srgbClr val="DAD7E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22960" y="180049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DI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349138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controller crea sus propias dependencias: new ApplicationDbContext(...).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06237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Queda acoplado a una implementación concreta.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4424826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Difícil de testear (no se puede reemplazar el DbContext por uno falso).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70245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 la forma de </a:t>
            </a:r>
            <a:r>
              <a:rPr lang="en-US" sz="1350" dirty="0" err="1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r>
              <a:rPr lang="en-US" sz="1350" dirty="0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350" dirty="0" err="1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</a:t>
            </a:r>
            <a:r>
              <a:rPr lang="en-US" sz="1350" dirty="0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cambia, hay </a:t>
            </a:r>
            <a:r>
              <a:rPr lang="en-US" sz="1350" dirty="0" err="1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350" dirty="0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tocar</a:t>
            </a:r>
            <a:r>
              <a:rPr lang="en-US" sz="1350" dirty="0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50" dirty="0">
                <a:solidFill>
                  <a:srgbClr val="24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controller.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37960" y="1571898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16193E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812280" y="180049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DI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0" y="2349138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controller declara qué necesita en su constructor.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0" y="306237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contenedor de DI (registrado en Program.cs) se encarga de crearlo e inyectarlo.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0" y="3775602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controller solo conoce la abstracción (ej. IMapper), no cómo se construye.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0" y="4488834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Fácil de testear: se puede inyectar una versión de prueba.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recibir la dependencia desde afuera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400800" cy="5120640"/>
          </a:xfrm>
          <a:prstGeom prst="roundRect">
            <a:avLst>
              <a:gd name="adj" fmla="val 1429"/>
            </a:avLst>
          </a:prstGeom>
          <a:solidFill>
            <a:srgbClr val="16193E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5943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ProductoService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AppDbContext _context;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la dependencia entra por afuera,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 se crea adentro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ProductoService(AppDbContext context)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_context = context;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List&lt;Producto&gt; ObtenerTodos()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_context.Productos.ToList();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23760" y="1188720"/>
            <a:ext cx="4389120" cy="1737360"/>
          </a:xfrm>
          <a:prstGeom prst="roundRect">
            <a:avLst>
              <a:gd name="adj" fmla="val 4211"/>
            </a:avLst>
          </a:prstGeom>
          <a:solidFill>
            <a:srgbClr val="16193E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452360" y="1371600"/>
            <a:ext cx="419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alguien más arma todo: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context = new AppDbContext();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service = new ProductoService(context);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23760" y="3154680"/>
            <a:ext cx="4389120" cy="3154680"/>
          </a:xfrm>
          <a:prstGeom prst="roundRect">
            <a:avLst>
              <a:gd name="adj" fmla="val 2319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7452360" y="3337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conceptos nuevos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52360" y="379476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de Control (IoC)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decide cuándo se crea la dependencia — ya no la clase.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Dependencias (DI)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la entrego a la clase que la </a:t>
            </a:r>
            <a:r>
              <a:rPr lang="en-US" sz="1300" dirty="0" err="1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</a:t>
            </a: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Pero armar ese árbol a mano no escala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 → DbContext → ConnectionString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2A357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ProductoController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27432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703320" y="274320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2A357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3703320" y="2743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ProductoService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27432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583680" y="274320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2A357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6583680" y="2743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ProductoRepository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27432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464040" y="274320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2A357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9464040" y="2743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AppDbContext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20624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141A4D"/>
          </a:solidFill>
          <a:ln w="12700">
            <a:solidFill>
              <a:srgbClr val="E85D5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tengo que armar esto a mano en cada lugar que necesito un ProductoController, y cambia algo en el medio del árbol, tengo que tocar todos los lugares. Necesitamos un lugar central que arme este árbol por nosotros.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arma el árbol el contenedor?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un request a ProductoController. El framework resuelve la cadena de atrás para adelante: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155448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ProductoController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554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55448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IProductoService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2057400"/>
            <a:ext cx="0" cy="36576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242316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1234440" y="2423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ProductoService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423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42316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IProductoRepository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77240" y="2926080"/>
            <a:ext cx="0" cy="36576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34440" y="329184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 txBox="1"/>
          <p:nvPr/>
        </p:nvSpPr>
        <p:spPr>
          <a:xfrm>
            <a:off x="1234440" y="3291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ProductoRepository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291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29184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AppDbContext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77240" y="3794760"/>
            <a:ext cx="0" cy="36576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 txBox="1"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34440" y="416052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 txBox="1"/>
          <p:nvPr/>
        </p:nvSpPr>
        <p:spPr>
          <a:xfrm>
            <a:off x="1234440" y="4160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AppDbContext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416052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 con la receta de Program.cs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48640" y="53492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868680" y="544068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contenedor arma todo de atrás para adelante y entrega el ProductoController ya listo. Vos nunca escribís ese árbol — el contenedor lo arma solo, siguiendo lo que pide cada constructor.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contenedor de DI en .NET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lugar central donde registrás qué instancia dar cuando alguien la pida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16193E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B9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builder.Services.AddScoped&lt;AppDbContext&gt;();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builder.Services.AddScoped&lt;IProductoService, ProductoService&gt;();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algo pide un IProductoService, .NET entrega una instancia de ProductoService — y si esa clase necesita un AppDbContext, se lo resuelve solo.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868680" y="434340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se convierte en el único lugar donde se decide "qué implementación usar" — para cambiarla (por ejemplo, en tests) alcanza con registrar otra clase ahí, sin tocar el resto del código.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Registrando servicios en el contenedor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6492240" cy="4617720"/>
          </a:xfrm>
          <a:prstGeom prst="roundRect">
            <a:avLst>
              <a:gd name="adj" fmla="val 1188"/>
            </a:avLst>
          </a:prstGeom>
          <a:solidFill>
            <a:srgbClr val="16193E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795528" y="1837944"/>
            <a:ext cx="5907024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 (fragmento)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builder.Services.AddControllers()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.AddJsonOptions(o =&gt; o.JsonSerializerOptions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.ReferenceHandler = ReferenceHandler.IgnoreCycles);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builder.Services.AddDbContext&lt;ApplicationDbContext&gt;(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 =&gt; op.UseSqlServer(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builder.Configuration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.GetConnectionString("DefaultConnection")));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builder.Services.AddAutoMapper(typeof(Program));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builder.Services.AddEndpointsApiExplorer();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builder.Services.AddSwaggerGen();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269480" y="17373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AddControllers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269480" y="205740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el uso de controllers y su infraestructura (model binding, routing, etc.).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69480" y="281635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AddDbContext&lt;T&gt;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69480" y="313639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el DbContext como scoped, listo para inyectarse.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69480" y="389534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AddAutoMapper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269480" y="4215384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IMapper con los perfiles de mapeo del proyecto.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69480" y="497433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AddSwaggerGen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269480" y="5294376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la documentación interactiva (Swagger/OpenAPI).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Consumiendo</a:t>
            </a: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el </a:t>
            </a:r>
            <a:r>
              <a:rPr lang="en-US" sz="2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</a:t>
            </a: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 Controller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6309360" cy="4005943"/>
          </a:xfrm>
          <a:prstGeom prst="roundRect">
            <a:avLst>
              <a:gd name="adj" fmla="val 1622"/>
            </a:avLst>
          </a:prstGeom>
          <a:solidFill>
            <a:srgbClr val="16193E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95528" y="1837944"/>
            <a:ext cx="57241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GenerosController : ControllerBase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readonly ApplicationDbContext context;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readonly IMapper mapper;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</a:t>
            </a:r>
            <a:r>
              <a:rPr lang="en-US" sz="115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GenerosController</a:t>
            </a: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ApplicationDbContext context, IMapper mapper)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this.context = context;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8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.NET lo resuelve solo, nadie hace "new" acá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this.mapper = mapper;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</a:p>
          <a:p>
            <a:pPr>
              <a:lnSpc>
                <a:spcPct val="110000"/>
              </a:lnSpc>
            </a:pPr>
            <a:endParaRPr lang="en-US" sz="1150" dirty="0">
              <a:solidFill>
                <a:srgbClr val="CADCFC"/>
              </a:solidFill>
              <a:latin typeface="Courier New" pitchFamily="34" charset="0"/>
              <a:cs typeface="Courier New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cs typeface="Courier New" pitchFamily="34" charset="-120"/>
              </a:rPr>
              <a:t>  [</a:t>
            </a:r>
            <a:r>
              <a:rPr lang="en-US" sz="1150" dirty="0" err="1">
                <a:solidFill>
                  <a:srgbClr val="CADCFC"/>
                </a:solidFill>
                <a:latin typeface="Courier New" pitchFamily="34" charset="0"/>
                <a:cs typeface="Courier New" pitchFamily="34" charset="-120"/>
              </a:rPr>
              <a:t>HttpGet</a:t>
            </a:r>
            <a:r>
              <a:rPr lang="en-US" sz="1150" dirty="0">
                <a:solidFill>
                  <a:srgbClr val="CADCFC"/>
                </a:solidFill>
                <a:latin typeface="Courier New" pitchFamily="34" charset="0"/>
                <a:cs typeface="Courier New" pitchFamily="34" charset="-120"/>
              </a:rPr>
              <a:t>]</a:t>
            </a:r>
          </a:p>
          <a:p>
            <a:pPr>
              <a:lnSpc>
                <a:spcPct val="110000"/>
              </a:lnSpc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cs typeface="Courier New" pitchFamily="34" charset="-120"/>
              </a:rPr>
              <a:t>  public async Task&lt;</a:t>
            </a:r>
            <a:r>
              <a:rPr lang="en-US" sz="1150" dirty="0" err="1">
                <a:solidFill>
                  <a:srgbClr val="CADCFC"/>
                </a:solidFill>
                <a:latin typeface="Courier New" pitchFamily="34" charset="0"/>
                <a:cs typeface="Courier New" pitchFamily="34" charset="-120"/>
              </a:rPr>
              <a:t>ActionResult</a:t>
            </a:r>
            <a:r>
              <a:rPr lang="en-US" sz="1150" dirty="0">
                <a:solidFill>
                  <a:srgbClr val="CADCFC"/>
                </a:solidFill>
                <a:latin typeface="Courier New" pitchFamily="34" charset="0"/>
                <a:cs typeface="Courier New" pitchFamily="34" charset="-120"/>
              </a:rPr>
              <a:t>&lt;</a:t>
            </a:r>
            <a:r>
              <a:rPr lang="en-US" sz="1150" dirty="0" err="1">
                <a:solidFill>
                  <a:srgbClr val="CADCFC"/>
                </a:solidFill>
                <a:latin typeface="Courier New" pitchFamily="34" charset="0"/>
                <a:cs typeface="Courier New" pitchFamily="34" charset="-120"/>
              </a:rPr>
              <a:t>IEnumerable</a:t>
            </a:r>
            <a:r>
              <a:rPr lang="en-US" sz="1150" dirty="0">
                <a:solidFill>
                  <a:srgbClr val="CADCFC"/>
                </a:solidFill>
                <a:latin typeface="Courier New" pitchFamily="34" charset="0"/>
                <a:cs typeface="Courier New" pitchFamily="34" charset="-120"/>
              </a:rPr>
              <a:t>&lt;Genero&gt;&gt;&gt; Get()</a:t>
            </a:r>
          </a:p>
          <a:p>
            <a:pPr>
              <a:lnSpc>
                <a:spcPct val="110000"/>
              </a:lnSpc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cs typeface="Courier New" pitchFamily="34" charset="-120"/>
              </a:rPr>
              <a:t>  {            </a:t>
            </a:r>
            <a:br>
              <a:rPr lang="en-US" sz="1150" dirty="0">
                <a:solidFill>
                  <a:srgbClr val="CADCFC"/>
                </a:solidFill>
                <a:latin typeface="Courier New" pitchFamily="34" charset="0"/>
                <a:cs typeface="Courier New" pitchFamily="34" charset="-120"/>
              </a:rPr>
            </a:br>
            <a:r>
              <a:rPr lang="en-US" sz="1150" dirty="0">
                <a:solidFill>
                  <a:srgbClr val="CADCFC"/>
                </a:solidFill>
                <a:latin typeface="Courier New" pitchFamily="34" charset="0"/>
                <a:cs typeface="Courier New" pitchFamily="34" charset="-120"/>
              </a:rPr>
              <a:t>    return await </a:t>
            </a:r>
            <a:r>
              <a:rPr lang="en-US" sz="1150" dirty="0" err="1">
                <a:solidFill>
                  <a:srgbClr val="CADCFC"/>
                </a:solidFill>
                <a:latin typeface="Courier New" pitchFamily="34" charset="0"/>
                <a:cs typeface="Courier New" pitchFamily="34" charset="-120"/>
              </a:rPr>
              <a:t>context.Generos.ToListAsync</a:t>
            </a:r>
            <a:r>
              <a:rPr lang="en-US" sz="1150" dirty="0">
                <a:solidFill>
                  <a:srgbClr val="CADCFC"/>
                </a:solidFill>
                <a:latin typeface="Courier New" pitchFamily="34" charset="0"/>
                <a:cs typeface="Courier New" pitchFamily="34" charset="-120"/>
              </a:rPr>
              <a:t>();        </a:t>
            </a:r>
            <a:br>
              <a:rPr lang="en-US" sz="1150" dirty="0">
                <a:solidFill>
                  <a:srgbClr val="CADCFC"/>
                </a:solidFill>
                <a:latin typeface="Courier New" pitchFamily="34" charset="0"/>
                <a:cs typeface="Courier New" pitchFamily="34" charset="-120"/>
              </a:rPr>
            </a:br>
            <a:r>
              <a:rPr lang="en-US" sz="1150" dirty="0">
                <a:solidFill>
                  <a:srgbClr val="CADCFC"/>
                </a:solidFill>
                <a:latin typeface="Courier New" pitchFamily="34" charset="0"/>
                <a:cs typeface="Courier New" pitchFamily="34" charset="-120"/>
              </a:rPr>
              <a:t>  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95160" y="1600200"/>
            <a:ext cx="4663440" cy="3566160"/>
          </a:xfrm>
          <a:prstGeom prst="roundRect">
            <a:avLst>
              <a:gd name="adj" fmla="val 1795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722376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acá?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23760" y="22402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ASP.NET Core ve que GenerosController pide un ApplicationDbContext y un IMapper.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23760" y="32004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Busca esos tipos en el contenedor de DI (registrados en Program.cs) y los crea o reutiliza según su ciclo de vida.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223760" y="41605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Nadie llama a new ApplicationDbContext(...): el framework resuelve todo antes de instanciar el controller.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Ciclos de vida de un servicio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4CC38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063240" y="1463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3291840" y="14630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nueva cada vez que se pide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03720" y="1463040"/>
            <a:ext cx="452628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7132320" y="14630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sin estado, tipo un generador de tokens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3D8BE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548640" y="30632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63240" y="30632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3291840" y="30632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instancia por request HTTP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3063240"/>
            <a:ext cx="452628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7132320" y="30632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400" dirty="0" err="1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AppDbContext</a:t>
            </a:r>
            <a:r>
              <a:rPr lang="es-AR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todo lo que pasa en un mismo </a:t>
            </a:r>
            <a:r>
              <a:rPr lang="es-AR" sz="1400" dirty="0" err="1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r>
              <a:rPr lang="es-AR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comparte la misma conexión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9B59D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 txBox="1"/>
          <p:nvPr/>
        </p:nvSpPr>
        <p:spPr>
          <a:xfrm>
            <a:off x="548640" y="4663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063240" y="46634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 txBox="1"/>
          <p:nvPr/>
        </p:nvSpPr>
        <p:spPr>
          <a:xfrm>
            <a:off x="3291840" y="46634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instancia para toda la app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03720" y="4663440"/>
            <a:ext cx="452628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7132320" y="46634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Configuración, caché en memoria, logger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AppDBContext</a:t>
            </a: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¿por qué no Singleton?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registro AppDbContext como Singleton, ahorro crear </a:t>
            </a:r>
            <a:r>
              <a:rPr lang="en-US" sz="1600" i="1" dirty="0" err="1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</a:t>
            </a:r>
            <a:r>
              <a:rPr lang="en-US" sz="160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...?"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DEEEE"/>
          </a:solidFill>
          <a:ln w="12700">
            <a:solidFill>
              <a:srgbClr val="E85D5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 Singleton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5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DbContext no es thread-safe.</a:t>
            </a:r>
            <a:endParaRPr lang="en-US" sz="14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5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requests concurrentes comparten la misma instancia y se pisan los datos: transacciones mezcladas, entidades trackeadas incorrectamente, errores intermitentes difíciles de reproducir.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9202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EAFBF3"/>
          </a:solidFill>
          <a:ln w="12700">
            <a:solidFill>
              <a:srgbClr val="4CC38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30936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 Scoped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260604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1F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instancia por request.</a:t>
            </a:r>
            <a:endParaRPr lang="en-US" sz="14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F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pasa dentro de un mismo request HTTP comparte la misma conexión y el mismo contexto de tracking, y cada request nuevo arranca limpio, sin pisar a los demás.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registrar una interfaz y no la clase?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6193E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builder.Services.AddScoped&lt;IProductoService, ProductoService&gt;();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inyecta en el controller es la interfaz — así se puede cambiar la implementación real sin tocar el código que la consume.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ProductoService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97280" y="4206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la base real vía Entity Framework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310896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58368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ProductoServiceMock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3680" y="4206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datos falsos, sin tocar la base de datos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pipeline de middlewares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request atraviesa esta secuencia, en este orden, antes de llegar (o no) al controller.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502920" y="17739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737360"/>
            <a:ext cx="10561320" cy="841248"/>
          </a:xfrm>
          <a:prstGeom prst="roundRect">
            <a:avLst>
              <a:gd name="adj" fmla="val 7609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3383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UseSwagger / UseSwaggerUI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6675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la documentación interactiva (solo en Development).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502920" y="27797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2743200"/>
            <a:ext cx="10561320" cy="841248"/>
          </a:xfrm>
          <a:prstGeom prst="roundRect">
            <a:avLst>
              <a:gd name="adj" fmla="val 7609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1371600" y="2743200"/>
            <a:ext cx="3383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UseHttpsRedirection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743200"/>
            <a:ext cx="6675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Redirige requests HTTP a HTTPS.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" y="3749040"/>
            <a:ext cx="10561320" cy="841248"/>
          </a:xfrm>
          <a:prstGeom prst="roundRect">
            <a:avLst>
              <a:gd name="adj" fmla="val 7609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1371600" y="3749040"/>
            <a:ext cx="3383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UseAuthorization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749040"/>
            <a:ext cx="6675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políticas de </a:t>
            </a:r>
            <a:r>
              <a:rPr lang="en-US" sz="1250" dirty="0" err="1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r>
              <a:rPr lang="en-US" sz="125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80060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43000" y="4754880"/>
            <a:ext cx="10561320" cy="841248"/>
          </a:xfrm>
          <a:prstGeom prst="roundRect">
            <a:avLst>
              <a:gd name="adj" fmla="val 7609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1371600" y="4754880"/>
            <a:ext cx="3383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MapControllers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4754880"/>
            <a:ext cx="6675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las rutas de los controllers con el pipeline: recién acá puede "entrar" un request a una acción.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importa: si MapControllers fuera antes que UseAuthorization, esa verificación nunca se aplicaría a las rutas.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de un Controller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737360"/>
            <a:ext cx="5669280" cy="1920240"/>
          </a:xfrm>
          <a:prstGeom prst="roundRect">
            <a:avLst>
              <a:gd name="adj" fmla="val 2857"/>
            </a:avLst>
          </a:prstGeom>
          <a:solidFill>
            <a:srgbClr val="16193E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795528" y="1975104"/>
            <a:ext cx="50840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[ApiController]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[Route("api/generos")]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GenerosController : ControllerBase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46520" y="1737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[ApiController]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46520" y="205740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comportamientos automáticos: validación de ModelState, inferencia de binding (ruta/query/body) y respuestas 400 automáticas ante datos inválidos.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46520" y="3154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[Route("api/generos")]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46520" y="347472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prefijo de ruta para todas las acciones de la clase.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46520" y="45720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ControllerBase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46520" y="489204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APIs (sin soporte de vistas). Da acceso a Ok(), NotFound(), BadRequest(), etc.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Ruteo por atributos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69164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6193E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795528" y="1929384"/>
            <a:ext cx="4535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[Route("api/generos")]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852160" y="169164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fija a nivel de clase: prefijo para todas las acciones.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65176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6193E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795528" y="2889504"/>
            <a:ext cx="4535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[HttpPut("{id:int}")]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0" y="26517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 de ruta con restricción de tipo (solo enteros).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6193E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795528" y="3849624"/>
            <a:ext cx="4535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[HttpPost("varios")]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361188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Sub-ruta fija combinada con el prefijo de la clase.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57200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6193E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795528" y="4809744"/>
            <a:ext cx="4535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[Route("api/peliculas/{peliculaId:int}/comentarios")]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52160" y="45720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anidado: los comentarios cuelgan de una película.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/api/peliculas/3/comentarios crea un comentario para la película 3: el {peliculaId} de la ruta llega como parámetro del método.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binding: ¿de dónde viene cada dato?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[ApiController] infiere el origen de cada parámetro sin que lo indiquemos explícitamente.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16193E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95528" y="2020824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[HttpGet("{id:int}")]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Get(int id)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1901952"/>
            <a:ext cx="1874520" cy="603504"/>
          </a:xfrm>
          <a:prstGeom prst="roundRect">
            <a:avLst>
              <a:gd name="adj" fmla="val 18182"/>
            </a:avLst>
          </a:prstGeom>
          <a:solidFill>
            <a:srgbClr val="3D8BE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800600" y="1901952"/>
            <a:ext cx="1874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0" y="1783080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viene de {id} en la URL: /api/actores/5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807208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16193E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795528" y="3044952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[HttpGet("nombre")]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Get(string nombre)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2926080"/>
            <a:ext cx="1874520" cy="603504"/>
          </a:xfrm>
          <a:prstGeom prst="roundRect">
            <a:avLst>
              <a:gd name="adj" fmla="val 18182"/>
            </a:avLst>
          </a:prstGeom>
          <a:solidFill>
            <a:srgbClr val="4CC38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800600" y="2926080"/>
            <a:ext cx="1874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0" y="2807208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no está en la ruta → se busca en la URL: ?nombre=Tom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831336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16193E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795528" y="406908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[HttpPost]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Post(GeneroCreacionDTO dto)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3950208"/>
            <a:ext cx="1874520" cy="603504"/>
          </a:xfrm>
          <a:prstGeom prst="roundRect">
            <a:avLst>
              <a:gd name="adj" fmla="val 18182"/>
            </a:avLst>
          </a:prstGeom>
          <a:solidFill>
            <a:srgbClr val="9B59D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4800600" y="3950208"/>
            <a:ext cx="1874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(Body)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0" y="3831336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tipo complejo (DTO) se toma del body en JSON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855464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16193E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795528" y="5093208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Post(int peliculaId,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ComentarioCreacionDTO dto)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4974336"/>
            <a:ext cx="1874520" cy="603504"/>
          </a:xfrm>
          <a:prstGeom prst="roundRect">
            <a:avLst>
              <a:gd name="adj" fmla="val 18182"/>
            </a:avLst>
          </a:prstGeom>
          <a:solidFill>
            <a:srgbClr val="E85D5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4800600" y="4974336"/>
            <a:ext cx="1874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+ Body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0" y="4855464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peliculaId viene de la ruta de la clase; dto, del body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ActionResult&lt;T&gt; y códigos de estado HTTP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952899"/>
            <a:ext cx="5852160" cy="4297680"/>
          </a:xfrm>
          <a:prstGeom prst="roundRect">
            <a:avLst>
              <a:gd name="adj" fmla="val 1277"/>
            </a:avLst>
          </a:prstGeom>
          <a:solidFill>
            <a:srgbClr val="16193E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795528" y="2190643"/>
            <a:ext cx="52669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Task&lt;ActionResult&lt;Actor&gt;&gt; Get(int id)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actor = await context.Actores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.FirstOrDefaultAsync(a =&gt; a.Id == id);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(actor is null)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8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NotFound();      // 404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actor;               // 200 OK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Ok();                  // 200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BadRequest("mensaje"); // 400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NoContent();           // 204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75120" y="2090059"/>
            <a:ext cx="128016" cy="822960"/>
          </a:xfrm>
          <a:prstGeom prst="roundRect">
            <a:avLst/>
          </a:prstGeom>
          <a:solidFill>
            <a:srgbClr val="4CC38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6949440" y="2090059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949440" y="2437531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fue exitosa; se devuelve el recurso.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3141619"/>
            <a:ext cx="128016" cy="822960"/>
          </a:xfrm>
          <a:prstGeom prst="roundRect">
            <a:avLst/>
          </a:prstGeom>
          <a:solidFill>
            <a:srgbClr val="3D8BE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6949440" y="3141619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949440" y="3489091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Éxito, pero no hay nada que devolver (ej. un DELETE).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0" y="4193179"/>
            <a:ext cx="128016" cy="822960"/>
          </a:xfrm>
          <a:prstGeom prst="roundRect">
            <a:avLst/>
          </a:prstGeom>
          <a:solidFill>
            <a:srgbClr val="9B59D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949440" y="4193179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49440" y="4540651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request no es válido (datos duplicados o mal formados).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5244739"/>
            <a:ext cx="128016" cy="822960"/>
          </a:xfrm>
          <a:prstGeom prst="roundRect">
            <a:avLst/>
          </a:prstGeom>
          <a:solidFill>
            <a:srgbClr val="E85D5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6949440" y="5244739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49440" y="5592211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recurso pedido no existe.</a:t>
            </a:r>
            <a:endParaRPr lang="en-US" sz="125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133792F-EB77-994C-3D6C-5D5EE66920C3}"/>
              </a:ext>
            </a:extLst>
          </p:cNvPr>
          <p:cNvSpPr txBox="1"/>
          <p:nvPr/>
        </p:nvSpPr>
        <p:spPr>
          <a:xfrm>
            <a:off x="502920" y="1034423"/>
            <a:ext cx="104372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 err="1"/>
              <a:t>ActionResult</a:t>
            </a:r>
            <a:r>
              <a:rPr lang="es-AR" dirty="0"/>
              <a:t> en ASP.NET Core es un tipo de retorno para controladores de API web que permite devolver un objeto de un tipo específico (T) o cualquier resultado HTTP válido.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 por los controllers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8B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controllers, un mismo patrón: constructor con DbContext + IMapper, acciones async, ActionResult&lt;T&gt;.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606040" cy="3566160"/>
          </a:xfrm>
          <a:prstGeom prst="roundRect">
            <a:avLst>
              <a:gd name="adj" fmla="val 2456"/>
            </a:avLst>
          </a:prstGeom>
          <a:solidFill>
            <a:srgbClr val="141A4D"/>
          </a:solidFill>
          <a:ln w="12700">
            <a:solidFill>
              <a:srgbClr val="2A357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402336" cy="402336"/>
          </a:xfrm>
          <a:prstGeom prst="ellipse">
            <a:avLst/>
          </a:prstGeom>
          <a:solidFill>
            <a:srgbClr val="2A357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31520" y="22311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" y="288036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GenerosController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3520440"/>
            <a:ext cx="220370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clásico completo: alta simple, alta en lote, reemplazo y dos formas de borrar (con y sin tracking).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3552" y="1965960"/>
            <a:ext cx="2606040" cy="3566160"/>
          </a:xfrm>
          <a:prstGeom prst="roundRect">
            <a:avLst>
              <a:gd name="adj" fmla="val 2456"/>
            </a:avLst>
          </a:prstGeom>
          <a:solidFill>
            <a:srgbClr val="141A4D"/>
          </a:solidFill>
          <a:ln w="12700">
            <a:solidFill>
              <a:srgbClr val="2A357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3502152" y="2240280"/>
            <a:ext cx="402336" cy="402336"/>
          </a:xfrm>
          <a:prstGeom prst="ellipse">
            <a:avLst/>
          </a:prstGeom>
          <a:solidFill>
            <a:srgbClr val="2A357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3502152" y="22311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88036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PeliculasController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74720" y="3520440"/>
            <a:ext cx="220370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con relaciones (géneros y actores) y dos formas de consultar: con Include o con proyección.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44184" y="1965960"/>
            <a:ext cx="2606040" cy="3566160"/>
          </a:xfrm>
          <a:prstGeom prst="roundRect">
            <a:avLst>
              <a:gd name="adj" fmla="val 2456"/>
            </a:avLst>
          </a:prstGeom>
          <a:solidFill>
            <a:srgbClr val="141A4D"/>
          </a:solidFill>
          <a:ln w="12700">
            <a:solidFill>
              <a:srgbClr val="2A357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6272784" y="2240280"/>
            <a:ext cx="402336" cy="402336"/>
          </a:xfrm>
          <a:prstGeom prst="ellipse">
            <a:avLst/>
          </a:prstGeom>
          <a:solidFill>
            <a:srgbClr val="2A357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6272784" y="22311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288036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ActoresController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45352" y="3520440"/>
            <a:ext cx="220370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query string (nombre exacto vs. "contiene") y una proyección directa a DTO.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14816" y="1965960"/>
            <a:ext cx="2606040" cy="3566160"/>
          </a:xfrm>
          <a:prstGeom prst="roundRect">
            <a:avLst>
              <a:gd name="adj" fmla="val 2456"/>
            </a:avLst>
          </a:prstGeom>
          <a:solidFill>
            <a:srgbClr val="141A4D"/>
          </a:solidFill>
          <a:ln w="12700">
            <a:solidFill>
              <a:srgbClr val="2A357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9043416" y="2240280"/>
            <a:ext cx="402336" cy="402336"/>
          </a:xfrm>
          <a:prstGeom prst="ellipse">
            <a:avLst/>
          </a:prstGeom>
          <a:solidFill>
            <a:srgbClr val="2A357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9043416" y="22311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15984" y="288036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ComentariosController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015984" y="3520440"/>
            <a:ext cx="220370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anidado bajo Pelicula: la ruta expresa la relación entre entidades.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2204</Words>
  <Application>Microsoft Office PowerPoint</Application>
  <PresentationFormat>Panorámica</PresentationFormat>
  <Paragraphs>323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Maximiliano Medina</cp:lastModifiedBy>
  <cp:revision>5</cp:revision>
  <dcterms:created xsi:type="dcterms:W3CDTF">2026-09-09T21:23:27Z</dcterms:created>
  <dcterms:modified xsi:type="dcterms:W3CDTF">2026-09-15T22:22:37Z</dcterms:modified>
</cp:coreProperties>
</file>